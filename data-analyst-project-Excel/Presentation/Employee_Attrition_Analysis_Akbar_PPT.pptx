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notesMasterIdLst>
    <p:notesMasterId r:id="rId10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7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949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4161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45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286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7951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3529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979615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8620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112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726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8259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014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384060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5811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8327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0606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79963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25594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25691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606935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62336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103834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76529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88392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0832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6433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7135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2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164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60" y="237744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5000"/>
              </a:lnSpc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</a:t>
            </a: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High-Performance 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Final Project  •  Microsoft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233979"/>
            <a:ext cx="822960" cy="822960"/>
          </a:xfrm>
          <a:prstGeom prst="ellipse">
            <a:avLst/>
          </a:prstGeom>
          <a:solidFill>
            <a:srgbClr val="F2545B"/>
          </a:solidFill>
          <a:ln/>
        </p:spPr>
      </p:sp>
      <p:pic>
        <p:nvPicPr>
          <p:cNvPr id="4" name="Image 0" descr="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419145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5378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88E6F-CD97-A232-087B-297FE918B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4440" y="1600200"/>
            <a:ext cx="4114800" cy="550545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295511A5-53DA-ABD0-1DAF-02C84F522FFD}"/>
              </a:ext>
            </a:extLst>
          </p:cNvPr>
          <p:cNvSpPr/>
          <p:nvPr/>
        </p:nvSpPr>
        <p:spPr>
          <a:xfrm>
            <a:off x="2589903" y="2312893"/>
            <a:ext cx="6997849" cy="3926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Self-Overview</a:t>
            </a:r>
            <a:endParaRPr lang="en-US" sz="18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501468D-4DD5-7C01-FBC1-4AFCABFC9C16}"/>
              </a:ext>
            </a:extLst>
          </p:cNvPr>
          <p:cNvSpPr/>
          <p:nvPr/>
        </p:nvSpPr>
        <p:spPr>
          <a:xfrm>
            <a:off x="1920240" y="1452281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Self-Overview</a:t>
            </a:r>
          </a:p>
          <a:p>
            <a:pPr marL="0" indent="0">
              <a:buNone/>
            </a:pPr>
            <a:endParaRPr lang="en-US" sz="2800" b="1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Raden Maulana Akbar</a:t>
            </a: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7EFE0-12AC-7C8A-8C3A-339872B3DD74}"/>
              </a:ext>
            </a:extLst>
          </p:cNvPr>
          <p:cNvSpPr txBox="1"/>
          <p:nvPr/>
        </p:nvSpPr>
        <p:spPr>
          <a:xfrm>
            <a:off x="4986170" y="2952724"/>
            <a:ext cx="5959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/>
              <a:t>SMAN 7 Bekasi</a:t>
            </a:r>
            <a:endParaRPr lang="en-ID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32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38244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8670" y="875404"/>
            <a:ext cx="822960" cy="822960"/>
          </a:xfrm>
          <a:prstGeom prst="ellipse">
            <a:avLst/>
          </a:prstGeom>
          <a:solidFill>
            <a:srgbClr val="F2545B"/>
          </a:solidFill>
          <a:ln/>
        </p:spPr>
      </p:sp>
      <p:pic>
        <p:nvPicPr>
          <p:cNvPr id="5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041071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4792" y="744967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&amp; High-Performance Loss Analysis Dashboard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73836" y="1744084"/>
            <a:ext cx="10149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pendorong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keluarnya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(attrition)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kehilangan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berkinerja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(high-performer loss)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Microsoft Excel.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(Rating 1–5),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outlier pada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kepegawaian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3.000 baris data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mentah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overall attrition rate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sebesar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51,1% (1.532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resign).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teridentifikasi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hilangnya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356 High Performer (Rating 4 &amp; 5) yang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menyumbang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23,2%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resign (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melebihi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batas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15%),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konsentrasi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terbesar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 dan Sales.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(IF, COUNTIF, COUNTA, DATEDIF), Data Validation, PivotTable &amp; PivotChart, Conditional Formatting, Slicer Filter, dan Interactive Executive Dashboard..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15464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71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&amp; High-Performance Loss Analysis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menghadapi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tingginya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attrition (51,07%/1532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juga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ancaman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hilangnya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356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High-Performance(23,24%)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melebihi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batas 15%.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Status &amp; Attrition Makro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5212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riil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resign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dan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overall attrition rate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4206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0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0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Kualitas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Attrition &amp; High-Performance Loss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0" y="5212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berkinerja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(Rating 4 &amp; 5) yang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mengundurkan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proporsinya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melampaui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batas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4206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66760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66760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</a:t>
            </a: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Kerja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</a:t>
            </a: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Departemen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Terdampak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66760" y="5212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kepegawaian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 yang paling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menyumbang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outlier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berkinerja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mengundurkan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142417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employee_data.csv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258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 baris  ×  26 kolom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Isi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dari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Raw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2633472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487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&amp; tanggal masuk/keluar (EmpID, StartDate,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TerminationDescription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3054096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9077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organisasi (DepartmentType, Division, BusinessUnit, Supervisor)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" y="3474720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284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kepegawaian (EmployeeStatus, EmployeeType,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PayZone,Title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3895344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(Performance Score, Current Employee Rating)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" y="4315968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1696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 (DOB, Gender, Race, Marital Status, State,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LocationCode,ADEmail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30975" y="77724"/>
            <a:ext cx="5303520" cy="4398265"/>
          </a:xfrm>
          <a:prstGeom prst="roundRect">
            <a:avLst>
              <a:gd name="adj" fmla="val 1481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751015" y="3520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Kualitas Data yang Ditemukan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51015" y="9464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51015" y="123901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TerminationDescription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48,9% baris (1.468 data) —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error,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melainkan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menandakan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tersebut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751015" y="1676041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Duplikasi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51015" y="19933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data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divalidasi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COUNTA(UNIQUE()).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751015" y="23500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Inkonsistensi Data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751015" y="26182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EmployeeStatus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321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Resigned.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divalidasi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keberadaan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1.532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(51,1%) yang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Keberadaan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dijadikan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attrition.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51015" y="33787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751015" y="3698749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nn-NO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356 data Outlier pada karyawan yang Resign namun memiliki performa tinggi (Rating 4 &amp; 5). Porsi ini mencapai 23,2% dari total Resigned (melampaui ambang batas toleransi risiko 15%).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CB6003-F7B2-A3FD-4966-625096142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3" y="4551830"/>
            <a:ext cx="12031754" cy="98121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6001739-A880-3834-304B-D97406E9D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5521" y="5664709"/>
            <a:ext cx="8830907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_b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3578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34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pembersihan &amp; transformasi data agar siap dianalisis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25856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2219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Duplikasi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COUNTA() dan UNIQUE pada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Ketika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duplikasi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5856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66360" y="22219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Konversi Tipe Data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0" y="28803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DATEVALUE() untuk mengubah tanggal bertipe teks menjadi Date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3816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66760" y="225856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8" name="Text 15"/>
          <p:cNvSpPr/>
          <p:nvPr/>
        </p:nvSpPr>
        <p:spPr>
          <a:xfrm>
            <a:off x="836676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961120" y="22219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66760" y="28803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TerminationDescription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1.468 baris (48,9%)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dipertahankan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adanya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bermakna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hilang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/error.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jumlahnya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COUNTBLANK()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49884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71600" y="4462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Inkonsistensi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Data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51206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Mengoreksi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321 resign.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ExitDate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statusnya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"Resigned" (1.532 baris).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43400" y="42976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0" y="449884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462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Penanganan Outlier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0" y="51206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356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berkinerja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(Rating 4 &amp; 5) yang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mengundurkan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Outlier,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Bad Attrition..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22615" y="42976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66760" y="449884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33" name="Text 30"/>
          <p:cNvSpPr/>
          <p:nvPr/>
        </p:nvSpPr>
        <p:spPr>
          <a:xfrm>
            <a:off x="836676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961120" y="4462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Kolom Baru (Formula)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66760" y="51206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resign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Cek_outlier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: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kolom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unutk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cek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karyawan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yang resign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performance rating &gt;= 4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/ Visualization Output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DE7EE85-ABC6-93C2-DFFC-2C4DB726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72" y="1272944"/>
            <a:ext cx="11502256" cy="4466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5761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Tingginya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Attrition Rate Makro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7568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sv-SE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mengalami tingkat attrition yang sangat tinggi yaitu 51,1% (1.532 dari 3.000 karyawan resign),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" y="260604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6517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Kembali Tingkat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kepuasan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menyeluruh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pengunduran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1234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46304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12" name="Image 1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57" y="15761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4173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Ancaman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Hilangnya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Talenta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Terbaik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(High-Performance Loss)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0" y="207568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356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berkinerja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(Rating 4 &amp; 5) yang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mengundurkan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menyumbang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23,24%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resign.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0" y="260604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/>
        </p:spPr>
      </p:sp>
      <p:sp>
        <p:nvSpPr>
          <p:cNvPr id="16" name="Text 12"/>
          <p:cNvSpPr/>
          <p:nvPr/>
        </p:nvSpPr>
        <p:spPr>
          <a:xfrm>
            <a:off x="6537960" y="26517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keada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 performance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19" name="Image 2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3953637"/>
            <a:ext cx="276606" cy="2766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7947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Departemen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Production &amp; Sales Paling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" y="445312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 (250 outlier) dan Sales (59 outlier)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penyumbang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terbesar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hilangnya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berkinerja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77240" y="498348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5029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</a:t>
            </a:r>
            <a:r>
              <a:rPr lang="fi-FI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evaluasi mendalam terkait beban kerja serta kondisi lingkungan kerja khusus di divisi Production dan Sales.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400800" y="498348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/>
        </p:spPr>
      </p:sp>
      <p:sp>
        <p:nvSpPr>
          <p:cNvPr id="32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98</TotalTime>
  <Words>819</Words>
  <Application>Microsoft Office PowerPoint</Application>
  <PresentationFormat>Widescreen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Arial Nova Light</vt:lpstr>
      <vt:lpstr>Calibri</vt:lpstr>
      <vt:lpstr>Cambria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8</cp:revision>
  <dcterms:created xsi:type="dcterms:W3CDTF">2026-08-17T04:02:49Z</dcterms:created>
  <dcterms:modified xsi:type="dcterms:W3CDTF">2026-10-16T12:49:49Z</dcterms:modified>
</cp:coreProperties>
</file>