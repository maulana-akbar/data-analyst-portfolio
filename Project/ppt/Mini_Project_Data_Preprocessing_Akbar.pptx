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4" r:id="rId1"/>
  </p:sldMasterIdLst>
  <p:notesMasterIdLst>
    <p:notesMasterId r:id="rId16"/>
  </p:notesMasterIdLst>
  <p:sldIdLst>
    <p:sldId id="256" r:id="rId2"/>
    <p:sldId id="257" r:id="rId3"/>
    <p:sldId id="262" r:id="rId4"/>
    <p:sldId id="263" r:id="rId5"/>
    <p:sldId id="270" r:id="rId6"/>
    <p:sldId id="271" r:id="rId7"/>
    <p:sldId id="274" r:id="rId8"/>
    <p:sldId id="275" r:id="rId9"/>
    <p:sldId id="276" r:id="rId10"/>
    <p:sldId id="277" r:id="rId11"/>
    <p:sldId id="272" r:id="rId12"/>
    <p:sldId id="278" r:id="rId13"/>
    <p:sldId id="266" r:id="rId14"/>
    <p:sldId id="279" r:id="rId15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678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56369-65C4-8615-5B45-51C7C85AE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5852F1-D38D-58C3-F0D0-95564AEDF9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AC3A80-9908-C417-373B-098411E99B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8508BD-72E3-484F-2E45-266F3B1CD2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5926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7F981-44CC-EFAE-4ADE-A6214AE48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278073-E3D4-2C5C-8B61-57255BD490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1140AD-7A75-7D68-8223-0046979ED9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66D3DA-4C8E-D47C-508F-F2CC2C3325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5799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D3201-C716-218F-1B8B-B8F12F3FD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145EB8-323B-BA33-5B28-FD1BF868EA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BF8623-DDAA-19E4-70DA-2AEE82B62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2F5602-7148-BECA-FC30-57EB1A21B9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6854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C0B75-039A-3580-D174-73048A211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E84D56-7023-AA26-2AEE-522BEDF8CA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C6D33F-8F3C-2DA1-42FF-623C3083C6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95D34-97A8-16BA-C962-815FA4B44F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0133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E81B4-0421-A361-1E71-B1328094F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48C314-B5CB-754C-D396-7D70CDC517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16D272-1A4F-0629-CC27-DC9AAFFBAF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4358B5-A426-9D0F-988A-10A935E1B4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175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C7929-96BA-E700-AA71-3BCCC73EB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C7213C-80D2-FCBE-3EE0-CA3630A4BD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6EAA1A-3D21-96D2-8A36-E3C8B045E7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514F05-CB78-25BA-5962-F7B3F62FDB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0899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B1DA6-AEB2-56C3-E461-BA77DDA5B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FB322E-25FD-8F35-A66F-1BA9B3451E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E068A4-311C-3522-5F8A-9CBF54895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32EFA9-B6B5-A54D-B934-43A10D1E39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2268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94F4C-C029-DA77-DA53-EE462CBBA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DDA4A3-FAEA-2728-5B14-FDA61B1502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BCA98E-2EDC-6025-1016-F3E2EA54F6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7AFF48-7A0F-A6A2-4FE8-30012EF68C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6048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283AD-B85D-96BC-2E86-A32218BA5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31C459-4025-8D9F-EFE7-268D1E6542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B21449-F458-E80E-A29D-C68816FA44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D4A50A-83C7-640A-BE1F-B4AE50EAA2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1012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9/7/2026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679498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541611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C764DE79-268F-4C1A-8933-263129D2AF90}" type="datetimeFigureOut">
              <a:rPr lang="en-US" smtClean="0"/>
              <a:t>9/7/2026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69459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9/7/2026</a:t>
            </a:fld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52861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779515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9/7/2026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835298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19796154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5386203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021128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C764DE79-268F-4C1A-8933-263129D2AF90}" type="datetimeFigureOut">
              <a:rPr lang="en-US" smtClean="0"/>
              <a:t>9/7/2026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997263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C764DE79-268F-4C1A-8933-263129D2AF90}" type="datetimeFigureOut">
              <a:rPr lang="en-US" smtClean="0"/>
              <a:t>9/7/2026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182596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C764DE79-268F-4C1A-8933-263129D2AF90}" type="datetimeFigureOut">
              <a:rPr lang="en-US" smtClean="0"/>
              <a:t>9/7/2026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20143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13840604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9/7/2026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158119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C764DE79-268F-4C1A-8933-263129D2AF90}" type="datetimeFigureOut">
              <a:rPr lang="en-US" smtClean="0"/>
              <a:t>9/7/2026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183270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C764DE79-268F-4C1A-8933-263129D2AF90}" type="datetimeFigureOut">
              <a:rPr lang="en-US" smtClean="0"/>
              <a:t>9/7/2026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1060674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87996340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1255942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1256910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86069359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5623366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01038347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83765298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0883922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9/7/2026</a:t>
            </a:fld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908327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264331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5871354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7296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1642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  <p:sldLayoutId id="2147483746" r:id="rId12"/>
    <p:sldLayoutId id="2147483747" r:id="rId13"/>
    <p:sldLayoutId id="2147483748" r:id="rId14"/>
    <p:sldLayoutId id="2147483749" r:id="rId15"/>
    <p:sldLayoutId id="2147483750" r:id="rId16"/>
    <p:sldLayoutId id="2147483751" r:id="rId17"/>
    <p:sldLayoutId id="2147483752" r:id="rId18"/>
    <p:sldLayoutId id="2147483753" r:id="rId19"/>
    <p:sldLayoutId id="2147483754" r:id="rId20"/>
    <p:sldLayoutId id="2147483755" r:id="rId21"/>
    <p:sldLayoutId id="2147483756" r:id="rId22"/>
    <p:sldLayoutId id="2147483757" r:id="rId23"/>
    <p:sldLayoutId id="2147483758" r:id="rId24"/>
    <p:sldLayoutId id="2147483759" r:id="rId25"/>
    <p:sldLayoutId id="2147483760" r:id="rId26"/>
    <p:sldLayoutId id="2147483761" r:id="rId27"/>
    <p:sldLayoutId id="2147483762" r:id="rId28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822959" y="2377440"/>
            <a:ext cx="9558169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5000"/>
              </a:lnSpc>
            </a:pPr>
            <a:r>
              <a:rPr lang="en-US" sz="4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Analisis</a:t>
            </a: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Jenis </a:t>
            </a:r>
            <a:r>
              <a:rPr lang="en-US" sz="4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Produk</a:t>
            </a: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dan </a:t>
            </a:r>
            <a:r>
              <a:rPr lang="en-US" sz="4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Visibilitas</a:t>
            </a: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Ruang </a:t>
            </a:r>
            <a:r>
              <a:rPr lang="en-US" sz="4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Pajang</a:t>
            </a: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4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Terhadap</a:t>
            </a: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4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Penjualan</a:t>
            </a: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4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Ritel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E9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 Mini Project  •  Python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822960" y="233979"/>
            <a:ext cx="822960" cy="822960"/>
          </a:xfrm>
          <a:prstGeom prst="ellipse">
            <a:avLst/>
          </a:prstGeom>
          <a:solidFill>
            <a:srgbClr val="F2545B"/>
          </a:solidFill>
          <a:ln/>
        </p:spPr>
      </p:sp>
      <p:pic>
        <p:nvPicPr>
          <p:cNvPr id="4" name="Image 0" descr="icon_us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126" y="419145"/>
            <a:ext cx="452628" cy="4526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20240" y="53788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A88E6F-CD97-A232-087B-297FE918B3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234440" y="1600200"/>
            <a:ext cx="4114800" cy="5505450"/>
          </a:xfrm>
          <a:prstGeom prst="rect">
            <a:avLst/>
          </a:prstGeom>
        </p:spPr>
      </p:pic>
      <p:sp>
        <p:nvSpPr>
          <p:cNvPr id="10" name="Text 2">
            <a:extLst>
              <a:ext uri="{FF2B5EF4-FFF2-40B4-BE49-F238E27FC236}">
                <a16:creationId xmlns:a16="http://schemas.microsoft.com/office/drawing/2014/main" id="{295511A5-53DA-ABD0-1DAF-02C84F522FFD}"/>
              </a:ext>
            </a:extLst>
          </p:cNvPr>
          <p:cNvSpPr/>
          <p:nvPr/>
        </p:nvSpPr>
        <p:spPr>
          <a:xfrm>
            <a:off x="2589903" y="2312893"/>
            <a:ext cx="6997849" cy="39265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Self-Overview</a:t>
            </a:r>
            <a:endParaRPr lang="en-US" sz="1800" dirty="0"/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2501468D-4DD5-7C01-FBC1-4AFCABFC9C16}"/>
              </a:ext>
            </a:extLst>
          </p:cNvPr>
          <p:cNvSpPr/>
          <p:nvPr/>
        </p:nvSpPr>
        <p:spPr>
          <a:xfrm>
            <a:off x="1920240" y="1452281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Self-Overview</a:t>
            </a:r>
          </a:p>
          <a:p>
            <a:pPr marL="0" indent="0">
              <a:buNone/>
            </a:pPr>
            <a:endParaRPr lang="en-US" sz="2800" b="1" dirty="0"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>
              <a:buNone/>
            </a:pPr>
            <a:r>
              <a:rPr lang="en-US" sz="2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Raden Maulana Akbar</a:t>
            </a:r>
            <a:r>
              <a:rPr lang="en-US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1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D7EFE0-12AC-7C8A-8C3A-339872B3DD74}"/>
              </a:ext>
            </a:extLst>
          </p:cNvPr>
          <p:cNvSpPr txBox="1"/>
          <p:nvPr/>
        </p:nvSpPr>
        <p:spPr>
          <a:xfrm>
            <a:off x="4754880" y="1863750"/>
            <a:ext cx="59597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/>
              <a:t>Education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4000" dirty="0"/>
              <a:t>SMAN 7 Bekasi</a:t>
            </a:r>
            <a:endParaRPr lang="en-ID" sz="4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11D2CA-88D7-5598-2F96-1FC7E1C4C4F8}"/>
              </a:ext>
            </a:extLst>
          </p:cNvPr>
          <p:cNvSpPr txBox="1"/>
          <p:nvPr/>
        </p:nvSpPr>
        <p:spPr>
          <a:xfrm>
            <a:off x="4754880" y="3691205"/>
            <a:ext cx="71323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/>
              <a:t>Project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Employee Attrition &amp; High-Performance Loss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icon_ques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519" y="1546479"/>
            <a:ext cx="427482" cy="42748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137160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Analisis</a:t>
            </a:r>
            <a:r>
              <a:rPr lang="en-US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Jenis </a:t>
            </a:r>
            <a:r>
              <a:rPr lang="en-US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Produk</a:t>
            </a:r>
            <a:r>
              <a:rPr lang="en-US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dan </a:t>
            </a:r>
            <a:r>
              <a:rPr lang="en-US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Visibilitas</a:t>
            </a:r>
            <a:r>
              <a:rPr lang="en-US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Ruang </a:t>
            </a:r>
            <a:r>
              <a:rPr lang="en-US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Pajang</a:t>
            </a:r>
            <a:r>
              <a:rPr lang="en-US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Terhadap</a:t>
            </a:r>
            <a:r>
              <a:rPr lang="en-US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Penjualan</a:t>
            </a:r>
            <a:r>
              <a:rPr lang="en-US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Ritel</a:t>
            </a:r>
            <a:endParaRPr lang="en-US" b="1" dirty="0">
              <a:solidFill>
                <a:srgbClr val="1E2761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48640" y="2377440"/>
            <a:ext cx="11064240" cy="1463040"/>
          </a:xfrm>
          <a:prstGeom prst="roundRect">
            <a:avLst>
              <a:gd name="adj" fmla="val 6250"/>
            </a:avLst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37744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Ruang </a:t>
            </a:r>
            <a:r>
              <a:rPr lang="en-US" sz="16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pajang</a:t>
            </a: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6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</a:t>
            </a: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  <a:r>
              <a:rPr lang="en-US" sz="16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toko</a:t>
            </a: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ritel</a:t>
            </a: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yang </a:t>
            </a:r>
            <a:r>
              <a:rPr lang="en-US" sz="16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terbatas</a:t>
            </a: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menuntut</a:t>
            </a: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manajemen</a:t>
            </a: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</a:t>
            </a: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menata</a:t>
            </a: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</a:t>
            </a: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secara</a:t>
            </a: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strategis</a:t>
            </a: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guna </a:t>
            </a:r>
            <a:r>
              <a:rPr lang="en-US" sz="16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mendongkrak</a:t>
            </a: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omzet</a:t>
            </a: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6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Tantangan</a:t>
            </a: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utamanya</a:t>
            </a: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adalah</a:t>
            </a: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memastikan</a:t>
            </a: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karakteristik</a:t>
            </a: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 </a:t>
            </a:r>
            <a:r>
              <a:rPr lang="en-US" sz="16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tingkat</a:t>
            </a: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visibilitas</a:t>
            </a: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</a:t>
            </a: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16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</a:t>
            </a: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benar-benar</a:t>
            </a: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menghasilkan</a:t>
            </a: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penjualan</a:t>
            </a: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yang optimal, </a:t>
            </a:r>
            <a:r>
              <a:rPr lang="en-US" sz="16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</a:t>
            </a: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sekadar</a:t>
            </a: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membuang</a:t>
            </a: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ruang</a:t>
            </a: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Exploration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icon_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658" y="1424178"/>
            <a:ext cx="352044" cy="3520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1280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BigMart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Sales Data.csv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325880" y="1600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Ukuran: </a:t>
            </a: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8523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baris  ×  12 kolom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2148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Isi </a:t>
            </a:r>
            <a:r>
              <a:rPr lang="en-US" sz="1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dari</a:t>
            </a: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 Raw Data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94360" y="2633472"/>
            <a:ext cx="82296" cy="82296"/>
          </a:xfrm>
          <a:prstGeom prst="ellipse">
            <a:avLst/>
          </a:prstGeom>
          <a:solidFill>
            <a:srgbClr val="F2545B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248716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Outlet (</a:t>
            </a:r>
            <a:r>
              <a:rPr lang="en-US" sz="11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Outlet_Identifier,Outlet_Establishment_Year</a:t>
            </a: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Outlet_Size,Outlet_Location_Type,Outlet_Type,Item_Outlet_Sales</a:t>
            </a: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94360" y="3054096"/>
            <a:ext cx="82296" cy="82296"/>
          </a:xfrm>
          <a:prstGeom prst="ellipse">
            <a:avLst/>
          </a:prstGeom>
          <a:solidFill>
            <a:srgbClr val="F2545B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2907792"/>
            <a:ext cx="5212080" cy="5673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</a:t>
            </a:r>
            <a:r>
              <a:rPr lang="en-US" sz="11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</a:t>
            </a: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1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Item_Identifier</a:t>
            </a: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Item_Weight</a:t>
            </a: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Item_Fat_Content</a:t>
            </a: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Item_Visibility</a:t>
            </a: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Item_Type</a:t>
            </a: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Item_MRP</a:t>
            </a: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C77FD87D-188E-BA29-1859-87E7E0F8BA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533" y="3813452"/>
            <a:ext cx="7667093" cy="213744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8EB87FD2-5294-56D1-407C-F574BE22E76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520"/>
          <a:stretch>
            <a:fillRect/>
          </a:stretch>
        </p:blipFill>
        <p:spPr>
          <a:xfrm>
            <a:off x="7902626" y="3813452"/>
            <a:ext cx="2981741" cy="213744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3DF0266-4C30-8798-F57A-2CE130D126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3368228"/>
            <a:ext cx="2819794" cy="3715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DA32E-BE81-DD21-FD28-2ACB1D219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5">
            <a:extLst>
              <a:ext uri="{FF2B5EF4-FFF2-40B4-BE49-F238E27FC236}">
                <a16:creationId xmlns:a16="http://schemas.microsoft.com/office/drawing/2014/main" id="{67A76E9C-7BC2-608C-1B56-FD7FB8C959F5}"/>
              </a:ext>
            </a:extLst>
          </p:cNvPr>
          <p:cNvSpPr/>
          <p:nvPr/>
        </p:nvSpPr>
        <p:spPr>
          <a:xfrm>
            <a:off x="-45720" y="48342"/>
            <a:ext cx="12237720" cy="6809658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2249E418-E28D-E93C-82FA-4DF8D9BB3525}"/>
              </a:ext>
            </a:extLst>
          </p:cNvPr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Exploration</a:t>
            </a:r>
            <a:endParaRPr lang="en-US" sz="2800" dirty="0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95D73438-3BD0-0ECC-3105-E2F9720BF9D6}"/>
              </a:ext>
            </a:extLst>
          </p:cNvPr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FFE5D2F-9E02-C680-9F8D-A9FC2EEFE5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508" y="960120"/>
            <a:ext cx="3440885" cy="269595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75AF43D-4A5D-D350-0F97-250FE35184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3621" y="960119"/>
            <a:ext cx="5216417" cy="258990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0791A46-DFD3-55F3-3DA6-51E9FB0A82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437" y="4877765"/>
            <a:ext cx="2946293" cy="187720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171F541-7C54-3ED7-86C9-128CF22280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437" y="3850686"/>
            <a:ext cx="4963218" cy="924054"/>
          </a:xfrm>
          <a:prstGeom prst="rect">
            <a:avLst/>
          </a:prstGeom>
        </p:spPr>
      </p:pic>
      <p:sp>
        <p:nvSpPr>
          <p:cNvPr id="14" name="Shape 5">
            <a:extLst>
              <a:ext uri="{FF2B5EF4-FFF2-40B4-BE49-F238E27FC236}">
                <a16:creationId xmlns:a16="http://schemas.microsoft.com/office/drawing/2014/main" id="{FF2B7D03-A656-F471-3AEF-1F5F42737184}"/>
              </a:ext>
            </a:extLst>
          </p:cNvPr>
          <p:cNvSpPr/>
          <p:nvPr/>
        </p:nvSpPr>
        <p:spPr>
          <a:xfrm>
            <a:off x="5658522" y="3656070"/>
            <a:ext cx="6095436" cy="3098903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ID" dirty="0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70BD6084-694A-4807-7C9C-CEEF4E161CB3}"/>
              </a:ext>
            </a:extLst>
          </p:cNvPr>
          <p:cNvSpPr/>
          <p:nvPr/>
        </p:nvSpPr>
        <p:spPr>
          <a:xfrm>
            <a:off x="5887121" y="3675938"/>
            <a:ext cx="2665207" cy="5902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54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Hasil </a:t>
            </a:r>
            <a:r>
              <a:rPr lang="en-US" sz="1600" b="1" dirty="0" err="1">
                <a:solidFill>
                  <a:srgbClr val="F254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Pengamatan</a:t>
            </a:r>
            <a:endParaRPr lang="en-US" sz="1600" dirty="0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67160276-7E70-50AD-6F4E-22802B5592CA}"/>
              </a:ext>
            </a:extLst>
          </p:cNvPr>
          <p:cNvSpPr/>
          <p:nvPr/>
        </p:nvSpPr>
        <p:spPr>
          <a:xfrm>
            <a:off x="5857241" y="4423930"/>
            <a:ext cx="5390174" cy="20794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Value: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Ditemukan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pada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Item_Weight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(17,17%) dan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Outlet_Size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(28,28%) yang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memerlukan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tindakan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imputasi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lnSpc>
                <a:spcPts val="1400"/>
              </a:lnSpc>
              <a:buNone/>
            </a:pPr>
            <a:endParaRPr lang="en-US" sz="1600" dirty="0">
              <a:solidFill>
                <a:srgbClr val="4444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Visibilitas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Nilai minimum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Item_Visibility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bernilai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0.0 (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perlu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diperbaiki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karena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barang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yang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terpajang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mungkin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terjual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</a:p>
          <a:p>
            <a:pPr marL="0" indent="0">
              <a:lnSpc>
                <a:spcPts val="1400"/>
              </a:lnSpc>
              <a:buNone/>
            </a:pPr>
            <a:endParaRPr lang="en-US" sz="1600" dirty="0">
              <a:solidFill>
                <a:srgbClr val="4444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ts val="1400"/>
              </a:lnSpc>
              <a:buNone/>
            </a:pP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Duplikasi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Data: 0% (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ditemukan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duplikat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464875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5691F-903E-1922-6F63-A193E1CCE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5">
            <a:extLst>
              <a:ext uri="{FF2B5EF4-FFF2-40B4-BE49-F238E27FC236}">
                <a16:creationId xmlns:a16="http://schemas.microsoft.com/office/drawing/2014/main" id="{884D203F-D237-A005-B7BC-8D8AD3ECACF4}"/>
              </a:ext>
            </a:extLst>
          </p:cNvPr>
          <p:cNvSpPr/>
          <p:nvPr/>
        </p:nvSpPr>
        <p:spPr>
          <a:xfrm>
            <a:off x="-87817" y="24171"/>
            <a:ext cx="12237720" cy="6809658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149AC5B0-3A76-5127-6D5A-D06B092F8FEC}"/>
              </a:ext>
            </a:extLst>
          </p:cNvPr>
          <p:cNvSpPr/>
          <p:nvPr/>
        </p:nvSpPr>
        <p:spPr>
          <a:xfrm>
            <a:off x="387293" y="185565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Exploration</a:t>
            </a:r>
            <a:endParaRPr lang="en-US" sz="2800" dirty="0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995C317C-2090-3C55-8332-E4F8D03DE38B}"/>
              </a:ext>
            </a:extLst>
          </p:cNvPr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A82A9F-6608-FC57-1D09-74B9E0CC36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3761" y="411480"/>
            <a:ext cx="3305918" cy="27367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650BE06-8F52-3551-E70A-36964454DB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97" y="840410"/>
            <a:ext cx="6352815" cy="3425795"/>
          </a:xfrm>
          <a:prstGeom prst="rect">
            <a:avLst/>
          </a:prstGeom>
        </p:spPr>
      </p:pic>
      <p:sp>
        <p:nvSpPr>
          <p:cNvPr id="11" name="Shape 5">
            <a:extLst>
              <a:ext uri="{FF2B5EF4-FFF2-40B4-BE49-F238E27FC236}">
                <a16:creationId xmlns:a16="http://schemas.microsoft.com/office/drawing/2014/main" id="{80429885-EFA1-8965-B5A7-9755D8F1AB90}"/>
              </a:ext>
            </a:extLst>
          </p:cNvPr>
          <p:cNvSpPr/>
          <p:nvPr/>
        </p:nvSpPr>
        <p:spPr>
          <a:xfrm>
            <a:off x="387293" y="4478615"/>
            <a:ext cx="11540248" cy="2331043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ID" dirty="0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03AACDC4-A3C1-48AE-91A1-22D71AC98DA0}"/>
              </a:ext>
            </a:extLst>
          </p:cNvPr>
          <p:cNvSpPr/>
          <p:nvPr/>
        </p:nvSpPr>
        <p:spPr>
          <a:xfrm>
            <a:off x="586011" y="4506773"/>
            <a:ext cx="5045931" cy="4468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54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Hasil </a:t>
            </a:r>
            <a:r>
              <a:rPr lang="en-US" sz="1600" b="1" dirty="0" err="1">
                <a:solidFill>
                  <a:srgbClr val="F254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Pengamatan</a:t>
            </a:r>
            <a:endParaRPr lang="en-US" sz="1600" dirty="0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FEC02DFF-84D3-FDF2-9281-E1F14CDC489E}"/>
              </a:ext>
            </a:extLst>
          </p:cNvPr>
          <p:cNvSpPr/>
          <p:nvPr/>
        </p:nvSpPr>
        <p:spPr>
          <a:xfrm>
            <a:off x="586011" y="4983788"/>
            <a:ext cx="10205003" cy="15743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ditemukan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tunggal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yang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unik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mewakili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baris data.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600" dirty="0">
              <a:solidFill>
                <a:srgbClr val="4444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Ditemukan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redundansi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penulisan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pada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Item_Fat_Content</a:t>
            </a:r>
            <a:endParaRPr lang="en-US" sz="1600" dirty="0">
              <a:solidFill>
                <a:srgbClr val="4444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1600" dirty="0">
              <a:solidFill>
                <a:srgbClr val="4444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Kolom-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kategorikal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lainnya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Item_Type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Outlet_Identifier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Outlet_Size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Outlet_Location_Type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dan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Outlet_Type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sudah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konsisten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memiliki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penulisan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yang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</a:t>
            </a:r>
            <a:endParaRPr lang="en-US" sz="1600" dirty="0">
              <a:solidFill>
                <a:srgbClr val="4444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9A8C8AE-2ECF-4325-E1D1-35E7B2DD23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4826" y="3270445"/>
            <a:ext cx="5555118" cy="956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621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BCFC9-5B1E-B0FE-CBB8-F5DA7BA4A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5">
            <a:extLst>
              <a:ext uri="{FF2B5EF4-FFF2-40B4-BE49-F238E27FC236}">
                <a16:creationId xmlns:a16="http://schemas.microsoft.com/office/drawing/2014/main" id="{6F312347-95FB-978F-4A80-3C8A2D0838A1}"/>
              </a:ext>
            </a:extLst>
          </p:cNvPr>
          <p:cNvSpPr/>
          <p:nvPr/>
        </p:nvSpPr>
        <p:spPr>
          <a:xfrm>
            <a:off x="-45720" y="48342"/>
            <a:ext cx="12237720" cy="6809658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74E96B8D-52CF-011B-61BC-C484AD316F45}"/>
              </a:ext>
            </a:extLst>
          </p:cNvPr>
          <p:cNvSpPr/>
          <p:nvPr/>
        </p:nvSpPr>
        <p:spPr>
          <a:xfrm>
            <a:off x="548640" y="55794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2800" dirty="0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F8779A17-DE3E-0730-C3F1-4EF44C8D2A18}"/>
              </a:ext>
            </a:extLst>
          </p:cNvPr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D568CCDF-BBA2-E6DE-76BA-1A218E944EBA}"/>
              </a:ext>
            </a:extLst>
          </p:cNvPr>
          <p:cNvSpPr/>
          <p:nvPr/>
        </p:nvSpPr>
        <p:spPr>
          <a:xfrm>
            <a:off x="117373" y="4877805"/>
            <a:ext cx="11835333" cy="1753783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ID" dirty="0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B2CF452F-0246-ADEB-2AE3-CF9502C600FE}"/>
              </a:ext>
            </a:extLst>
          </p:cNvPr>
          <p:cNvSpPr/>
          <p:nvPr/>
        </p:nvSpPr>
        <p:spPr>
          <a:xfrm>
            <a:off x="463539" y="4847365"/>
            <a:ext cx="5174955" cy="4363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54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Hasil </a:t>
            </a:r>
            <a:r>
              <a:rPr lang="en-US" sz="1600" b="1" dirty="0" err="1">
                <a:solidFill>
                  <a:srgbClr val="F254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Pengamatan</a:t>
            </a:r>
            <a:endParaRPr lang="en-US" sz="1600" dirty="0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38EC6720-D31A-E2D0-6E8F-2FAFD25C0AD6}"/>
              </a:ext>
            </a:extLst>
          </p:cNvPr>
          <p:cNvSpPr/>
          <p:nvPr/>
        </p:nvSpPr>
        <p:spPr>
          <a:xfrm>
            <a:off x="415435" y="5296216"/>
            <a:ext cx="10465947" cy="15371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Penyeragaman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Berhasil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merapikan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lima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variasi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penulisan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pada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Item_Fat_Content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(Low Fat, Regular, low fat, LF, reg)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menjadi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dua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(Low Fat dan Regular).</a:t>
            </a:r>
          </a:p>
          <a:p>
            <a:pPr marL="0" indent="0">
              <a:lnSpc>
                <a:spcPts val="1400"/>
              </a:lnSpc>
              <a:buNone/>
            </a:pPr>
            <a:endParaRPr lang="en-US" sz="1600" dirty="0">
              <a:solidFill>
                <a:srgbClr val="4444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ts val="1400"/>
              </a:lnSpc>
              <a:buNone/>
            </a:pP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Penanganan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Anomali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Visibilitas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Ditemukan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526 baris (6,17%)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Item_Visibility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bernilai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0.0 (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barang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menghasilkan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penjualan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tetapi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keterlihatan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0).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Seluruhnya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berhasil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diimputasi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menggunakan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rata-rata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visibilitas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masing-masing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Outlet_Identifier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lnSpc>
                <a:spcPts val="1400"/>
              </a:lnSpc>
              <a:buNone/>
            </a:pPr>
            <a:endParaRPr lang="en-US" sz="1600" dirty="0">
              <a:solidFill>
                <a:srgbClr val="4444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ts val="1400"/>
              </a:lnSpc>
              <a:buNone/>
            </a:pP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Akhir: Kolom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Item_Fat_Content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kini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100%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konsisten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sisa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pada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Item_Visibility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berhasil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menjadi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0 baris.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CB324A-B630-D78B-BF9B-1D76377948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29053"/>
            <a:ext cx="4224399" cy="11818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AB7024-DB73-4F8B-037B-DEDB0FCBBE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591" y="2387182"/>
            <a:ext cx="3580954" cy="1537148"/>
          </a:xfrm>
          <a:prstGeom prst="rect">
            <a:avLst/>
          </a:prstGeom>
        </p:spPr>
      </p:pic>
      <p:sp>
        <p:nvSpPr>
          <p:cNvPr id="9" name="Text 4">
            <a:extLst>
              <a:ext uri="{FF2B5EF4-FFF2-40B4-BE49-F238E27FC236}">
                <a16:creationId xmlns:a16="http://schemas.microsoft.com/office/drawing/2014/main" id="{90393201-F691-48BD-2108-9FC2F7700853}"/>
              </a:ext>
            </a:extLst>
          </p:cNvPr>
          <p:cNvSpPr/>
          <p:nvPr/>
        </p:nvSpPr>
        <p:spPr>
          <a:xfrm>
            <a:off x="548640" y="61957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1. Cek </a:t>
            </a:r>
            <a:r>
              <a:rPr lang="en-US" sz="1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Inkonsistensi</a:t>
            </a: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 Data </a:t>
            </a:r>
            <a:endParaRPr lang="en-US" sz="1500" dirty="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4ACF1999-A7B9-8CC1-7AEE-923668FE644C}"/>
              </a:ext>
            </a:extLst>
          </p:cNvPr>
          <p:cNvSpPr/>
          <p:nvPr/>
        </p:nvSpPr>
        <p:spPr>
          <a:xfrm>
            <a:off x="5784040" y="47799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2. </a:t>
            </a:r>
            <a:r>
              <a:rPr lang="en-US" sz="1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Penanganan</a:t>
            </a: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 Nilai Anomali</a:t>
            </a:r>
            <a:endParaRPr lang="en-US" sz="15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7E352C8-0574-2D0A-5177-C6632FADF9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4040" y="856286"/>
            <a:ext cx="4224398" cy="242151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2988454-5558-30F6-6977-41C37072DC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84040" y="3397350"/>
            <a:ext cx="4677772" cy="1462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901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25F5E-96F8-C1E9-53A8-43BF4D9BD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5">
            <a:extLst>
              <a:ext uri="{FF2B5EF4-FFF2-40B4-BE49-F238E27FC236}">
                <a16:creationId xmlns:a16="http://schemas.microsoft.com/office/drawing/2014/main" id="{62255143-4B80-7975-3F9A-7584D9429509}"/>
              </a:ext>
            </a:extLst>
          </p:cNvPr>
          <p:cNvSpPr/>
          <p:nvPr/>
        </p:nvSpPr>
        <p:spPr>
          <a:xfrm>
            <a:off x="-45720" y="48342"/>
            <a:ext cx="12237720" cy="6809658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51F1BE9B-0D21-EC3A-FF2B-AC2ED6AB70C1}"/>
              </a:ext>
            </a:extLst>
          </p:cNvPr>
          <p:cNvSpPr/>
          <p:nvPr/>
        </p:nvSpPr>
        <p:spPr>
          <a:xfrm>
            <a:off x="548640" y="55794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2800" dirty="0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6A681769-CD01-C32C-28BB-1443EDE2232C}"/>
              </a:ext>
            </a:extLst>
          </p:cNvPr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D35F9301-C306-9466-4E30-50CD43F267B2}"/>
              </a:ext>
            </a:extLst>
          </p:cNvPr>
          <p:cNvSpPr/>
          <p:nvPr/>
        </p:nvSpPr>
        <p:spPr>
          <a:xfrm>
            <a:off x="0" y="4946272"/>
            <a:ext cx="11835333" cy="1753783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ID" dirty="0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77D4CDFB-183A-1FFF-BDD8-1F617F9AAF87}"/>
              </a:ext>
            </a:extLst>
          </p:cNvPr>
          <p:cNvSpPr/>
          <p:nvPr/>
        </p:nvSpPr>
        <p:spPr>
          <a:xfrm>
            <a:off x="111827" y="4931995"/>
            <a:ext cx="5174955" cy="4363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54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Hasil Cleaning</a:t>
            </a:r>
            <a:endParaRPr lang="en-US" sz="1600" dirty="0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D8B4E2FD-C6F9-C7D5-AE79-45F7340C1AA2}"/>
              </a:ext>
            </a:extLst>
          </p:cNvPr>
          <p:cNvSpPr/>
          <p:nvPr/>
        </p:nvSpPr>
        <p:spPr>
          <a:xfrm>
            <a:off x="111827" y="5293447"/>
            <a:ext cx="11622668" cy="15371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Imputasi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 (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Berdasarkan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ID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Sebanyak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1.459 missing value pada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Item_Weight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berhasil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diisi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menggunakan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rata-rata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berat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Item_Identifier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yang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karena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terbukti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memiliki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berat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yang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konsisten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berat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0).</a:t>
            </a:r>
          </a:p>
          <a:p>
            <a:pPr marL="0" indent="0">
              <a:lnSpc>
                <a:spcPts val="1400"/>
              </a:lnSpc>
              <a:buNone/>
            </a:pPr>
            <a:endParaRPr lang="en-US" sz="1600" dirty="0">
              <a:solidFill>
                <a:srgbClr val="4444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ts val="1400"/>
              </a:lnSpc>
              <a:buNone/>
            </a:pP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Imputasi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 (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Penanganan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Sisa 4 Data): Sisa 4 data yang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masih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kosong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karena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tersebut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berdiri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sendiri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memiliki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pembanding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ID lain)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diimputasi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menggunakan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rata-rata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keseluruhan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(overall mean)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mempertahankan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Item_Outlet_Sales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lnSpc>
                <a:spcPts val="1400"/>
              </a:lnSpc>
              <a:buNone/>
            </a:pPr>
            <a:endParaRPr lang="en-US" sz="1600" dirty="0">
              <a:solidFill>
                <a:srgbClr val="4444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ts val="1400"/>
              </a:lnSpc>
              <a:buNone/>
            </a:pP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Akhir: Sisa missing value pada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Item_Weight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berhasil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menjadi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0 baris (100%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bersih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09E6410A-9ED6-53BC-28F9-F9D5C4F2012A}"/>
              </a:ext>
            </a:extLst>
          </p:cNvPr>
          <p:cNvSpPr/>
          <p:nvPr/>
        </p:nvSpPr>
        <p:spPr>
          <a:xfrm>
            <a:off x="548640" y="61957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3. </a:t>
            </a:r>
            <a:r>
              <a:rPr lang="en-US" sz="1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Penanganan</a:t>
            </a: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 Missing Value pada </a:t>
            </a:r>
            <a:r>
              <a:rPr lang="en-US" sz="1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kolom</a:t>
            </a: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 </a:t>
            </a:r>
            <a:r>
              <a:rPr lang="en-US" sz="1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Item_Weight</a:t>
            </a:r>
            <a:endParaRPr lang="en-US" sz="15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5467D17-7108-E408-C0BC-DAFE807F5F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609" y="1034836"/>
            <a:ext cx="4839192" cy="217901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C4833E0-83C6-DEB9-25D8-936D7F524D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6291" y="1089754"/>
            <a:ext cx="5971285" cy="84638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4D59F31-36CD-4088-9F5A-30F174172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318263"/>
            <a:ext cx="3673736" cy="148782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24A01E9-9FCD-ED68-8BE1-D9B59DEDBD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66291" y="3318263"/>
            <a:ext cx="5496692" cy="111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833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314A1-27A3-AE4D-EC36-EB7C51900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5">
            <a:extLst>
              <a:ext uri="{FF2B5EF4-FFF2-40B4-BE49-F238E27FC236}">
                <a16:creationId xmlns:a16="http://schemas.microsoft.com/office/drawing/2014/main" id="{6055FC16-B863-D0D4-4249-5F7AD9DAF8B6}"/>
              </a:ext>
            </a:extLst>
          </p:cNvPr>
          <p:cNvSpPr/>
          <p:nvPr/>
        </p:nvSpPr>
        <p:spPr>
          <a:xfrm>
            <a:off x="-83820" y="48342"/>
            <a:ext cx="12237720" cy="6809658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471096F2-8BF4-AC09-B82D-DB8BF87CF9C3}"/>
              </a:ext>
            </a:extLst>
          </p:cNvPr>
          <p:cNvSpPr/>
          <p:nvPr/>
        </p:nvSpPr>
        <p:spPr>
          <a:xfrm>
            <a:off x="548640" y="55794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2800" dirty="0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883F0FFC-C29F-700F-9CF3-A3E8B1AFC4B5}"/>
              </a:ext>
            </a:extLst>
          </p:cNvPr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F71E02BF-E66F-14F2-94F9-783AF581A421}"/>
              </a:ext>
            </a:extLst>
          </p:cNvPr>
          <p:cNvSpPr/>
          <p:nvPr/>
        </p:nvSpPr>
        <p:spPr>
          <a:xfrm>
            <a:off x="0" y="4946272"/>
            <a:ext cx="11835333" cy="1753783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ID" dirty="0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1B3978CC-66E2-CC46-D942-6C0D103BD2ED}"/>
              </a:ext>
            </a:extLst>
          </p:cNvPr>
          <p:cNvSpPr/>
          <p:nvPr/>
        </p:nvSpPr>
        <p:spPr>
          <a:xfrm>
            <a:off x="111827" y="4931995"/>
            <a:ext cx="5174955" cy="4363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54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Hasil Cleaning</a:t>
            </a:r>
            <a:endParaRPr lang="en-US" sz="1600" dirty="0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34B7B2AE-F80A-4F57-2AE2-C7E1E611FE83}"/>
              </a:ext>
            </a:extLst>
          </p:cNvPr>
          <p:cNvSpPr/>
          <p:nvPr/>
        </p:nvSpPr>
        <p:spPr>
          <a:xfrm>
            <a:off x="111827" y="5293447"/>
            <a:ext cx="11622668" cy="15371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Crosstab: 2.410 missing value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Outlet_Size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berasal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Grocery Store (555) dan Supermarket Type1 Tier 2 (1.855). </a:t>
            </a:r>
          </a:p>
          <a:p>
            <a:pPr marL="0" indent="0">
              <a:lnSpc>
                <a:spcPts val="1400"/>
              </a:lnSpc>
              <a:buNone/>
            </a:pPr>
            <a:endParaRPr lang="en-US" sz="1600" dirty="0">
              <a:solidFill>
                <a:srgbClr val="4444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Dasar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Imputasi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Mayoritas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pembanding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pada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tersebut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berukuran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Small,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sehingga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kosong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diimputasi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'Small’. </a:t>
            </a:r>
          </a:p>
          <a:p>
            <a:pPr marL="0" indent="0">
              <a:lnSpc>
                <a:spcPts val="1400"/>
              </a:lnSpc>
              <a:buNone/>
            </a:pPr>
            <a:endParaRPr lang="en-US" sz="1600" dirty="0">
              <a:solidFill>
                <a:srgbClr val="4444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Akhir: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terisi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presisi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sisa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missing value pada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Outlet_Size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berhasil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menjadi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0 baris. </a:t>
            </a: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32D9058D-B591-0E75-409E-6FCD2216909D}"/>
              </a:ext>
            </a:extLst>
          </p:cNvPr>
          <p:cNvSpPr/>
          <p:nvPr/>
        </p:nvSpPr>
        <p:spPr>
          <a:xfrm>
            <a:off x="548640" y="61957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4. </a:t>
            </a:r>
            <a:r>
              <a:rPr lang="en-US" sz="1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Penanganan</a:t>
            </a: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 Missing Value pada </a:t>
            </a:r>
            <a:r>
              <a:rPr lang="en-US" sz="1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kolom</a:t>
            </a: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 </a:t>
            </a:r>
            <a:r>
              <a:rPr lang="en-US" sz="1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Outlet_Size</a:t>
            </a:r>
            <a:endParaRPr lang="en-US" sz="15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49832E-ACD6-2269-ED9C-403C408B2D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45658"/>
            <a:ext cx="4009914" cy="16694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80BCBE3-8C1D-4CDB-C36E-064D6E2DAB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7667" y="1145659"/>
            <a:ext cx="4517252" cy="16408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0983ABD-790B-4E1E-B68C-BA002E153D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9571" y="2787169"/>
            <a:ext cx="3550776" cy="2116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1025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67BC5-C99A-E091-82E1-3BFA4B836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5">
            <a:extLst>
              <a:ext uri="{FF2B5EF4-FFF2-40B4-BE49-F238E27FC236}">
                <a16:creationId xmlns:a16="http://schemas.microsoft.com/office/drawing/2014/main" id="{8242ECE8-121F-7CF0-9AB2-781E27137A20}"/>
              </a:ext>
            </a:extLst>
          </p:cNvPr>
          <p:cNvSpPr/>
          <p:nvPr/>
        </p:nvSpPr>
        <p:spPr>
          <a:xfrm>
            <a:off x="-45720" y="48342"/>
            <a:ext cx="12237720" cy="6809658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CF1BCAE0-3627-29A8-62E3-A2FC96EDF335}"/>
              </a:ext>
            </a:extLst>
          </p:cNvPr>
          <p:cNvSpPr/>
          <p:nvPr/>
        </p:nvSpPr>
        <p:spPr>
          <a:xfrm>
            <a:off x="548640" y="55794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2800" dirty="0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4CCF6CB5-01B7-B8AF-EAA1-07B5C6D9A813}"/>
              </a:ext>
            </a:extLst>
          </p:cNvPr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DF124894-1CBC-FE2B-8C64-10460D411A84}"/>
              </a:ext>
            </a:extLst>
          </p:cNvPr>
          <p:cNvSpPr/>
          <p:nvPr/>
        </p:nvSpPr>
        <p:spPr>
          <a:xfrm>
            <a:off x="0" y="4946272"/>
            <a:ext cx="11835333" cy="1753783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ID" dirty="0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5B8879D7-7587-49F5-301D-7D827FD78BB1}"/>
              </a:ext>
            </a:extLst>
          </p:cNvPr>
          <p:cNvSpPr/>
          <p:nvPr/>
        </p:nvSpPr>
        <p:spPr>
          <a:xfrm>
            <a:off x="111827" y="4931995"/>
            <a:ext cx="5174955" cy="4363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54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Hasil Cleaning</a:t>
            </a:r>
            <a:endParaRPr lang="en-US" sz="1600" dirty="0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A5A305F5-A292-CCAA-87D1-7C6924F24A50}"/>
              </a:ext>
            </a:extLst>
          </p:cNvPr>
          <p:cNvSpPr/>
          <p:nvPr/>
        </p:nvSpPr>
        <p:spPr>
          <a:xfrm>
            <a:off x="111827" y="5293447"/>
            <a:ext cx="11622668" cy="15371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Penjualan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Item_Outlet_Sales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Teridentifikasi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186 baris data di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atas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batas normal IQR (&gt; 6.501,87).</a:t>
            </a:r>
          </a:p>
          <a:p>
            <a:pPr marL="0" indent="0">
              <a:lnSpc>
                <a:spcPts val="1400"/>
              </a:lnSpc>
              <a:buNone/>
            </a:pPr>
            <a:endParaRPr lang="en-US" sz="1600" dirty="0">
              <a:solidFill>
                <a:srgbClr val="4444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Visibilitas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Item_Visibility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Teridentifikasi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154 baris data di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atas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batas normal IQR (&gt; 0,1916).</a:t>
            </a:r>
          </a:p>
          <a:p>
            <a:pPr marL="0" indent="0">
              <a:lnSpc>
                <a:spcPts val="1400"/>
              </a:lnSpc>
              <a:buNone/>
            </a:pPr>
            <a:endParaRPr lang="en-US" sz="1600" dirty="0">
              <a:solidFill>
                <a:srgbClr val="4444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Keputusan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Penanganan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outlier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dipertahankan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dihapus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karena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mewakili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kondisi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bisnis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nyata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(high-performing products/outlets),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disebabkan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oleh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kesalahan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input data (data entry error).</a:t>
            </a: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B65F87D7-A2A3-8386-B27F-84D746B36042}"/>
              </a:ext>
            </a:extLst>
          </p:cNvPr>
          <p:cNvSpPr/>
          <p:nvPr/>
        </p:nvSpPr>
        <p:spPr>
          <a:xfrm>
            <a:off x="548640" y="61957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5. </a:t>
            </a:r>
            <a:r>
              <a:rPr lang="en-US" sz="1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Mengidentifikasi</a:t>
            </a: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 Outlier dan </a:t>
            </a:r>
            <a:r>
              <a:rPr lang="en-US" sz="1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Menangani</a:t>
            </a: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 Outlier</a:t>
            </a:r>
            <a:endParaRPr lang="en-US" sz="15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5ED630-A53E-2F0B-823F-31C586DAEC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46" y="1002522"/>
            <a:ext cx="5486777" cy="30719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BCEEDDE-6D26-E05B-4358-26E2363807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2589" y="1002522"/>
            <a:ext cx="6082744" cy="1748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7075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62096-A7A7-B955-C551-DA757EF2F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5">
            <a:extLst>
              <a:ext uri="{FF2B5EF4-FFF2-40B4-BE49-F238E27FC236}">
                <a16:creationId xmlns:a16="http://schemas.microsoft.com/office/drawing/2014/main" id="{1BC88DC5-48B2-0205-726F-CEAB03E96D63}"/>
              </a:ext>
            </a:extLst>
          </p:cNvPr>
          <p:cNvSpPr/>
          <p:nvPr/>
        </p:nvSpPr>
        <p:spPr>
          <a:xfrm>
            <a:off x="-87817" y="24171"/>
            <a:ext cx="12237720" cy="6809658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586D518A-AFFA-5BAD-F9C3-0AEC41A00693}"/>
              </a:ext>
            </a:extLst>
          </p:cNvPr>
          <p:cNvSpPr/>
          <p:nvPr/>
        </p:nvSpPr>
        <p:spPr>
          <a:xfrm>
            <a:off x="387293" y="71755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Manipulation</a:t>
            </a:r>
            <a:endParaRPr lang="en-US" sz="2800" dirty="0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C9FF71B4-ADF2-8EA5-57D8-1971B0453950}"/>
              </a:ext>
            </a:extLst>
          </p:cNvPr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FD2F65-D98C-6FCD-D39A-D2D353CC11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246" y="917085"/>
            <a:ext cx="3767866" cy="3041260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D8699BB0-B8E3-55CA-9501-6760FA8E6D54}"/>
              </a:ext>
            </a:extLst>
          </p:cNvPr>
          <p:cNvSpPr/>
          <p:nvPr/>
        </p:nvSpPr>
        <p:spPr>
          <a:xfrm>
            <a:off x="565246" y="552338"/>
            <a:ext cx="472260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1. </a:t>
            </a:r>
            <a:r>
              <a:rPr lang="en-US" sz="1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Membuat</a:t>
            </a: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 Dataset </a:t>
            </a:r>
            <a:endParaRPr lang="en-US" sz="15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4204C7D-4277-D414-37A8-BB63461C62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4109" y="918098"/>
            <a:ext cx="5534797" cy="3200847"/>
          </a:xfrm>
          <a:prstGeom prst="rect">
            <a:avLst/>
          </a:prstGeom>
        </p:spPr>
      </p:pic>
      <p:sp>
        <p:nvSpPr>
          <p:cNvPr id="14" name="Text 4">
            <a:extLst>
              <a:ext uri="{FF2B5EF4-FFF2-40B4-BE49-F238E27FC236}">
                <a16:creationId xmlns:a16="http://schemas.microsoft.com/office/drawing/2014/main" id="{B79BD4B7-0061-B69E-1E29-1EB3AF8056E2}"/>
              </a:ext>
            </a:extLst>
          </p:cNvPr>
          <p:cNvSpPr/>
          <p:nvPr/>
        </p:nvSpPr>
        <p:spPr>
          <a:xfrm>
            <a:off x="5465806" y="620395"/>
            <a:ext cx="472260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2. Filter Data 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6559944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0EDBB-AC02-9602-5454-1BCDE2D68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5">
            <a:extLst>
              <a:ext uri="{FF2B5EF4-FFF2-40B4-BE49-F238E27FC236}">
                <a16:creationId xmlns:a16="http://schemas.microsoft.com/office/drawing/2014/main" id="{B0731892-EE25-8601-8DFC-1EE5629A3D50}"/>
              </a:ext>
            </a:extLst>
          </p:cNvPr>
          <p:cNvSpPr/>
          <p:nvPr/>
        </p:nvSpPr>
        <p:spPr>
          <a:xfrm>
            <a:off x="-87817" y="24171"/>
            <a:ext cx="12237720" cy="6809658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0E0C93A9-D2E1-49BA-F5AD-6008585CEF3B}"/>
              </a:ext>
            </a:extLst>
          </p:cNvPr>
          <p:cNvSpPr/>
          <p:nvPr/>
        </p:nvSpPr>
        <p:spPr>
          <a:xfrm>
            <a:off x="387293" y="71755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Manipulation</a:t>
            </a:r>
            <a:endParaRPr lang="en-US" sz="2800" dirty="0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05D0813D-A853-0B5A-FC89-83F13FBBFA3B}"/>
              </a:ext>
            </a:extLst>
          </p:cNvPr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7A3867E-3C0E-5F43-3E88-2B11D218F967}"/>
              </a:ext>
            </a:extLst>
          </p:cNvPr>
          <p:cNvSpPr/>
          <p:nvPr/>
        </p:nvSpPr>
        <p:spPr>
          <a:xfrm>
            <a:off x="565246" y="552338"/>
            <a:ext cx="472260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3. Grouping dan </a:t>
            </a:r>
            <a:r>
              <a:rPr lang="en-US" sz="1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agregasi</a:t>
            </a: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 </a:t>
            </a:r>
            <a:endParaRPr lang="en-US" sz="15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6DDB2A-07E6-4404-9A73-E9AF34E8BF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246" y="918098"/>
            <a:ext cx="7905421" cy="446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2049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Hasil Analisa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87552"/>
            <a:ext cx="11064240" cy="1540495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90397" y="1151001"/>
            <a:ext cx="502920" cy="502920"/>
          </a:xfrm>
          <a:prstGeom prst="ellipse">
            <a:avLst/>
          </a:prstGeom>
          <a:solidFill>
            <a:srgbClr val="2E9E6D"/>
          </a:solidFill>
          <a:ln/>
        </p:spPr>
      </p:sp>
      <p:pic>
        <p:nvPicPr>
          <p:cNvPr id="5" name="Image 0" descr="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554" y="1264158"/>
            <a:ext cx="276606" cy="27660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19" y="1170432"/>
            <a:ext cx="8832797" cy="4354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Dominasi</a:t>
            </a:r>
            <a:r>
              <a:rPr lang="en-US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Omzet</a:t>
            </a:r>
            <a:r>
              <a:rPr lang="en-US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Penjualan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777240" y="1828800"/>
            <a:ext cx="101344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sv-SE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Jenis produk seperti Fruits and Vegetables dan Snack Foods menjadi penyumbang total omzet terbesar bagi ritel karena memiliki jumlah varian produk yang paling masif di toko (di atas 1.200 produk).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777240" y="4983480"/>
            <a:ext cx="4983480" cy="640080"/>
          </a:xfrm>
          <a:prstGeom prst="roundRect">
            <a:avLst>
              <a:gd name="adj" fmla="val 8571"/>
            </a:avLst>
          </a:prstGeom>
          <a:solidFill>
            <a:srgbClr val="F5F7FC"/>
          </a:solidFill>
          <a:ln/>
        </p:spPr>
      </p:sp>
      <p:sp>
        <p:nvSpPr>
          <p:cNvPr id="32" name="Text 2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  <p:sp>
        <p:nvSpPr>
          <p:cNvPr id="25" name="Shape 1">
            <a:extLst>
              <a:ext uri="{FF2B5EF4-FFF2-40B4-BE49-F238E27FC236}">
                <a16:creationId xmlns:a16="http://schemas.microsoft.com/office/drawing/2014/main" id="{1F9B6F2B-E319-38A6-F2D8-F3C432EF8AAC}"/>
              </a:ext>
            </a:extLst>
          </p:cNvPr>
          <p:cNvSpPr/>
          <p:nvPr/>
        </p:nvSpPr>
        <p:spPr>
          <a:xfrm>
            <a:off x="548640" y="2739636"/>
            <a:ext cx="11064240" cy="1540495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7" name="Shape 2">
            <a:extLst>
              <a:ext uri="{FF2B5EF4-FFF2-40B4-BE49-F238E27FC236}">
                <a16:creationId xmlns:a16="http://schemas.microsoft.com/office/drawing/2014/main" id="{48B01CDC-5B81-CA19-FB0D-A745FA40EB20}"/>
              </a:ext>
            </a:extLst>
          </p:cNvPr>
          <p:cNvSpPr/>
          <p:nvPr/>
        </p:nvSpPr>
        <p:spPr>
          <a:xfrm>
            <a:off x="890397" y="2903085"/>
            <a:ext cx="502920" cy="502920"/>
          </a:xfrm>
          <a:prstGeom prst="ellipse">
            <a:avLst/>
          </a:prstGeom>
          <a:solidFill>
            <a:srgbClr val="2E9E6D"/>
          </a:solidFill>
          <a:ln/>
        </p:spPr>
      </p:sp>
      <p:pic>
        <p:nvPicPr>
          <p:cNvPr id="30" name="Image 0" descr="icon_check.png">
            <a:extLst>
              <a:ext uri="{FF2B5EF4-FFF2-40B4-BE49-F238E27FC236}">
                <a16:creationId xmlns:a16="http://schemas.microsoft.com/office/drawing/2014/main" id="{7FDBB12F-19D1-B28E-156F-9A51F3481F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554" y="3016242"/>
            <a:ext cx="276606" cy="276606"/>
          </a:xfrm>
          <a:prstGeom prst="rect">
            <a:avLst/>
          </a:prstGeom>
        </p:spPr>
      </p:pic>
      <p:sp>
        <p:nvSpPr>
          <p:cNvPr id="33" name="Text 3">
            <a:extLst>
              <a:ext uri="{FF2B5EF4-FFF2-40B4-BE49-F238E27FC236}">
                <a16:creationId xmlns:a16="http://schemas.microsoft.com/office/drawing/2014/main" id="{D220B63E-FAF5-69DE-C5FC-EC35DD67F415}"/>
              </a:ext>
            </a:extLst>
          </p:cNvPr>
          <p:cNvSpPr/>
          <p:nvPr/>
        </p:nvSpPr>
        <p:spPr>
          <a:xfrm>
            <a:off x="1417319" y="2922516"/>
            <a:ext cx="8832797" cy="4354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 per </a:t>
            </a:r>
            <a:r>
              <a:rPr lang="en-US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Produk</a:t>
            </a:r>
            <a:r>
              <a:rPr lang="en-US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(High Value)</a:t>
            </a:r>
            <a:endParaRPr lang="en-US" dirty="0"/>
          </a:p>
        </p:txBody>
      </p:sp>
      <p:sp>
        <p:nvSpPr>
          <p:cNvPr id="35" name="Text 4">
            <a:extLst>
              <a:ext uri="{FF2B5EF4-FFF2-40B4-BE49-F238E27FC236}">
                <a16:creationId xmlns:a16="http://schemas.microsoft.com/office/drawing/2014/main" id="{A5A71333-B9F6-E458-BD8B-87649AFC4D79}"/>
              </a:ext>
            </a:extLst>
          </p:cNvPr>
          <p:cNvSpPr/>
          <p:nvPr/>
        </p:nvSpPr>
        <p:spPr>
          <a:xfrm>
            <a:off x="777240" y="3580884"/>
            <a:ext cx="101344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sv-SE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Meskipun jumlah produknya lebih sedikit, jenis produk Starchy Foods (2374.33) dan Seafood (2326.07) mencatatkan rata-rata penjualan per produk tertinggi dibanding jenis produk lainnya</a:t>
            </a:r>
            <a:endParaRPr lang="en-US" sz="1400" dirty="0"/>
          </a:p>
        </p:txBody>
      </p:sp>
      <p:sp>
        <p:nvSpPr>
          <p:cNvPr id="37" name="Shape 1">
            <a:extLst>
              <a:ext uri="{FF2B5EF4-FFF2-40B4-BE49-F238E27FC236}">
                <a16:creationId xmlns:a16="http://schemas.microsoft.com/office/drawing/2014/main" id="{7B9A5D7E-E797-A456-6C75-574129D3E154}"/>
              </a:ext>
            </a:extLst>
          </p:cNvPr>
          <p:cNvSpPr/>
          <p:nvPr/>
        </p:nvSpPr>
        <p:spPr>
          <a:xfrm>
            <a:off x="548640" y="4582858"/>
            <a:ext cx="11064240" cy="1540495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39" name="Shape 2">
            <a:extLst>
              <a:ext uri="{FF2B5EF4-FFF2-40B4-BE49-F238E27FC236}">
                <a16:creationId xmlns:a16="http://schemas.microsoft.com/office/drawing/2014/main" id="{32C3CC66-2B27-7384-4681-0EA3D92C0E09}"/>
              </a:ext>
            </a:extLst>
          </p:cNvPr>
          <p:cNvSpPr/>
          <p:nvPr/>
        </p:nvSpPr>
        <p:spPr>
          <a:xfrm>
            <a:off x="890397" y="4746307"/>
            <a:ext cx="502920" cy="502920"/>
          </a:xfrm>
          <a:prstGeom prst="ellipse">
            <a:avLst/>
          </a:prstGeom>
          <a:solidFill>
            <a:srgbClr val="2E9E6D"/>
          </a:solidFill>
          <a:ln/>
        </p:spPr>
      </p:sp>
      <p:pic>
        <p:nvPicPr>
          <p:cNvPr id="41" name="Image 0" descr="icon_check.png">
            <a:extLst>
              <a:ext uri="{FF2B5EF4-FFF2-40B4-BE49-F238E27FC236}">
                <a16:creationId xmlns:a16="http://schemas.microsoft.com/office/drawing/2014/main" id="{E7D769AD-CBF8-D395-7485-E9CC57A996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554" y="4859464"/>
            <a:ext cx="276606" cy="276606"/>
          </a:xfrm>
          <a:prstGeom prst="rect">
            <a:avLst/>
          </a:prstGeom>
        </p:spPr>
      </p:pic>
      <p:sp>
        <p:nvSpPr>
          <p:cNvPr id="43" name="Text 3">
            <a:extLst>
              <a:ext uri="{FF2B5EF4-FFF2-40B4-BE49-F238E27FC236}">
                <a16:creationId xmlns:a16="http://schemas.microsoft.com/office/drawing/2014/main" id="{5E086224-6985-73AB-2748-936449849D25}"/>
              </a:ext>
            </a:extLst>
          </p:cNvPr>
          <p:cNvSpPr/>
          <p:nvPr/>
        </p:nvSpPr>
        <p:spPr>
          <a:xfrm>
            <a:off x="1417319" y="4765738"/>
            <a:ext cx="8832797" cy="4354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sv-SE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Dinamika Visibilitas Ruang Pajang (Rak)</a:t>
            </a:r>
            <a:endParaRPr lang="en-US" dirty="0"/>
          </a:p>
        </p:txBody>
      </p:sp>
      <p:sp>
        <p:nvSpPr>
          <p:cNvPr id="45" name="Text 4">
            <a:extLst>
              <a:ext uri="{FF2B5EF4-FFF2-40B4-BE49-F238E27FC236}">
                <a16:creationId xmlns:a16="http://schemas.microsoft.com/office/drawing/2014/main" id="{C40BEC2D-56C0-3B38-76D1-119ED33BB2EF}"/>
              </a:ext>
            </a:extLst>
          </p:cNvPr>
          <p:cNvSpPr/>
          <p:nvPr/>
        </p:nvSpPr>
        <p:spPr>
          <a:xfrm>
            <a:off x="777240" y="5424106"/>
            <a:ext cx="101344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sv-SE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jenis produk Breakfast menduduki peringkat teratas dalam hal rata-rata visibilitas rak (0.09), namun penjualannya berada di papan tengah. Ini menunjukkan bahwa ruang pajang yang luas tidak otomatis menaikkan angka penjuala tanpa dukungan permintaan pasar yang tinggi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1B99C5-52A1-583C-DBC0-DF2BF0256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AE5FCA0-E43F-BD00-063D-8B50D42FDBB5}"/>
              </a:ext>
            </a:extLst>
          </p:cNvPr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Rekomendasi</a:t>
            </a: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 </a:t>
            </a:r>
            <a:r>
              <a:rPr lang="en-US" sz="28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Bisnis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1D0517B-6D46-F46C-66DD-F2D15EFE5B4B}"/>
              </a:ext>
            </a:extLst>
          </p:cNvPr>
          <p:cNvSpPr/>
          <p:nvPr/>
        </p:nvSpPr>
        <p:spPr>
          <a:xfrm>
            <a:off x="548640" y="987552"/>
            <a:ext cx="11064240" cy="1540495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E2B48C6-A620-7C92-693D-BF96347DBE43}"/>
              </a:ext>
            </a:extLst>
          </p:cNvPr>
          <p:cNvSpPr/>
          <p:nvPr/>
        </p:nvSpPr>
        <p:spPr>
          <a:xfrm>
            <a:off x="890397" y="1151001"/>
            <a:ext cx="502920" cy="502920"/>
          </a:xfrm>
          <a:prstGeom prst="ellipse">
            <a:avLst/>
          </a:prstGeom>
          <a:solidFill>
            <a:srgbClr val="2E9E6D"/>
          </a:solidFill>
          <a:ln/>
        </p:spPr>
      </p:sp>
      <p:pic>
        <p:nvPicPr>
          <p:cNvPr id="5" name="Image 0" descr="icon_check.png">
            <a:extLst>
              <a:ext uri="{FF2B5EF4-FFF2-40B4-BE49-F238E27FC236}">
                <a16:creationId xmlns:a16="http://schemas.microsoft.com/office/drawing/2014/main" id="{F8B3BC94-3C39-807A-C4DF-E5EAA3DA15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554" y="1264158"/>
            <a:ext cx="276606" cy="276606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25AD91CA-62D7-4C3C-3623-3F25F7229168}"/>
              </a:ext>
            </a:extLst>
          </p:cNvPr>
          <p:cNvSpPr/>
          <p:nvPr/>
        </p:nvSpPr>
        <p:spPr>
          <a:xfrm>
            <a:off x="1417319" y="1170432"/>
            <a:ext cx="8832797" cy="4354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Optimalisasi</a:t>
            </a:r>
            <a:r>
              <a:rPr lang="en-US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Ulang</a:t>
            </a:r>
            <a:r>
              <a:rPr lang="en-US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Ruang </a:t>
            </a:r>
            <a:r>
              <a:rPr lang="en-US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Etalase</a:t>
            </a:r>
            <a:endParaRPr lang="en-US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8147F66-DF44-DD36-12A4-297D40D42696}"/>
              </a:ext>
            </a:extLst>
          </p:cNvPr>
          <p:cNvSpPr/>
          <p:nvPr/>
        </p:nvSpPr>
        <p:spPr>
          <a:xfrm>
            <a:off x="777240" y="1828800"/>
            <a:ext cx="101344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sv-SE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Segera evaluasi dan kurangi jatah rak premium untuk produk Breakfast. Visibilitas luas nyatanya tidak mengerek penjualan mereka. Ruang pajang berharga ini sebaiknya dilimpahkan ke kategori dengan perputaran stabil.</a:t>
            </a:r>
            <a:endParaRPr lang="en-US" sz="1400" dirty="0"/>
          </a:p>
        </p:txBody>
      </p:sp>
      <p:sp>
        <p:nvSpPr>
          <p:cNvPr id="22" name="Shape 17">
            <a:extLst>
              <a:ext uri="{FF2B5EF4-FFF2-40B4-BE49-F238E27FC236}">
                <a16:creationId xmlns:a16="http://schemas.microsoft.com/office/drawing/2014/main" id="{AAA40129-5471-0019-7312-449A7C3838BB}"/>
              </a:ext>
            </a:extLst>
          </p:cNvPr>
          <p:cNvSpPr/>
          <p:nvPr/>
        </p:nvSpPr>
        <p:spPr>
          <a:xfrm>
            <a:off x="777240" y="4983480"/>
            <a:ext cx="4983480" cy="640080"/>
          </a:xfrm>
          <a:prstGeom prst="roundRect">
            <a:avLst>
              <a:gd name="adj" fmla="val 8571"/>
            </a:avLst>
          </a:prstGeom>
          <a:solidFill>
            <a:srgbClr val="F5F7FC"/>
          </a:solidFill>
          <a:ln/>
        </p:spPr>
      </p:sp>
      <p:sp>
        <p:nvSpPr>
          <p:cNvPr id="32" name="Text 26">
            <a:extLst>
              <a:ext uri="{FF2B5EF4-FFF2-40B4-BE49-F238E27FC236}">
                <a16:creationId xmlns:a16="http://schemas.microsoft.com/office/drawing/2014/main" id="{92C42FE2-2EDD-58F4-5E6F-B770B6A2D4E6}"/>
              </a:ext>
            </a:extLst>
          </p:cNvPr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  <p:sp>
        <p:nvSpPr>
          <p:cNvPr id="25" name="Shape 1">
            <a:extLst>
              <a:ext uri="{FF2B5EF4-FFF2-40B4-BE49-F238E27FC236}">
                <a16:creationId xmlns:a16="http://schemas.microsoft.com/office/drawing/2014/main" id="{1BB11EE8-202A-0139-D8D6-8058A57A3969}"/>
              </a:ext>
            </a:extLst>
          </p:cNvPr>
          <p:cNvSpPr/>
          <p:nvPr/>
        </p:nvSpPr>
        <p:spPr>
          <a:xfrm>
            <a:off x="563880" y="2739636"/>
            <a:ext cx="11064240" cy="1540495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7" name="Shape 2">
            <a:extLst>
              <a:ext uri="{FF2B5EF4-FFF2-40B4-BE49-F238E27FC236}">
                <a16:creationId xmlns:a16="http://schemas.microsoft.com/office/drawing/2014/main" id="{976D72A2-6759-8CB6-AED2-3B0A4EFD9B1F}"/>
              </a:ext>
            </a:extLst>
          </p:cNvPr>
          <p:cNvSpPr/>
          <p:nvPr/>
        </p:nvSpPr>
        <p:spPr>
          <a:xfrm>
            <a:off x="890397" y="2903085"/>
            <a:ext cx="502920" cy="502920"/>
          </a:xfrm>
          <a:prstGeom prst="ellipse">
            <a:avLst/>
          </a:prstGeom>
          <a:solidFill>
            <a:srgbClr val="2E9E6D"/>
          </a:solidFill>
          <a:ln/>
        </p:spPr>
      </p:sp>
      <p:pic>
        <p:nvPicPr>
          <p:cNvPr id="30" name="Image 0" descr="icon_check.png">
            <a:extLst>
              <a:ext uri="{FF2B5EF4-FFF2-40B4-BE49-F238E27FC236}">
                <a16:creationId xmlns:a16="http://schemas.microsoft.com/office/drawing/2014/main" id="{F3ED04BB-8F33-DB8E-C2DB-F70C011CF6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554" y="3016242"/>
            <a:ext cx="276606" cy="276606"/>
          </a:xfrm>
          <a:prstGeom prst="rect">
            <a:avLst/>
          </a:prstGeom>
        </p:spPr>
      </p:pic>
      <p:sp>
        <p:nvSpPr>
          <p:cNvPr id="33" name="Text 3">
            <a:extLst>
              <a:ext uri="{FF2B5EF4-FFF2-40B4-BE49-F238E27FC236}">
                <a16:creationId xmlns:a16="http://schemas.microsoft.com/office/drawing/2014/main" id="{118332A6-8F75-1BF9-792E-677E58C3ED05}"/>
              </a:ext>
            </a:extLst>
          </p:cNvPr>
          <p:cNvSpPr/>
          <p:nvPr/>
        </p:nvSpPr>
        <p:spPr>
          <a:xfrm>
            <a:off x="1417319" y="2922516"/>
            <a:ext cx="8832797" cy="4354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 </a:t>
            </a:r>
            <a:r>
              <a:rPr lang="en-US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Promosi</a:t>
            </a:r>
            <a:r>
              <a:rPr lang="en-US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Kategori</a:t>
            </a:r>
            <a:r>
              <a:rPr lang="en-US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Unggulan</a:t>
            </a:r>
            <a:endParaRPr lang="en-US" dirty="0"/>
          </a:p>
        </p:txBody>
      </p:sp>
      <p:sp>
        <p:nvSpPr>
          <p:cNvPr id="35" name="Text 4">
            <a:extLst>
              <a:ext uri="{FF2B5EF4-FFF2-40B4-BE49-F238E27FC236}">
                <a16:creationId xmlns:a16="http://schemas.microsoft.com/office/drawing/2014/main" id="{3E7F7364-9362-DC6C-AA77-153081D49908}"/>
              </a:ext>
            </a:extLst>
          </p:cNvPr>
          <p:cNvSpPr/>
          <p:nvPr/>
        </p:nvSpPr>
        <p:spPr>
          <a:xfrm>
            <a:off x="777240" y="3580884"/>
            <a:ext cx="101344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sv-SE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 Starchy Foods dan Seafood terbukti ampuh menghasilkan margin rata-rata yang kuat. Terapkan strategi bundling produk dan tempatkan di etalase strategis guna memancing keranjang belanja konsumen yang lebih besar.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221160999"/>
      </p:ext>
    </p:extLst>
  </p:cSld>
  <p:clrMapOvr>
    <a:masterClrMapping/>
  </p:clrMapOvr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493</TotalTime>
  <Words>923</Words>
  <Application>Microsoft Office PowerPoint</Application>
  <PresentationFormat>Widescreen</PresentationFormat>
  <Paragraphs>110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Arial Nova Light</vt:lpstr>
      <vt:lpstr>Calibri</vt:lpstr>
      <vt:lpstr>Cambria</vt:lpstr>
      <vt:lpstr>Dark Gradient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15</cp:revision>
  <dcterms:created xsi:type="dcterms:W3CDTF">2026-08-17T04:02:49Z</dcterms:created>
  <dcterms:modified xsi:type="dcterms:W3CDTF">2026-09-07T00:02:12Z</dcterms:modified>
</cp:coreProperties>
</file>