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4" r:id="rId1"/>
  </p:sldMasterIdLst>
  <p:notesMasterIdLst>
    <p:notesMasterId r:id="rId39"/>
  </p:notesMasterIdLst>
  <p:sldIdLst>
    <p:sldId id="256" r:id="rId2"/>
    <p:sldId id="298" r:id="rId3"/>
    <p:sldId id="257" r:id="rId4"/>
    <p:sldId id="340" r:id="rId5"/>
    <p:sldId id="262" r:id="rId6"/>
    <p:sldId id="263" r:id="rId7"/>
    <p:sldId id="300" r:id="rId8"/>
    <p:sldId id="341" r:id="rId9"/>
    <p:sldId id="301" r:id="rId10"/>
    <p:sldId id="321" r:id="rId11"/>
    <p:sldId id="304" r:id="rId12"/>
    <p:sldId id="318" r:id="rId13"/>
    <p:sldId id="322" r:id="rId14"/>
    <p:sldId id="323" r:id="rId15"/>
    <p:sldId id="324" r:id="rId16"/>
    <p:sldId id="325" r:id="rId17"/>
    <p:sldId id="331" r:id="rId18"/>
    <p:sldId id="326" r:id="rId19"/>
    <p:sldId id="306" r:id="rId20"/>
    <p:sldId id="319" r:id="rId21"/>
    <p:sldId id="327" r:id="rId22"/>
    <p:sldId id="328" r:id="rId23"/>
    <p:sldId id="329" r:id="rId24"/>
    <p:sldId id="330" r:id="rId25"/>
    <p:sldId id="332" r:id="rId26"/>
    <p:sldId id="315" r:id="rId27"/>
    <p:sldId id="336" r:id="rId28"/>
    <p:sldId id="314" r:id="rId29"/>
    <p:sldId id="337" r:id="rId30"/>
    <p:sldId id="334" r:id="rId31"/>
    <p:sldId id="338" r:id="rId32"/>
    <p:sldId id="335" r:id="rId33"/>
    <p:sldId id="339" r:id="rId34"/>
    <p:sldId id="316" r:id="rId35"/>
    <p:sldId id="312" r:id="rId36"/>
    <p:sldId id="266" r:id="rId37"/>
    <p:sldId id="279" r:id="rId3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779" autoAdjust="0"/>
    <p:restoredTop sz="94610"/>
  </p:normalViewPr>
  <p:slideViewPr>
    <p:cSldViewPr snapToGrid="0" snapToObjects="1">
      <p:cViewPr>
        <p:scale>
          <a:sx n="66" d="100"/>
          <a:sy n="66" d="100"/>
        </p:scale>
        <p:origin x="42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78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B71B9-5AF5-4B39-DBCB-2E2E26128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F02E9-A245-BCA0-8667-D653B7C6FE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D9BC60-85D7-D451-2727-5E8702E3E5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4B2645-9DB9-D03A-FFC1-0A8E6DB2AF02}"/>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771666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656DC-4E5E-48BE-A6C2-4A9B0947F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049240-8980-D4E0-4AB8-9BA904C833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C7431C-1D8B-B734-824D-FE159A6EE8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72DF25-5D17-7C11-7114-20FDE39D88F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344351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BB04B-E82D-B2CF-F95A-59044014D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3F931-A6EB-EE13-F956-0C355679F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F2AE4-C4C2-6B21-41FC-C5A0E21C76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7E2EE0-9AE8-B379-633D-37B473733EE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022031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0A51D-DEB9-C44E-54C6-C44B7CB04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C79C52-ED22-F7C1-6F5F-7709441976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CC3236-327A-FD01-38D3-647B05D2D7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02270E-E348-DB66-A9CC-64A3ECC0038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594553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09006-E488-E8C3-4E15-C5B432C8F9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93855B-98EF-056A-C51C-A934287BE8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BC3C96-9F8C-377C-AE45-FF098D2CA3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66D1CB-CEC1-CADC-214B-58825E9EA2F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217383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10FCA-BEC7-C8DC-E670-CE0E055DB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B8C861-376D-A5A7-D71D-FAE580CF9A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D3EBD8-1E9E-F293-8DC6-C4215EA3C4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DE03C7-8C28-74C6-65B0-B297F267156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94274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C748D-1E46-0DFB-F255-DEA08E990F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FA6F7-51AE-9F73-03E5-64DA9B89E8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40D0DF-FD26-D98B-A3E1-47DE556048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303659-7B95-BE62-8249-8C9BDB6212B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447638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06B88-E4B3-6D4A-20D0-FE5A71218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77C7F-FE51-B5D3-0831-74275DB8A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39A117-4AE6-1043-781B-F1145F3CA0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E7EB98-E48D-CFA6-FBAF-D1A688AF7FA0}"/>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8139947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8E418-0F74-B2E1-98CD-B286D6EAC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893D7-2410-5901-E85F-95E0EA31F1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AE698-B4CA-FBD7-BA81-490749729A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71DDDF-BDED-3B83-4660-3C511130843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30896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B3EBD-32AD-4CA6-B27C-121DC6E31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D4CB3-3B32-363F-7137-EA6B719381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2DD70A-BAED-9015-0E49-FAA8CBFA02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72823D-3295-46DD-D1BA-B7FB1ACDEAF3}"/>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187692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A4210-BD95-C12B-3C7C-024FBE0FB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C61FB-F552-B609-DF58-DCF2AF5EB7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C9F345-A6BD-E900-EBA2-D801E17CB8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CE109D-C78B-F693-E4AF-0B557209BD5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83730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9FB88-D5F8-00D6-DAD8-0A5AF5E50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EB95F-D92E-BC5E-FE99-9AD72099DA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C67C4-A264-2436-A2A5-950C7C1111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061376-12B9-F02B-779F-DA6457976260}"/>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5774820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539FC-8C49-B775-AAFB-815521F149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5AAF6-CAEA-CAAA-DAEF-A5B90E1622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3E7335-BEC5-344C-36B4-03A001C434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C6B1BE-7599-D82A-E188-28559EC5E52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8443414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73254-F15A-65E2-6AD3-C39AE5799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290E0-86A3-BA95-D422-BF2CF64015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23D76-4899-6FB1-D5E1-3426411A7A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250075-9D06-9418-57A6-53F6C98FB433}"/>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8901475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EE69C-269C-9D27-E8E4-7E8D627F0F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8AB208-1384-2C6E-B302-7ACB0BA626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A6AADD-7622-78B5-DF87-45E9FEF4C2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7E173F-DA70-6425-6ED5-1EBF8D81ED21}"/>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33972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062F4-E976-0EFD-570F-192C4B4DE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48A0C9-0554-A533-55D4-CFAB55482A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AAE783-C22F-E3DF-AA9E-A161BB5818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63B4D5-C11A-37A2-5C8E-B80DF9BB8EC0}"/>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7377439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655F8-6593-BC13-D74A-E9EE219353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EAFCF-1BD7-7932-50B3-83DAB5689F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E30849-A226-32BD-9457-9EE767A0E9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459B11-2BB1-8145-FD85-F826B9C49786}"/>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7871486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192CC-F25E-0D2F-20FD-5776F474D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DE69D-EE72-4F4B-202E-1F8A593A1C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C6D63-B490-A458-AB0E-52F7F55513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2E567B-1D66-48AE-26EC-D33103CA999D}"/>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9808256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E0D33-3799-497F-4182-4862523FB4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B6DBD6-8CE0-A5C0-D304-200BC307D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A9ED9-18A8-CCEA-A82B-25A51BBBD3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98841F-A4D7-8191-6786-984D6C0D1EED}"/>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235151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A3D91-56FD-4DB3-9714-071567DBD1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43BBE-5C1A-1A9C-BA44-897EF6722E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64686C-52C2-CD60-82D6-1979B90EA4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6EA1D8-0DBF-36D9-DCAF-AC340ED41C7F}"/>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41161142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9B8A3-0E63-AD67-DC24-550C53150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DC27C-A05F-7A81-BAB3-611D44AF11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7D674D-FC7B-16D9-5F8E-F1092FF0E3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B020DF-1363-D26A-6E0D-F8AB6831564D}"/>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903720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6100F-E065-9124-A707-4A3974B60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DA0AB-F160-666A-B124-7D624FE399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DDAF67-8558-3297-00C7-5457FF50BD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0FDA0E-7F26-26A5-E1D7-A0F81BCE383B}"/>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635990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32F01-F996-1F30-065E-924B45C01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6E2AE-D6E9-11B0-F66C-6275114B0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276B3C-DC2E-E91E-2F1A-6BCC869D34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C41090-3135-DB7A-0389-EF2AEED4D706}"/>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5041074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85E83-4364-2A18-6D97-C89E02797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0C72F1-F015-BE3D-C55C-4B64654E84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E73554-0AF0-6247-0776-6331F188B7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B24EA8-A4C6-368E-71B5-37E221FC57EC}"/>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1422495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4CC29-FD95-4407-8C82-9823B5852D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78DBC-D043-AB1C-9BCD-0D6A11E1FD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5010B6-C17C-D66E-EF83-180AFD24B9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29DD1E-B2A4-DB24-CDE0-B76201A412F3}"/>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9330206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CAF29-F3E4-E9E5-156D-8BFE0987A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741E0-1964-F95C-7ECE-670B76FED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701F5-7747-1D51-04E8-50C4E77B8B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C2F786-4485-B119-3D56-C131B53603AE}"/>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41087031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33AD2-2310-5701-8343-3A025153D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CA872-44BE-08F5-7016-657BE718BD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303157-E500-B132-1E7D-5AE1C2AB53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EA08AD-D03C-7E8C-8C2D-8E3A123A348D}"/>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7854858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8A74-1469-9C36-A373-127C52EAE6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75200-9DAF-9D4B-7022-F85B81BA55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B41B66-FC69-3B79-C3B3-3BC8983FD2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22CBBF-5F69-625D-6AD2-CAD21CB5C266}"/>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4814115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5778B-5565-271D-CBA6-ABE0DF14B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C6D31-2628-661C-69D4-F23F520160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1D8C4C-FBA1-37DA-612E-762F72CF7B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4A572B-EA53-C9A7-B34E-1F428EC4C8C3}"/>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272576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92E5A-20DF-92A8-7A82-8B4BB912F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359A4-FECA-6FD7-DC60-CF3F25348D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5E8000-39AA-EE00-7A9B-AAEB560E87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583172-4732-8BE3-D96F-7021298A7573}"/>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669902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569D7-2312-CDDD-D94C-06DEDE407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B9789-D601-AA3E-7F4E-7BD124ED9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10761F-2B0D-EF71-1B43-45D4E9C656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B7B640-2554-AAAD-0316-982085180E4A}"/>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0967145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283AD-B85D-96BC-2E86-A32218BA5A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31C459-4025-8D9F-EFE7-268D1E654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21449-F458-E80E-A29D-C68816FA44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D4A50A-83C7-640A-BE1F-B4AE50EAA2E4}"/>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7371012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C764DE79-268F-4C1A-8933-263129D2AF90}" type="datetimeFigureOut">
              <a:rPr lang="en-US" smtClean="0"/>
              <a:t>10/25/2026</a:t>
            </a:fld>
            <a:endParaRPr lang="en-US" dirty="0"/>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dirty="0"/>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06794984"/>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C764DE79-268F-4C1A-8933-263129D2AF90}" type="datetimeFigureOut">
              <a:rPr lang="en-US" smtClean="0"/>
              <a:t>10/25/2026</a:t>
            </a:fld>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541611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C764DE79-268F-4C1A-8933-263129D2AF90}" type="datetimeFigureOut">
              <a:rPr lang="en-US" smtClean="0"/>
              <a:t>10/25/2026</a:t>
            </a:fld>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2694597"/>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C764DE79-268F-4C1A-8933-263129D2AF90}" type="datetimeFigureOut">
              <a:rPr lang="en-US" smtClean="0"/>
              <a:t>10/25/2026</a:t>
            </a:fld>
            <a:endParaRPr lang="en-US" dirty="0"/>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dirty="0"/>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48F63A3B-78C7-47BE-AE5E-E10140E04643}" type="slidenum">
              <a:rPr lang="en-US" smtClean="0"/>
              <a:t>‹#›</a:t>
            </a:fld>
            <a:endParaRPr lang="en-US" dirty="0"/>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852861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C764DE79-268F-4C1A-8933-263129D2AF90}" type="datetimeFigureOut">
              <a:rPr lang="en-US" smtClean="0"/>
              <a:t>10/25/2026</a:t>
            </a:fld>
            <a:endParaRPr lang="en-US" dirty="0"/>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8779515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C764DE79-268F-4C1A-8933-263129D2AF90}" type="datetimeFigureOut">
              <a:rPr lang="en-US" smtClean="0"/>
              <a:t>10/25/2026</a:t>
            </a:fld>
            <a:endParaRPr lang="en-US" dirty="0"/>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US" dirty="0"/>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35298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C764DE79-268F-4C1A-8933-263129D2AF90}" type="datetimeFigureOut">
              <a:rPr lang="en-US" smtClean="0"/>
              <a:t>10/25/2026</a:t>
            </a:fld>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dirty="0"/>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19796154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C764DE79-268F-4C1A-8933-263129D2AF90}" type="datetimeFigureOut">
              <a:rPr lang="en-US" smtClean="0"/>
              <a:t>10/25/2026</a:t>
            </a:fld>
            <a:endParaRPr lang="en-US" dirty="0"/>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38620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764DE79-268F-4C1A-8933-263129D2AF90}" type="datetimeFigureOut">
              <a:rPr lang="en-US" smtClean="0"/>
              <a:t>10/25/2026</a:t>
            </a:fld>
            <a:endParaRPr lang="en-US" dirty="0"/>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US" dirty="0"/>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21128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C764DE79-268F-4C1A-8933-263129D2AF90}" type="datetimeFigureOut">
              <a:rPr lang="en-US" smtClean="0"/>
              <a:t>10/25/2026</a:t>
            </a:fld>
            <a:endParaRPr lang="en-US" dirty="0"/>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US" dirty="0"/>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99726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C764DE79-268F-4C1A-8933-263129D2AF90}" type="datetimeFigureOut">
              <a:rPr lang="en-US" smtClean="0"/>
              <a:t>10/25/2026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48F63A3B-78C7-47BE-AE5E-E10140E04643}" type="slidenum">
              <a:rPr lang="en-US" smtClean="0"/>
              <a:t>‹#›</a:t>
            </a:fld>
            <a:endParaRPr lang="en-US" dirty="0"/>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182596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C764DE79-268F-4C1A-8933-263129D2AF90}" type="datetimeFigureOut">
              <a:rPr lang="en-US" smtClean="0"/>
              <a:t>10/25/2026</a:t>
            </a:fld>
            <a:endParaRPr lang="en-US" dirty="0"/>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US" dirty="0"/>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520143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764DE79-268F-4C1A-8933-263129D2AF90}" type="datetimeFigureOut">
              <a:rPr lang="en-US" smtClean="0"/>
              <a:t>10/25/2026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413840604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C764DE79-268F-4C1A-8933-263129D2AF90}" type="datetimeFigureOut">
              <a:rPr lang="en-US" smtClean="0"/>
              <a:t>10/25/2026</a:t>
            </a:fld>
            <a:endParaRPr lang="en-US" dirty="0"/>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US" dirty="0"/>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58119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C764DE79-268F-4C1A-8933-263129D2AF90}" type="datetimeFigureOut">
              <a:rPr lang="en-US" smtClean="0"/>
              <a:t>10/25/2026</a:t>
            </a:fld>
            <a:endParaRPr lang="en-US" dirty="0"/>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US" dirty="0"/>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183270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C764DE79-268F-4C1A-8933-263129D2AF90}" type="datetimeFigureOut">
              <a:rPr lang="en-US" smtClean="0"/>
              <a:t>10/25/2026</a:t>
            </a:fld>
            <a:endParaRPr lang="en-US" dirty="0"/>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US" dirty="0"/>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48F63A3B-78C7-47BE-AE5E-E10140E04643}" type="slidenum">
              <a:rPr lang="en-US" smtClean="0"/>
              <a:t>‹#›</a:t>
            </a:fld>
            <a:endParaRPr lang="en-US" dirty="0"/>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106067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C764DE79-268F-4C1A-8933-263129D2AF90}" type="datetimeFigureOut">
              <a:rPr lang="en-US" smtClean="0"/>
              <a:t>10/25/2026</a:t>
            </a:fld>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799634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C764DE79-268F-4C1A-8933-263129D2AF90}" type="datetimeFigureOut">
              <a:rPr lang="en-US" smtClean="0"/>
              <a:t>10/25/2026</a:t>
            </a:fld>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255942"/>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C764DE79-268F-4C1A-8933-263129D2AF90}" type="datetimeFigureOut">
              <a:rPr lang="en-US" smtClean="0"/>
              <a:t>10/25/2026</a:t>
            </a:fld>
            <a:endParaRPr lang="en-US" dirty="0"/>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1256910"/>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C764DE79-268F-4C1A-8933-263129D2AF90}" type="datetimeFigureOut">
              <a:rPr lang="en-US" smtClean="0"/>
              <a:t>10/25/2026</a:t>
            </a:fld>
            <a:endParaRPr lang="en-US" dirty="0"/>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8606935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C764DE79-268F-4C1A-8933-263129D2AF90}" type="datetimeFigureOut">
              <a:rPr lang="en-US" smtClean="0"/>
              <a:t>10/25/2026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5623366"/>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C764DE79-268F-4C1A-8933-263129D2AF90}" type="datetimeFigureOut">
              <a:rPr lang="en-US" smtClean="0"/>
              <a:t>10/25/2026</a:t>
            </a:fld>
            <a:endParaRPr lang="en-US" dirty="0"/>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48F63A3B-78C7-47BE-AE5E-E10140E04643}" type="slidenum">
              <a:rPr lang="en-US" smtClean="0"/>
              <a:t>‹#›</a:t>
            </a:fld>
            <a:endParaRPr lang="en-US" dirty="0"/>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1038347"/>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C764DE79-268F-4C1A-8933-263129D2AF90}" type="datetimeFigureOut">
              <a:rPr lang="en-US" smtClean="0"/>
              <a:t>10/25/2026</a:t>
            </a:fld>
            <a:endParaRPr lang="en-US" dirty="0"/>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dirty="0"/>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3765298"/>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C764DE79-268F-4C1A-8933-263129D2AF90}" type="datetimeFigureOut">
              <a:rPr lang="en-US" smtClean="0"/>
              <a:t>10/25/2026</a:t>
            </a:fld>
            <a:endParaRPr lang="en-US" dirty="0"/>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dirty="0"/>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0883922"/>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C764DE79-268F-4C1A-8933-263129D2AF90}" type="datetimeFigureOut">
              <a:rPr lang="en-US" smtClean="0"/>
              <a:t>10/25/2026</a:t>
            </a:fld>
            <a:endParaRPr lang="en-US" dirty="0"/>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dirty="0"/>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48F63A3B-78C7-47BE-AE5E-E10140E04643}" type="slidenum">
              <a:rPr lang="en-US" smtClean="0"/>
              <a:t>‹#›</a:t>
            </a:fld>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2908327"/>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764DE79-268F-4C1A-8933-263129D2AF90}" type="datetimeFigureOut">
              <a:rPr lang="en-US" smtClean="0"/>
              <a:t>10/25/2026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49264331"/>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C764DE79-268F-4C1A-8933-263129D2AF90}" type="datetimeFigureOut">
              <a:rPr lang="en-US" smtClean="0"/>
              <a:t>10/25/2026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65871354"/>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7296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C764DE79-268F-4C1A-8933-263129D2AF90}" type="datetimeFigureOut">
              <a:rPr lang="en-US" smtClean="0"/>
              <a:t>10/25/2026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48F63A3B-78C7-47BE-AE5E-E10140E04643}" type="slidenum">
              <a:rPr lang="en-US" smtClean="0"/>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164215"/>
      </p:ext>
    </p:extLst>
  </p:cSld>
  <p:clrMap bg1="dk1" tx1="lt1" bg2="dk2"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 id="2147483760" r:id="rId26"/>
    <p:sldLayoutId id="2147483761" r:id="rId27"/>
    <p:sldLayoutId id="2147483762" r:id="rId28"/>
  </p:sldLayoutIdLst>
  <p:hf sldNum="0" hdr="0" ftr="0" dt="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hyperlink" Target="https://github.com/Maulana-Akbar/data-analyst-portfolio/tree/3fb6f684a6502dd049d9966d20f78a9753a67482/Project-Data-Preprocessing" TargetMode="External"/><Relationship Id="rId2" Type="http://schemas.openxmlformats.org/officeDocument/2006/relationships/notesSlide" Target="../notesSlides/notesSlide3.xml"/><Relationship Id="rId1" Type="http://schemas.openxmlformats.org/officeDocument/2006/relationships/slideLayout" Target="../slideLayouts/slideLayout28.xml"/><Relationship Id="rId6" Type="http://schemas.openxmlformats.org/officeDocument/2006/relationships/image" Target="../media/image7.png"/><Relationship Id="rId5" Type="http://schemas.openxmlformats.org/officeDocument/2006/relationships/hyperlink" Target="http://www.linkedin.com/in/radenmaulanaakbar" TargetMode="Externa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8.xml"/><Relationship Id="rId5" Type="http://schemas.openxmlformats.org/officeDocument/2006/relationships/image" Target="../media/image10.png"/><Relationship Id="rId4" Type="http://schemas.openxmlformats.org/officeDocument/2006/relationships/hyperlink" Target="https://www.inc.com/elie-katz/small-store-big-sales-how-to-maximize-impulse-purchases/91171870"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8.xml"/><Relationship Id="rId5" Type="http://schemas.openxmlformats.org/officeDocument/2006/relationships/image" Target="../media/image12.png"/><Relationship Id="rId4" Type="http://schemas.openxmlformats.org/officeDocument/2006/relationships/hyperlink" Target="https://www.kaggle.com/datasets/heeraldedhia/groceries-dataset"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8.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8.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8.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8.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8.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8.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28.xml"/><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33.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5.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6" name="Text 3"/>
          <p:cNvSpPr/>
          <p:nvPr/>
        </p:nvSpPr>
        <p:spPr>
          <a:xfrm>
            <a:off x="706845" y="2256417"/>
            <a:ext cx="11078755" cy="1920240"/>
          </a:xfrm>
          <a:prstGeom prst="rect">
            <a:avLst/>
          </a:prstGeom>
          <a:noFill/>
          <a:ln/>
        </p:spPr>
        <p:txBody>
          <a:bodyPr wrap="square" rtlCol="0" anchor="ctr"/>
          <a:lstStyle/>
          <a:p>
            <a:pPr>
              <a:lnSpc>
                <a:spcPts val="5000"/>
              </a:lnSpc>
            </a:pPr>
            <a:r>
              <a:rPr lang="sv-SE" sz="4600" b="1" dirty="0">
                <a:solidFill>
                  <a:srgbClr val="FFFFFF"/>
                </a:solidFill>
                <a:latin typeface="Cambria" pitchFamily="34" charset="0"/>
                <a:ea typeface="Cambria" pitchFamily="34" charset="-122"/>
                <a:cs typeface="Cambria" pitchFamily="34" charset="-120"/>
              </a:rPr>
              <a:t>Market Basket Analysis: Menggali Pola Pembelian Konsumen untuk Meningkatkan Penjualan Ritel</a:t>
            </a:r>
            <a:endParaRPr lang="en-US" sz="4600" b="1" dirty="0">
              <a:solidFill>
                <a:srgbClr val="FFFFFF"/>
              </a:solidFill>
              <a:latin typeface="Cambria" pitchFamily="34" charset="0"/>
              <a:ea typeface="Cambria" pitchFamily="34" charset="-122"/>
              <a:cs typeface="Cambria" pitchFamily="34" charset="-120"/>
            </a:endParaRPr>
          </a:p>
        </p:txBody>
      </p:sp>
      <p:sp>
        <p:nvSpPr>
          <p:cNvPr id="8" name="Text 5"/>
          <p:cNvSpPr/>
          <p:nvPr/>
        </p:nvSpPr>
        <p:spPr>
          <a:xfrm>
            <a:off x="822960" y="6035040"/>
            <a:ext cx="7315200" cy="365760"/>
          </a:xfrm>
          <a:prstGeom prst="rect">
            <a:avLst/>
          </a:prstGeom>
          <a:noFill/>
          <a:ln/>
        </p:spPr>
        <p:txBody>
          <a:bodyPr wrap="square" rtlCol="0" anchor="ctr"/>
          <a:lstStyle/>
          <a:p>
            <a:r>
              <a:rPr lang="en-US" sz="1200" i="1" dirty="0">
                <a:solidFill>
                  <a:srgbClr val="8E9BD1"/>
                </a:solidFill>
                <a:latin typeface="Calibri" pitchFamily="34" charset="0"/>
                <a:ea typeface="Calibri" pitchFamily="34" charset="-122"/>
                <a:cs typeface="Calibri" pitchFamily="34" charset="-120"/>
              </a:rPr>
              <a:t>Bootcamp Mini Project  •  Power BI • PostgreSQL • Raden Maulana Akbar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F4501-2369-A1BF-0380-C88F82A08427}"/>
            </a:ext>
          </a:extLst>
        </p:cNvPr>
        <p:cNvGrpSpPr/>
        <p:nvPr/>
      </p:nvGrpSpPr>
      <p:grpSpPr>
        <a:xfrm>
          <a:off x="0" y="0"/>
          <a:ext cx="0" cy="0"/>
          <a:chOff x="0" y="0"/>
          <a:chExt cx="0" cy="0"/>
        </a:xfrm>
      </p:grpSpPr>
      <p:sp>
        <p:nvSpPr>
          <p:cNvPr id="4" name="Shape 3">
            <a:extLst>
              <a:ext uri="{FF2B5EF4-FFF2-40B4-BE49-F238E27FC236}">
                <a16:creationId xmlns:a16="http://schemas.microsoft.com/office/drawing/2014/main" id="{98C05313-81C4-BBE5-0AF3-FB5387640FD6}"/>
              </a:ext>
            </a:extLst>
          </p:cNvPr>
          <p:cNvSpPr/>
          <p:nvPr/>
        </p:nvSpPr>
        <p:spPr>
          <a:xfrm>
            <a:off x="-239486" y="-312057"/>
            <a:ext cx="12670971" cy="7453086"/>
          </a:xfrm>
          <a:prstGeom prst="roundRect">
            <a:avLst>
              <a:gd name="adj" fmla="val 6250"/>
            </a:avLst>
          </a:prstGeom>
          <a:solidFill>
            <a:srgbClr val="1E2761"/>
          </a:solidFill>
          <a:ln/>
        </p:spPr>
      </p:sp>
      <p:sp>
        <p:nvSpPr>
          <p:cNvPr id="2" name="Text 0">
            <a:extLst>
              <a:ext uri="{FF2B5EF4-FFF2-40B4-BE49-F238E27FC236}">
                <a16:creationId xmlns:a16="http://schemas.microsoft.com/office/drawing/2014/main" id="{34E7B578-C5D0-14CB-424B-8F0F48A4513B}"/>
              </a:ext>
            </a:extLst>
          </p:cNvPr>
          <p:cNvSpPr/>
          <p:nvPr/>
        </p:nvSpPr>
        <p:spPr>
          <a:xfrm>
            <a:off x="548640" y="411480"/>
            <a:ext cx="9144000" cy="548640"/>
          </a:xfrm>
          <a:prstGeom prst="rect">
            <a:avLst/>
          </a:prstGeom>
          <a:noFill/>
          <a:ln/>
        </p:spPr>
        <p:txBody>
          <a:bodyPr wrap="square" rtlCol="0" anchor="ctr"/>
          <a:lstStyle/>
          <a:p>
            <a:pPr marL="0" indent="0">
              <a:buNone/>
            </a:pPr>
            <a:r>
              <a:rPr lang="en-US" sz="3600" b="1" dirty="0">
                <a:latin typeface="Cambria" pitchFamily="34" charset="0"/>
                <a:ea typeface="Cambria" pitchFamily="34" charset="-122"/>
                <a:cs typeface="Cambria" pitchFamily="34" charset="-120"/>
              </a:rPr>
              <a:t>Table of Content</a:t>
            </a:r>
            <a:endParaRPr lang="en-US" sz="3600" dirty="0"/>
          </a:p>
        </p:txBody>
      </p:sp>
      <p:sp>
        <p:nvSpPr>
          <p:cNvPr id="21" name="Text 18">
            <a:extLst>
              <a:ext uri="{FF2B5EF4-FFF2-40B4-BE49-F238E27FC236}">
                <a16:creationId xmlns:a16="http://schemas.microsoft.com/office/drawing/2014/main" id="{FC7CA5C6-F462-8852-1803-7844510400AF}"/>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7</a:t>
            </a:r>
            <a:endParaRPr lang="en-US" sz="850" dirty="0"/>
          </a:p>
        </p:txBody>
      </p:sp>
      <p:sp>
        <p:nvSpPr>
          <p:cNvPr id="12" name="Text 0">
            <a:extLst>
              <a:ext uri="{FF2B5EF4-FFF2-40B4-BE49-F238E27FC236}">
                <a16:creationId xmlns:a16="http://schemas.microsoft.com/office/drawing/2014/main" id="{7458EB56-018A-813B-0FFE-5AA5789A6B8E}"/>
              </a:ext>
            </a:extLst>
          </p:cNvPr>
          <p:cNvSpPr/>
          <p:nvPr/>
        </p:nvSpPr>
        <p:spPr>
          <a:xfrm>
            <a:off x="2133295" y="1790320"/>
            <a:ext cx="9144000" cy="4976240"/>
          </a:xfrm>
          <a:prstGeom prst="rect">
            <a:avLst/>
          </a:prstGeom>
          <a:noFill/>
          <a:ln/>
        </p:spPr>
        <p:txBody>
          <a:bodyPr wrap="square" rtlCol="0" anchor="ctr"/>
          <a:lstStyle/>
          <a:p>
            <a:pPr marL="457200" indent="-457200">
              <a:lnSpc>
                <a:spcPct val="150000"/>
              </a:lnSpc>
              <a:buFont typeface="Arial" panose="020B0604020202020204" pitchFamily="34" charset="0"/>
              <a:buChar char="•"/>
            </a:pPr>
            <a:r>
              <a:rPr lang="en-US" sz="2800" b="1" dirty="0">
                <a:latin typeface="Cambria" pitchFamily="34" charset="0"/>
                <a:ea typeface="Cambria" pitchFamily="34" charset="-122"/>
              </a:rPr>
              <a:t>INTRODUCTION</a:t>
            </a:r>
          </a:p>
          <a:p>
            <a:pPr marL="914400" lvl="1" indent="-457200">
              <a:lnSpc>
                <a:spcPct val="150000"/>
              </a:lnSpc>
              <a:buFont typeface="Arial" panose="020B0604020202020204" pitchFamily="34" charset="0"/>
              <a:buChar char="•"/>
            </a:pPr>
            <a:r>
              <a:rPr lang="en-US" sz="2800" b="1" dirty="0">
                <a:latin typeface="Cambria" pitchFamily="34" charset="0"/>
                <a:ea typeface="Cambria" pitchFamily="34" charset="-122"/>
              </a:rPr>
              <a:t>PROBLEM STATEMENT</a:t>
            </a:r>
          </a:p>
          <a:p>
            <a:pPr marL="1371600" lvl="2" indent="-457200">
              <a:lnSpc>
                <a:spcPct val="150000"/>
              </a:lnSpc>
              <a:buFont typeface="Arial" panose="020B0604020202020204" pitchFamily="34" charset="0"/>
              <a:buChar char="•"/>
            </a:pPr>
            <a:r>
              <a:rPr lang="en-US" sz="2800" b="1" dirty="0">
                <a:latin typeface="Cambria" pitchFamily="34" charset="0"/>
                <a:ea typeface="Cambria" pitchFamily="34" charset="-122"/>
              </a:rPr>
              <a:t>DATA UNDERSTANDING</a:t>
            </a:r>
          </a:p>
          <a:p>
            <a:pPr marL="1828800" lvl="3" indent="-457200">
              <a:lnSpc>
                <a:spcPct val="150000"/>
              </a:lnSpc>
              <a:buFont typeface="Arial" panose="020B0604020202020204" pitchFamily="34" charset="0"/>
              <a:buChar char="•"/>
            </a:pPr>
            <a:r>
              <a:rPr lang="en-US" sz="2800" b="1" dirty="0">
                <a:latin typeface="Cambria" pitchFamily="34" charset="0"/>
                <a:ea typeface="Cambria" pitchFamily="34" charset="-122"/>
              </a:rPr>
              <a:t>DATA EXPLORATION</a:t>
            </a:r>
          </a:p>
          <a:p>
            <a:pPr marL="2286000" lvl="4" indent="-457200">
              <a:lnSpc>
                <a:spcPct val="150000"/>
              </a:lnSpc>
              <a:buFont typeface="Arial" panose="020B0604020202020204" pitchFamily="34" charset="0"/>
              <a:buChar char="•"/>
            </a:pPr>
            <a:r>
              <a:rPr lang="en-US" sz="2800" b="1" dirty="0">
                <a:latin typeface="Cambria" pitchFamily="34" charset="0"/>
                <a:ea typeface="Cambria" pitchFamily="34" charset="-122"/>
              </a:rPr>
              <a:t>DATA CLEANING</a:t>
            </a:r>
          </a:p>
          <a:p>
            <a:pPr marL="2743200" lvl="5" indent="-457200">
              <a:lnSpc>
                <a:spcPct val="150000"/>
              </a:lnSpc>
              <a:buFont typeface="Arial" panose="020B0604020202020204" pitchFamily="34" charset="0"/>
              <a:buChar char="•"/>
            </a:pPr>
            <a:r>
              <a:rPr lang="en-US" sz="2800" b="1" dirty="0">
                <a:latin typeface="Cambria" pitchFamily="34" charset="0"/>
                <a:ea typeface="Cambria" pitchFamily="34" charset="-122"/>
              </a:rPr>
              <a:t>DATA ANALYSIS</a:t>
            </a:r>
          </a:p>
          <a:p>
            <a:pPr marL="3200400" lvl="6" indent="-457200">
              <a:lnSpc>
                <a:spcPct val="150000"/>
              </a:lnSpc>
              <a:buFont typeface="Arial" panose="020B0604020202020204" pitchFamily="34" charset="0"/>
              <a:buChar char="•"/>
            </a:pPr>
            <a:r>
              <a:rPr lang="en-US" sz="2800" b="1" dirty="0">
                <a:latin typeface="Cambria" pitchFamily="34" charset="0"/>
                <a:ea typeface="Cambria" pitchFamily="34" charset="-122"/>
              </a:rPr>
              <a:t>DASHBOARD</a:t>
            </a:r>
          </a:p>
          <a:p>
            <a:pPr marL="3657600" lvl="7" indent="-457200">
              <a:lnSpc>
                <a:spcPct val="150000"/>
              </a:lnSpc>
              <a:buFont typeface="Arial" panose="020B0604020202020204" pitchFamily="34" charset="0"/>
              <a:buChar char="•"/>
            </a:pPr>
            <a:r>
              <a:rPr lang="en-US" sz="2800" b="1" dirty="0">
                <a:latin typeface="Cambria" pitchFamily="34" charset="0"/>
                <a:ea typeface="Cambria" pitchFamily="34" charset="-122"/>
              </a:rPr>
              <a:t>HASIL ANALISA</a:t>
            </a:r>
          </a:p>
          <a:p>
            <a:pPr marL="4114800" lvl="8" indent="-457200">
              <a:lnSpc>
                <a:spcPct val="150000"/>
              </a:lnSpc>
              <a:buFont typeface="Arial" panose="020B0604020202020204" pitchFamily="34" charset="0"/>
              <a:buChar char="•"/>
            </a:pPr>
            <a:r>
              <a:rPr lang="en-US" sz="2800" b="1" dirty="0">
                <a:latin typeface="Cambria" pitchFamily="34" charset="0"/>
                <a:ea typeface="Cambria" pitchFamily="34" charset="-122"/>
              </a:rPr>
              <a:t>REKOMENDASI BISNIS</a:t>
            </a:r>
          </a:p>
          <a:p>
            <a:pPr marL="457200" indent="-457200">
              <a:buFont typeface="Arial" panose="020B0604020202020204" pitchFamily="34" charset="0"/>
              <a:buChar char="•"/>
            </a:pPr>
            <a:endParaRPr lang="en-US" sz="2800" b="1" dirty="0">
              <a:solidFill>
                <a:srgbClr val="1E2761"/>
              </a:solidFill>
              <a:latin typeface="Cambria" pitchFamily="34" charset="0"/>
              <a:ea typeface="Cambria" pitchFamily="34" charset="-122"/>
            </a:endParaRPr>
          </a:p>
          <a:p>
            <a:pPr marL="457200" indent="-457200">
              <a:buFont typeface="Arial" panose="020B0604020202020204" pitchFamily="34" charset="0"/>
              <a:buChar char="•"/>
            </a:pPr>
            <a:endParaRPr lang="en-US" sz="2800" b="1" dirty="0">
              <a:solidFill>
                <a:srgbClr val="1E2761"/>
              </a:solidFill>
              <a:latin typeface="Cambria" pitchFamily="34" charset="0"/>
              <a:ea typeface="Cambria" pitchFamily="34" charset="-122"/>
            </a:endParaRPr>
          </a:p>
          <a:p>
            <a:pPr marL="457200" indent="-457200">
              <a:buFont typeface="Arial" panose="020B0604020202020204" pitchFamily="34" charset="0"/>
              <a:buChar char="•"/>
            </a:pPr>
            <a:endParaRPr lang="en-US" sz="2800" dirty="0">
              <a:solidFill>
                <a:schemeClr val="tx2">
                  <a:lumMod val="50000"/>
                </a:schemeClr>
              </a:solidFill>
            </a:endParaRPr>
          </a:p>
        </p:txBody>
      </p:sp>
    </p:spTree>
    <p:extLst>
      <p:ext uri="{BB962C8B-B14F-4D97-AF65-F5344CB8AC3E}">
        <p14:creationId xmlns:p14="http://schemas.microsoft.com/office/powerpoint/2010/main" val="2742922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3" name="Shape 1"/>
          <p:cNvSpPr/>
          <p:nvPr/>
        </p:nvSpPr>
        <p:spPr>
          <a:xfrm>
            <a:off x="822960" y="233979"/>
            <a:ext cx="822960" cy="822960"/>
          </a:xfrm>
          <a:prstGeom prst="ellipse">
            <a:avLst/>
          </a:prstGeom>
          <a:solidFill>
            <a:srgbClr val="F2545B"/>
          </a:solidFill>
          <a:ln/>
        </p:spPr>
      </p:sp>
      <p:pic>
        <p:nvPicPr>
          <p:cNvPr id="4" name="Image 0" descr="icon_user.png"/>
          <p:cNvPicPr>
            <a:picLocks noChangeAspect="1"/>
          </p:cNvPicPr>
          <p:nvPr/>
        </p:nvPicPr>
        <p:blipFill>
          <a:blip r:embed="rId3"/>
          <a:stretch>
            <a:fillRect/>
          </a:stretch>
        </p:blipFill>
        <p:spPr>
          <a:xfrm>
            <a:off x="1008126" y="419145"/>
            <a:ext cx="452628" cy="452628"/>
          </a:xfrm>
          <a:prstGeom prst="rect">
            <a:avLst/>
          </a:prstGeom>
        </p:spPr>
      </p:pic>
      <p:sp>
        <p:nvSpPr>
          <p:cNvPr id="5" name="Text 2"/>
          <p:cNvSpPr/>
          <p:nvPr/>
        </p:nvSpPr>
        <p:spPr>
          <a:xfrm>
            <a:off x="1645920" y="53788"/>
            <a:ext cx="9144000" cy="100584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INTRODUCTION</a:t>
            </a:r>
            <a:endParaRPr lang="en-US" sz="3800" dirty="0"/>
          </a:p>
        </p:txBody>
      </p:sp>
      <p:pic>
        <p:nvPicPr>
          <p:cNvPr id="8" name="Picture 7">
            <a:extLst>
              <a:ext uri="{FF2B5EF4-FFF2-40B4-BE49-F238E27FC236}">
                <a16:creationId xmlns:a16="http://schemas.microsoft.com/office/drawing/2014/main" id="{EEA88E6F-CD97-A232-087B-297FE918B315}"/>
              </a:ext>
            </a:extLst>
          </p:cNvPr>
          <p:cNvPicPr>
            <a:picLocks noChangeAspect="1"/>
          </p:cNvPicPr>
          <p:nvPr/>
        </p:nvPicPr>
        <p:blipFill>
          <a:blip r:embed="rId4"/>
          <a:stretch>
            <a:fillRect/>
          </a:stretch>
        </p:blipFill>
        <p:spPr>
          <a:xfrm>
            <a:off x="-1234440" y="1600200"/>
            <a:ext cx="4114800" cy="5505450"/>
          </a:xfrm>
          <a:prstGeom prst="rect">
            <a:avLst/>
          </a:prstGeom>
        </p:spPr>
      </p:pic>
      <p:sp>
        <p:nvSpPr>
          <p:cNvPr id="10" name="Text 2">
            <a:extLst>
              <a:ext uri="{FF2B5EF4-FFF2-40B4-BE49-F238E27FC236}">
                <a16:creationId xmlns:a16="http://schemas.microsoft.com/office/drawing/2014/main" id="{295511A5-53DA-ABD0-1DAF-02C84F522FFD}"/>
              </a:ext>
            </a:extLst>
          </p:cNvPr>
          <p:cNvSpPr/>
          <p:nvPr/>
        </p:nvSpPr>
        <p:spPr>
          <a:xfrm>
            <a:off x="2589903" y="2312893"/>
            <a:ext cx="6997849" cy="3926541"/>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Self-Overview</a:t>
            </a:r>
            <a:endParaRPr lang="en-US" sz="1800" dirty="0"/>
          </a:p>
        </p:txBody>
      </p:sp>
      <p:sp>
        <p:nvSpPr>
          <p:cNvPr id="13" name="Text 2">
            <a:extLst>
              <a:ext uri="{FF2B5EF4-FFF2-40B4-BE49-F238E27FC236}">
                <a16:creationId xmlns:a16="http://schemas.microsoft.com/office/drawing/2014/main" id="{2501468D-4DD5-7C01-FBC1-4AFCABFC9C16}"/>
              </a:ext>
            </a:extLst>
          </p:cNvPr>
          <p:cNvSpPr/>
          <p:nvPr/>
        </p:nvSpPr>
        <p:spPr>
          <a:xfrm>
            <a:off x="1645920" y="1469432"/>
            <a:ext cx="3174637" cy="640080"/>
          </a:xfrm>
          <a:prstGeom prst="rect">
            <a:avLst/>
          </a:prstGeom>
          <a:noFill/>
          <a:ln/>
        </p:spPr>
        <p:txBody>
          <a:bodyPr wrap="square" rtlCol="0" anchor="ctr"/>
          <a:lstStyle/>
          <a:p>
            <a:pPr marL="0" indent="0">
              <a:buNone/>
            </a:pPr>
            <a:r>
              <a:rPr lang="en-US" sz="2800" b="1" dirty="0">
                <a:latin typeface="Cambria" pitchFamily="34" charset="0"/>
                <a:ea typeface="Cambria" pitchFamily="34" charset="-122"/>
                <a:cs typeface="Cambria" pitchFamily="34" charset="-120"/>
              </a:rPr>
              <a:t>Self-Overview</a:t>
            </a:r>
          </a:p>
          <a:p>
            <a:pPr marL="0" indent="0">
              <a:buNone/>
            </a:pPr>
            <a:endParaRPr lang="en-US" sz="2800" b="1" dirty="0">
              <a:latin typeface="Cambria" pitchFamily="34" charset="0"/>
              <a:ea typeface="Cambria" pitchFamily="34" charset="-122"/>
              <a:cs typeface="Cambria" pitchFamily="34" charset="-120"/>
            </a:endParaRPr>
          </a:p>
          <a:p>
            <a:pPr marL="0" indent="0">
              <a:buNone/>
            </a:pPr>
            <a:r>
              <a:rPr lang="en-US" sz="3200" b="1" dirty="0">
                <a:latin typeface="Cambria" pitchFamily="34" charset="0"/>
                <a:ea typeface="Cambria" pitchFamily="34" charset="-122"/>
                <a:cs typeface="Cambria" pitchFamily="34" charset="-120"/>
              </a:rPr>
              <a:t>Raden Maulana Akbar</a:t>
            </a:r>
            <a:r>
              <a:rPr lang="en-US" sz="2000" b="1" dirty="0">
                <a:latin typeface="Cambria" pitchFamily="34" charset="0"/>
                <a:ea typeface="Cambria" pitchFamily="34" charset="-122"/>
                <a:cs typeface="Cambria" pitchFamily="34" charset="-120"/>
              </a:rPr>
              <a:t> </a:t>
            </a:r>
            <a:endParaRPr lang="en-US" sz="2000" dirty="0"/>
          </a:p>
        </p:txBody>
      </p:sp>
      <p:sp>
        <p:nvSpPr>
          <p:cNvPr id="14" name="TextBox 13">
            <a:extLst>
              <a:ext uri="{FF2B5EF4-FFF2-40B4-BE49-F238E27FC236}">
                <a16:creationId xmlns:a16="http://schemas.microsoft.com/office/drawing/2014/main" id="{C0D7EFE0-12AC-7C8A-8C3A-339872B3DD74}"/>
              </a:ext>
            </a:extLst>
          </p:cNvPr>
          <p:cNvSpPr txBox="1"/>
          <p:nvPr/>
        </p:nvSpPr>
        <p:spPr>
          <a:xfrm>
            <a:off x="6012905" y="3828055"/>
            <a:ext cx="5959736" cy="1323439"/>
          </a:xfrm>
          <a:prstGeom prst="rect">
            <a:avLst/>
          </a:prstGeom>
          <a:noFill/>
        </p:spPr>
        <p:txBody>
          <a:bodyPr wrap="square" rtlCol="0">
            <a:spAutoFit/>
          </a:bodyPr>
          <a:lstStyle/>
          <a:p>
            <a:r>
              <a:rPr lang="en-US" sz="4000" dirty="0"/>
              <a:t>Education</a:t>
            </a:r>
          </a:p>
          <a:p>
            <a:pPr marL="742950" lvl="1" indent="-285750">
              <a:buFont typeface="Arial" panose="020B0604020202020204" pitchFamily="34" charset="0"/>
              <a:buChar char="•"/>
            </a:pPr>
            <a:r>
              <a:rPr lang="en-US" sz="4000" dirty="0"/>
              <a:t>SMAN 7 Bekasi</a:t>
            </a:r>
            <a:endParaRPr lang="en-ID" sz="4000" dirty="0"/>
          </a:p>
        </p:txBody>
      </p:sp>
      <p:sp>
        <p:nvSpPr>
          <p:cNvPr id="7" name="TextBox 6">
            <a:extLst>
              <a:ext uri="{FF2B5EF4-FFF2-40B4-BE49-F238E27FC236}">
                <a16:creationId xmlns:a16="http://schemas.microsoft.com/office/drawing/2014/main" id="{EB5A3ECC-755A-4627-CFDA-EAAFE5B02809}"/>
              </a:ext>
            </a:extLst>
          </p:cNvPr>
          <p:cNvSpPr txBox="1"/>
          <p:nvPr/>
        </p:nvSpPr>
        <p:spPr>
          <a:xfrm>
            <a:off x="4778465" y="893456"/>
            <a:ext cx="7413535" cy="3170099"/>
          </a:xfrm>
          <a:prstGeom prst="rect">
            <a:avLst/>
          </a:prstGeom>
          <a:noFill/>
        </p:spPr>
        <p:txBody>
          <a:bodyPr wrap="square" rtlCol="0">
            <a:spAutoFit/>
          </a:bodyPr>
          <a:lstStyle/>
          <a:p>
            <a:r>
              <a:rPr lang="en-ID" sz="2000" dirty="0" err="1"/>
              <a:t>Seorang</a:t>
            </a:r>
            <a:r>
              <a:rPr lang="en-ID" sz="2000" dirty="0"/>
              <a:t> </a:t>
            </a:r>
            <a:r>
              <a:rPr lang="en-ID" sz="2000" i="1" dirty="0"/>
              <a:t>Data Analyst</a:t>
            </a:r>
            <a:r>
              <a:rPr lang="en-ID" sz="2000" dirty="0"/>
              <a:t> student </a:t>
            </a:r>
            <a:r>
              <a:rPr lang="en-ID" sz="2000" i="1" dirty="0"/>
              <a:t>intensive bootcamp</a:t>
            </a:r>
            <a:r>
              <a:rPr lang="en-ID" sz="2000" dirty="0"/>
              <a:t> di </a:t>
            </a:r>
            <a:r>
              <a:rPr lang="en-ID" sz="2000" b="1" dirty="0"/>
              <a:t>dibimbing.id</a:t>
            </a:r>
            <a:r>
              <a:rPr lang="en-ID" sz="2000" dirty="0"/>
              <a:t> yang </a:t>
            </a:r>
            <a:r>
              <a:rPr lang="en-ID" sz="2000" dirty="0" err="1"/>
              <a:t>memiliki</a:t>
            </a:r>
            <a:r>
              <a:rPr lang="en-ID" sz="2000" dirty="0"/>
              <a:t> </a:t>
            </a:r>
            <a:r>
              <a:rPr lang="en-ID" sz="2000" dirty="0" err="1"/>
              <a:t>motivasi</a:t>
            </a:r>
            <a:r>
              <a:rPr lang="en-ID" sz="2000" dirty="0"/>
              <a:t> </a:t>
            </a:r>
            <a:r>
              <a:rPr lang="en-ID" sz="2000" dirty="0" err="1"/>
              <a:t>tinggi</a:t>
            </a:r>
            <a:r>
              <a:rPr lang="en-ID" sz="2000" dirty="0"/>
              <a:t> </a:t>
            </a:r>
            <a:r>
              <a:rPr lang="en-ID" sz="2000" dirty="0" err="1"/>
              <a:t>dalam</a:t>
            </a:r>
            <a:r>
              <a:rPr lang="en-ID" sz="2000" dirty="0"/>
              <a:t> </a:t>
            </a:r>
            <a:r>
              <a:rPr lang="en-ID" sz="2000" dirty="0" err="1"/>
              <a:t>memecahkan</a:t>
            </a:r>
            <a:r>
              <a:rPr lang="en-ID" sz="2000" dirty="0"/>
              <a:t> </a:t>
            </a:r>
            <a:r>
              <a:rPr lang="en-ID" sz="2000" dirty="0" err="1"/>
              <a:t>masalah</a:t>
            </a:r>
            <a:r>
              <a:rPr lang="en-ID" sz="2000" dirty="0"/>
              <a:t> </a:t>
            </a:r>
            <a:r>
              <a:rPr lang="en-ID" sz="2000" dirty="0" err="1"/>
              <a:t>bisnis</a:t>
            </a:r>
            <a:r>
              <a:rPr lang="en-ID" sz="2000" dirty="0"/>
              <a:t> dan </a:t>
            </a:r>
            <a:r>
              <a:rPr lang="en-ID" sz="2000" dirty="0" err="1"/>
              <a:t>mengoptimalkan</a:t>
            </a:r>
            <a:r>
              <a:rPr lang="en-ID" sz="2000" dirty="0"/>
              <a:t> </a:t>
            </a:r>
            <a:r>
              <a:rPr lang="en-ID" sz="2000" dirty="0" err="1"/>
              <a:t>performa</a:t>
            </a:r>
            <a:r>
              <a:rPr lang="en-ID" sz="2000" dirty="0"/>
              <a:t> </a:t>
            </a:r>
            <a:r>
              <a:rPr lang="en-ID" sz="2000" dirty="0" err="1"/>
              <a:t>penjualan</a:t>
            </a:r>
            <a:r>
              <a:rPr lang="en-ID" sz="2000" dirty="0"/>
              <a:t>. Mahir </a:t>
            </a:r>
            <a:r>
              <a:rPr lang="en-ID" sz="2000" dirty="0" err="1"/>
              <a:t>melakukan</a:t>
            </a:r>
            <a:r>
              <a:rPr lang="en-ID" sz="2000" dirty="0"/>
              <a:t> </a:t>
            </a:r>
            <a:r>
              <a:rPr lang="en-ID" sz="2000" i="1" dirty="0"/>
              <a:t>data cleaning</a:t>
            </a:r>
            <a:r>
              <a:rPr lang="en-ID" sz="2000" dirty="0"/>
              <a:t> </a:t>
            </a:r>
            <a:r>
              <a:rPr lang="en-ID" sz="2000" dirty="0" err="1"/>
              <a:t>serta</a:t>
            </a:r>
            <a:r>
              <a:rPr lang="en-ID" sz="2000" dirty="0"/>
              <a:t> </a:t>
            </a:r>
            <a:r>
              <a:rPr lang="en-ID" sz="2000" dirty="0" err="1"/>
              <a:t>membangun</a:t>
            </a:r>
            <a:r>
              <a:rPr lang="en-ID" sz="2000" dirty="0"/>
              <a:t> </a:t>
            </a:r>
            <a:r>
              <a:rPr lang="en-ID" sz="2000" i="1" dirty="0"/>
              <a:t>dashboard</a:t>
            </a:r>
            <a:r>
              <a:rPr lang="en-ID" sz="2000" dirty="0"/>
              <a:t> </a:t>
            </a:r>
            <a:r>
              <a:rPr lang="en-ID" sz="2000" dirty="0" err="1"/>
              <a:t>interaktif</a:t>
            </a:r>
            <a:r>
              <a:rPr lang="en-ID" sz="2000" dirty="0"/>
              <a:t> </a:t>
            </a:r>
            <a:r>
              <a:rPr lang="en-ID" sz="2000" dirty="0" err="1"/>
              <a:t>menggunakan</a:t>
            </a:r>
            <a:r>
              <a:rPr lang="en-ID" sz="2000" dirty="0"/>
              <a:t> Excel, Python, PostgreSQL, dan Power BI. </a:t>
            </a:r>
            <a:r>
              <a:rPr lang="en-ID" sz="2000" dirty="0" err="1"/>
              <a:t>Berpengalaman</a:t>
            </a:r>
            <a:r>
              <a:rPr lang="en-ID" sz="2000" dirty="0"/>
              <a:t> </a:t>
            </a:r>
            <a:r>
              <a:rPr lang="en-ID" sz="2000" dirty="0" err="1"/>
              <a:t>dalam</a:t>
            </a:r>
            <a:r>
              <a:rPr lang="en-ID" sz="2000" dirty="0"/>
              <a:t> </a:t>
            </a:r>
            <a:r>
              <a:rPr lang="en-ID" sz="2000" dirty="0" err="1"/>
              <a:t>menganalisis</a:t>
            </a:r>
            <a:r>
              <a:rPr lang="en-ID" sz="2000" dirty="0"/>
              <a:t> data </a:t>
            </a:r>
            <a:r>
              <a:rPr lang="en-ID" sz="2000" dirty="0" err="1"/>
              <a:t>keranjang</a:t>
            </a:r>
            <a:r>
              <a:rPr lang="en-ID" sz="2000" dirty="0"/>
              <a:t> </a:t>
            </a:r>
            <a:r>
              <a:rPr lang="en-ID" sz="2000" dirty="0" err="1"/>
              <a:t>belanja</a:t>
            </a:r>
            <a:r>
              <a:rPr lang="en-ID" sz="2000" dirty="0"/>
              <a:t> (</a:t>
            </a:r>
            <a:r>
              <a:rPr lang="en-ID" sz="2000" i="1" dirty="0"/>
              <a:t>market basket data</a:t>
            </a:r>
            <a:r>
              <a:rPr lang="en-ID" sz="2000" dirty="0"/>
              <a:t>) </a:t>
            </a:r>
            <a:r>
              <a:rPr lang="en-ID" sz="2000" dirty="0" err="1"/>
              <a:t>untuk</a:t>
            </a:r>
            <a:r>
              <a:rPr lang="en-ID" sz="2000" dirty="0"/>
              <a:t> </a:t>
            </a:r>
            <a:r>
              <a:rPr lang="en-ID" sz="2000" dirty="0" err="1"/>
              <a:t>mengidentifikasi</a:t>
            </a:r>
            <a:r>
              <a:rPr lang="en-ID" sz="2000" dirty="0"/>
              <a:t> </a:t>
            </a:r>
            <a:r>
              <a:rPr lang="en-ID" sz="2000" dirty="0" err="1"/>
              <a:t>pola</a:t>
            </a:r>
            <a:r>
              <a:rPr lang="en-ID" sz="2000" dirty="0"/>
              <a:t> </a:t>
            </a:r>
            <a:r>
              <a:rPr lang="en-ID" sz="2000" dirty="0" err="1"/>
              <a:t>pembelian</a:t>
            </a:r>
            <a:r>
              <a:rPr lang="en-ID" sz="2000" dirty="0"/>
              <a:t> </a:t>
            </a:r>
            <a:r>
              <a:rPr lang="en-ID" sz="2000" dirty="0" err="1"/>
              <a:t>konsumen</a:t>
            </a:r>
            <a:r>
              <a:rPr lang="en-ID" sz="2000" dirty="0"/>
              <a:t> dan </a:t>
            </a:r>
            <a:r>
              <a:rPr lang="en-ID" sz="2000" dirty="0" err="1"/>
              <a:t>merumuskan</a:t>
            </a:r>
            <a:r>
              <a:rPr lang="en-ID" sz="2000" dirty="0"/>
              <a:t> </a:t>
            </a:r>
            <a:r>
              <a:rPr lang="en-ID" sz="2000" dirty="0" err="1"/>
              <a:t>rekomendasi</a:t>
            </a:r>
            <a:r>
              <a:rPr lang="en-ID" sz="2000" dirty="0"/>
              <a:t> </a:t>
            </a:r>
            <a:r>
              <a:rPr lang="en-ID" sz="2000" dirty="0" err="1"/>
              <a:t>strategis</a:t>
            </a:r>
            <a:r>
              <a:rPr lang="en-ID" sz="2000" dirty="0"/>
              <a:t> yang </a:t>
            </a:r>
            <a:r>
              <a:rPr lang="en-ID" sz="2000" dirty="0" err="1"/>
              <a:t>aplikatif</a:t>
            </a:r>
            <a:r>
              <a:rPr lang="en-ID" sz="2000" dirty="0"/>
              <a:t>. </a:t>
            </a:r>
            <a:r>
              <a:rPr lang="en-ID" sz="2000" dirty="0" err="1"/>
              <a:t>Antusias</a:t>
            </a:r>
            <a:r>
              <a:rPr lang="en-ID" sz="2000" dirty="0"/>
              <a:t> </a:t>
            </a:r>
            <a:r>
              <a:rPr lang="en-ID" sz="2000" dirty="0" err="1"/>
              <a:t>untuk</a:t>
            </a:r>
            <a:r>
              <a:rPr lang="en-ID" sz="2000" dirty="0"/>
              <a:t> </a:t>
            </a:r>
            <a:r>
              <a:rPr lang="en-ID" sz="2000" dirty="0" err="1"/>
              <a:t>mendorong</a:t>
            </a:r>
            <a:r>
              <a:rPr lang="en-ID" sz="2000" dirty="0"/>
              <a:t> </a:t>
            </a:r>
            <a:r>
              <a:rPr lang="en-ID" sz="2000" dirty="0" err="1"/>
              <a:t>pengambilan</a:t>
            </a:r>
            <a:r>
              <a:rPr lang="en-ID" sz="2000" dirty="0"/>
              <a:t> </a:t>
            </a:r>
            <a:r>
              <a:rPr lang="en-ID" sz="2000" dirty="0" err="1"/>
              <a:t>keputusan</a:t>
            </a:r>
            <a:r>
              <a:rPr lang="en-ID" sz="2000" dirty="0"/>
              <a:t> </a:t>
            </a:r>
            <a:r>
              <a:rPr lang="en-ID" sz="2000" dirty="0" err="1"/>
              <a:t>berbasis</a:t>
            </a:r>
            <a:r>
              <a:rPr lang="en-ID" sz="2000" dirty="0"/>
              <a:t> data (</a:t>
            </a:r>
            <a:r>
              <a:rPr lang="en-ID" sz="2000" i="1" dirty="0"/>
              <a:t>data-driven decision-making</a:t>
            </a:r>
            <a:r>
              <a:rPr lang="en-ID" sz="2000" dirty="0"/>
              <a:t>).</a:t>
            </a:r>
          </a:p>
        </p:txBody>
      </p:sp>
      <p:pic>
        <p:nvPicPr>
          <p:cNvPr id="17" name="Picture 16" descr="Download LinkedIn Logo in SVG Vector or PNG File Format - Logo.wine">
            <a:hlinkClick r:id="rId5"/>
            <a:extLst>
              <a:ext uri="{FF2B5EF4-FFF2-40B4-BE49-F238E27FC236}">
                <a16:creationId xmlns:a16="http://schemas.microsoft.com/office/drawing/2014/main" id="{200216D2-7C76-5F1D-864E-1D6660A6EADB}"/>
              </a:ext>
            </a:extLst>
          </p:cNvPr>
          <p:cNvPicPr>
            <a:picLocks noChangeAspect="1"/>
          </p:cNvPicPr>
          <p:nvPr/>
        </p:nvPicPr>
        <p:blipFill>
          <a:blip r:embed="rId6"/>
          <a:stretch>
            <a:fillRect/>
          </a:stretch>
        </p:blipFill>
        <p:spPr>
          <a:xfrm>
            <a:off x="4922157" y="5253171"/>
            <a:ext cx="1782836" cy="1189644"/>
          </a:xfrm>
          <a:prstGeom prst="rect">
            <a:avLst/>
          </a:prstGeom>
        </p:spPr>
      </p:pic>
      <p:pic>
        <p:nvPicPr>
          <p:cNvPr id="18" name="Picture 17" descr="Logo - Brand Toolkit">
            <a:hlinkClick r:id="rId7"/>
            <a:extLst>
              <a:ext uri="{FF2B5EF4-FFF2-40B4-BE49-F238E27FC236}">
                <a16:creationId xmlns:a16="http://schemas.microsoft.com/office/drawing/2014/main" id="{666CD31D-19AB-0FA5-6F36-EEDB59AE70C4}"/>
              </a:ext>
            </a:extLst>
          </p:cNvPr>
          <p:cNvPicPr>
            <a:picLocks noChangeAspect="1"/>
          </p:cNvPicPr>
          <p:nvPr/>
        </p:nvPicPr>
        <p:blipFill>
          <a:blip r:embed="rId8"/>
          <a:stretch>
            <a:fillRect/>
          </a:stretch>
        </p:blipFill>
        <p:spPr>
          <a:xfrm>
            <a:off x="6854756" y="5253171"/>
            <a:ext cx="3260951" cy="11896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7347A-C5C2-69D4-BDFD-5CA93BB618E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C5CEBD0-0F3F-9467-2C91-D1790D3823E9}"/>
              </a:ext>
            </a:extLst>
          </p:cNvPr>
          <p:cNvSpPr/>
          <p:nvPr/>
        </p:nvSpPr>
        <p:spPr>
          <a:xfrm>
            <a:off x="0" y="-64613"/>
            <a:ext cx="12192000" cy="683117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 name="Text 0">
            <a:extLst>
              <a:ext uri="{FF2B5EF4-FFF2-40B4-BE49-F238E27FC236}">
                <a16:creationId xmlns:a16="http://schemas.microsoft.com/office/drawing/2014/main" id="{0A8EB467-7A06-BE62-9A03-ADD81EAF945C}"/>
              </a:ext>
            </a:extLst>
          </p:cNvPr>
          <p:cNvSpPr/>
          <p:nvPr/>
        </p:nvSpPr>
        <p:spPr>
          <a:xfrm>
            <a:off x="548640" y="63144"/>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Project Overview</a:t>
            </a:r>
            <a:endParaRPr lang="en-US" sz="2800" dirty="0"/>
          </a:p>
        </p:txBody>
      </p:sp>
      <p:sp>
        <p:nvSpPr>
          <p:cNvPr id="21" name="Text 18">
            <a:extLst>
              <a:ext uri="{FF2B5EF4-FFF2-40B4-BE49-F238E27FC236}">
                <a16:creationId xmlns:a16="http://schemas.microsoft.com/office/drawing/2014/main" id="{4C0F6CCC-3384-7CFB-9829-88DDD7D2BDFB}"/>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7</a:t>
            </a:r>
            <a:endParaRPr lang="en-US" sz="850" dirty="0"/>
          </a:p>
        </p:txBody>
      </p:sp>
      <p:sp>
        <p:nvSpPr>
          <p:cNvPr id="13" name="Text 2">
            <a:extLst>
              <a:ext uri="{FF2B5EF4-FFF2-40B4-BE49-F238E27FC236}">
                <a16:creationId xmlns:a16="http://schemas.microsoft.com/office/drawing/2014/main" id="{41A9C395-ABD3-5FE3-2C97-1743CA5FAA97}"/>
              </a:ext>
            </a:extLst>
          </p:cNvPr>
          <p:cNvSpPr/>
          <p:nvPr/>
        </p:nvSpPr>
        <p:spPr>
          <a:xfrm>
            <a:off x="260227" y="611784"/>
            <a:ext cx="5211660" cy="5880456"/>
          </a:xfrm>
          <a:prstGeom prst="rect">
            <a:avLst/>
          </a:prstGeom>
          <a:noFill/>
          <a:ln/>
        </p:spPr>
        <p:txBody>
          <a:bodyPr wrap="square" rtlCol="0" anchor="ctr"/>
          <a:lstStyle/>
          <a:p>
            <a:pPr algn="just"/>
            <a:r>
              <a:rPr lang="en-US" sz="1400" b="1" dirty="0">
                <a:solidFill>
                  <a:srgbClr val="1E2761"/>
                </a:solidFill>
                <a:latin typeface="Cambria" pitchFamily="34" charset="0"/>
                <a:ea typeface="Cambria" pitchFamily="34" charset="-122"/>
                <a:cs typeface="Cambria" pitchFamily="34" charset="-120"/>
              </a:rPr>
              <a:t>1. </a:t>
            </a:r>
            <a:r>
              <a:rPr lang="en-US" sz="1400" b="1" dirty="0" err="1">
                <a:solidFill>
                  <a:srgbClr val="1E2761"/>
                </a:solidFill>
                <a:latin typeface="Cambria" pitchFamily="34" charset="0"/>
                <a:ea typeface="Cambria" pitchFamily="34" charset="-122"/>
                <a:cs typeface="Cambria" pitchFamily="34" charset="-120"/>
              </a:rPr>
              <a:t>Analisis</a:t>
            </a:r>
            <a:r>
              <a:rPr lang="en-US" sz="1400" b="1" dirty="0">
                <a:solidFill>
                  <a:srgbClr val="1E2761"/>
                </a:solidFill>
                <a:latin typeface="Cambria" pitchFamily="34" charset="0"/>
                <a:ea typeface="Cambria" pitchFamily="34" charset="-122"/>
                <a:cs typeface="Cambria" pitchFamily="34" charset="-120"/>
              </a:rPr>
              <a:t> </a:t>
            </a:r>
            <a:r>
              <a:rPr lang="en-US" sz="1400" b="1" dirty="0" err="1">
                <a:solidFill>
                  <a:srgbClr val="1E2761"/>
                </a:solidFill>
                <a:latin typeface="Cambria" pitchFamily="34" charset="0"/>
                <a:ea typeface="Cambria" pitchFamily="34" charset="-122"/>
                <a:cs typeface="Cambria" pitchFamily="34" charset="-120"/>
              </a:rPr>
              <a:t>Kegagalan</a:t>
            </a:r>
            <a:r>
              <a:rPr lang="en-US" sz="1400" b="1" dirty="0">
                <a:solidFill>
                  <a:srgbClr val="1E2761"/>
                </a:solidFill>
                <a:latin typeface="Cambria" pitchFamily="34" charset="0"/>
                <a:ea typeface="Cambria" pitchFamily="34" charset="-122"/>
                <a:cs typeface="Cambria" pitchFamily="34" charset="-120"/>
              </a:rPr>
              <a:t> </a:t>
            </a:r>
            <a:r>
              <a:rPr lang="en-US" sz="1400" b="1" dirty="0" err="1">
                <a:solidFill>
                  <a:srgbClr val="1E2761"/>
                </a:solidFill>
                <a:latin typeface="Cambria" pitchFamily="34" charset="0"/>
                <a:ea typeface="Cambria" pitchFamily="34" charset="-122"/>
                <a:cs typeface="Cambria" pitchFamily="34" charset="-120"/>
              </a:rPr>
              <a:t>Layanan</a:t>
            </a:r>
            <a:r>
              <a:rPr lang="en-US" sz="1400" b="1" dirty="0">
                <a:solidFill>
                  <a:srgbClr val="1E2761"/>
                </a:solidFill>
                <a:latin typeface="Cambria" pitchFamily="34" charset="0"/>
                <a:ea typeface="Cambria" pitchFamily="34" charset="-122"/>
                <a:cs typeface="Cambria" pitchFamily="34" charset="-120"/>
              </a:rPr>
              <a:t> Digital &amp; Kabin </a:t>
            </a:r>
            <a:r>
              <a:rPr lang="en-US" sz="1400" b="1" dirty="0" err="1">
                <a:solidFill>
                  <a:srgbClr val="1E2761"/>
                </a:solidFill>
                <a:latin typeface="Cambria" pitchFamily="34" charset="0"/>
                <a:ea typeface="Cambria" pitchFamily="34" charset="-122"/>
                <a:cs typeface="Cambria" pitchFamily="34" charset="-120"/>
              </a:rPr>
              <a:t>Maskapai</a:t>
            </a:r>
            <a:endParaRPr lang="en-US" sz="1400" b="1" dirty="0">
              <a:solidFill>
                <a:srgbClr val="1E2761"/>
              </a:solidFill>
              <a:latin typeface="Cambria" pitchFamily="34" charset="0"/>
              <a:ea typeface="Cambria" pitchFamily="34" charset="-122"/>
              <a:cs typeface="Cambria" pitchFamily="34" charset="-120"/>
            </a:endParaRPr>
          </a:p>
          <a:p>
            <a:pPr algn="just"/>
            <a:r>
              <a:rPr lang="en-US" sz="1200" dirty="0" err="1">
                <a:solidFill>
                  <a:srgbClr val="1E2761"/>
                </a:solidFill>
                <a:latin typeface="Cambria" pitchFamily="34" charset="0"/>
                <a:ea typeface="Cambria" pitchFamily="34" charset="-122"/>
                <a:cs typeface="Cambria" pitchFamily="34" charset="-120"/>
              </a:rPr>
              <a:t>Deskripsi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Analisis</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kepuasan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pelanggan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penerbangan</a:t>
            </a:r>
            <a:r>
              <a:rPr lang="en-US" sz="1200" dirty="0">
                <a:solidFill>
                  <a:srgbClr val="1E2761"/>
                </a:solidFill>
                <a:latin typeface="Cambria" pitchFamily="34" charset="0"/>
                <a:ea typeface="Cambria" pitchFamily="34" charset="-122"/>
                <a:cs typeface="Cambria" pitchFamily="34" charset="-120"/>
              </a:rPr>
              <a:t> (CSAT) </a:t>
            </a:r>
            <a:r>
              <a:rPr lang="en-US" sz="1200" dirty="0" err="1">
                <a:solidFill>
                  <a:srgbClr val="1E2761"/>
                </a:solidFill>
                <a:latin typeface="Cambria" pitchFamily="34" charset="0"/>
                <a:ea typeface="Cambria" pitchFamily="34" charset="-122"/>
                <a:cs typeface="Cambria" pitchFamily="34" charset="-120"/>
              </a:rPr>
              <a:t>menggunakan</a:t>
            </a:r>
            <a:r>
              <a:rPr lang="en-US" sz="1200" dirty="0">
                <a:solidFill>
                  <a:srgbClr val="1E2761"/>
                </a:solidFill>
                <a:latin typeface="Cambria" pitchFamily="34" charset="0"/>
                <a:ea typeface="Cambria" pitchFamily="34" charset="-122"/>
                <a:cs typeface="Cambria" pitchFamily="34" charset="-120"/>
              </a:rPr>
              <a:t> PostgreSQL &amp; Power BI. </a:t>
            </a:r>
          </a:p>
          <a:p>
            <a:pPr algn="just"/>
            <a:r>
              <a:rPr lang="en-US" sz="1200" dirty="0">
                <a:solidFill>
                  <a:srgbClr val="1E2761"/>
                </a:solidFill>
                <a:latin typeface="Cambria" pitchFamily="34" charset="0"/>
                <a:ea typeface="Cambria" pitchFamily="34" charset="-122"/>
                <a:cs typeface="Cambria" pitchFamily="34" charset="-120"/>
              </a:rPr>
              <a:t>Tujuan: </a:t>
            </a:r>
            <a:r>
              <a:rPr lang="en-US" sz="1200" dirty="0" err="1">
                <a:solidFill>
                  <a:srgbClr val="1E2761"/>
                </a:solidFill>
                <a:latin typeface="Cambria" pitchFamily="34" charset="0"/>
                <a:ea typeface="Cambria" pitchFamily="34" charset="-122"/>
                <a:cs typeface="Cambria" pitchFamily="34" charset="-120"/>
              </a:rPr>
              <a:t>Menginvestigasi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pemicu</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utama</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ketidakpuasan</a:t>
            </a:r>
            <a:r>
              <a:rPr lang="en-US" sz="1200" dirty="0">
                <a:solidFill>
                  <a:srgbClr val="1E2761"/>
                </a:solidFill>
                <a:latin typeface="Cambria" pitchFamily="34" charset="0"/>
                <a:ea typeface="Cambria" pitchFamily="34" charset="-122"/>
                <a:cs typeface="Cambria" pitchFamily="34" charset="-120"/>
              </a:rPr>
              <a:t> dan </a:t>
            </a:r>
            <a:r>
              <a:rPr lang="en-US" sz="1200" dirty="0" err="1">
                <a:solidFill>
                  <a:srgbClr val="1E2761"/>
                </a:solidFill>
                <a:latin typeface="Cambria" pitchFamily="34" charset="0"/>
                <a:ea typeface="Cambria" pitchFamily="34" charset="-122"/>
                <a:cs typeface="Cambria" pitchFamily="34" charset="-120"/>
              </a:rPr>
              <a:t>mencegah</a:t>
            </a:r>
            <a:r>
              <a:rPr lang="en-US" sz="1200" dirty="0">
                <a:solidFill>
                  <a:srgbClr val="1E2761"/>
                </a:solidFill>
                <a:latin typeface="Cambria" pitchFamily="34" charset="0"/>
                <a:ea typeface="Cambria" pitchFamily="34" charset="-122"/>
                <a:cs typeface="Cambria" pitchFamily="34" charset="-120"/>
              </a:rPr>
              <a:t> customer churn. </a:t>
            </a:r>
          </a:p>
          <a:p>
            <a:pPr algn="just"/>
            <a:r>
              <a:rPr lang="en-US" sz="1200" dirty="0">
                <a:solidFill>
                  <a:srgbClr val="1E2761"/>
                </a:solidFill>
                <a:latin typeface="Cambria" pitchFamily="34" charset="0"/>
                <a:ea typeface="Cambria" pitchFamily="34" charset="-122"/>
                <a:cs typeface="Cambria" pitchFamily="34" charset="-120"/>
              </a:rPr>
              <a:t>Hasil: CSAT </a:t>
            </a:r>
            <a:r>
              <a:rPr lang="en-US" sz="1200" dirty="0" err="1">
                <a:solidFill>
                  <a:srgbClr val="1E2761"/>
                </a:solidFill>
                <a:latin typeface="Cambria" pitchFamily="34" charset="0"/>
                <a:ea typeface="Cambria" pitchFamily="34" charset="-122"/>
                <a:cs typeface="Cambria" pitchFamily="34" charset="-120"/>
              </a:rPr>
              <a:t>tertahan</a:t>
            </a:r>
            <a:r>
              <a:rPr lang="en-US" sz="1200" dirty="0">
                <a:solidFill>
                  <a:srgbClr val="1E2761"/>
                </a:solidFill>
                <a:latin typeface="Cambria" pitchFamily="34" charset="0"/>
                <a:ea typeface="Cambria" pitchFamily="34" charset="-122"/>
                <a:cs typeface="Cambria" pitchFamily="34" charset="-120"/>
              </a:rPr>
              <a:t> di 43,34%. Akar </a:t>
            </a:r>
            <a:r>
              <a:rPr lang="en-US" sz="1200" dirty="0" err="1">
                <a:solidFill>
                  <a:srgbClr val="1E2761"/>
                </a:solidFill>
                <a:latin typeface="Cambria" pitchFamily="34" charset="0"/>
                <a:ea typeface="Cambria" pitchFamily="34" charset="-122"/>
                <a:cs typeface="Cambria" pitchFamily="34" charset="-120"/>
              </a:rPr>
              <a:t>masalah</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bukan</a:t>
            </a:r>
            <a:r>
              <a:rPr lang="en-US" sz="1200" dirty="0">
                <a:solidFill>
                  <a:srgbClr val="1E2761"/>
                </a:solidFill>
                <a:latin typeface="Cambria" pitchFamily="34" charset="0"/>
                <a:ea typeface="Cambria" pitchFamily="34" charset="-122"/>
                <a:cs typeface="Cambria" pitchFamily="34" charset="-120"/>
              </a:rPr>
              <a:t> delay, </a:t>
            </a:r>
            <a:r>
              <a:rPr lang="en-US" sz="1200" dirty="0" err="1">
                <a:solidFill>
                  <a:srgbClr val="1E2761"/>
                </a:solidFill>
                <a:latin typeface="Cambria" pitchFamily="34" charset="0"/>
                <a:ea typeface="Cambria" pitchFamily="34" charset="-122"/>
                <a:cs typeface="Cambria" pitchFamily="34" charset="-120"/>
              </a:rPr>
              <a:t>melainkan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buruknya</a:t>
            </a:r>
            <a:r>
              <a:rPr lang="en-US" sz="1200" dirty="0">
                <a:solidFill>
                  <a:srgbClr val="1E2761"/>
                </a:solidFill>
                <a:latin typeface="Cambria" pitchFamily="34" charset="0"/>
                <a:ea typeface="Cambria" pitchFamily="34" charset="-122"/>
                <a:cs typeface="Cambria" pitchFamily="34" charset="-120"/>
              </a:rPr>
              <a:t> Online boarding &amp; Inflight entertainment, di mana 76,64% </a:t>
            </a:r>
            <a:r>
              <a:rPr lang="en-US" sz="1200" dirty="0" err="1">
                <a:solidFill>
                  <a:srgbClr val="1E2761"/>
                </a:solidFill>
                <a:latin typeface="Cambria" pitchFamily="34" charset="0"/>
                <a:ea typeface="Cambria" pitchFamily="34" charset="-122"/>
                <a:cs typeface="Cambria" pitchFamily="34" charset="-120"/>
              </a:rPr>
              <a:t>penumpang</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tidak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puas</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adalah</a:t>
            </a:r>
            <a:r>
              <a:rPr lang="en-US" sz="1200" dirty="0">
                <a:solidFill>
                  <a:srgbClr val="1E2761"/>
                </a:solidFill>
                <a:latin typeface="Cambria" pitchFamily="34" charset="0"/>
                <a:ea typeface="Cambria" pitchFamily="34" charset="-122"/>
                <a:cs typeface="Cambria" pitchFamily="34" charset="-120"/>
              </a:rPr>
              <a:t> Loyal Customer. </a:t>
            </a:r>
          </a:p>
          <a:p>
            <a:pPr algn="just"/>
            <a:endParaRPr lang="en-US" sz="1200" dirty="0">
              <a:solidFill>
                <a:srgbClr val="1E2761"/>
              </a:solidFill>
              <a:latin typeface="Cambria" pitchFamily="34" charset="0"/>
              <a:ea typeface="Cambria" pitchFamily="34" charset="-122"/>
              <a:cs typeface="Cambria" pitchFamily="34" charset="-120"/>
            </a:endParaRPr>
          </a:p>
          <a:p>
            <a:pPr algn="just"/>
            <a:r>
              <a:rPr lang="en-US" sz="1400" b="1" dirty="0">
                <a:solidFill>
                  <a:srgbClr val="1E2761"/>
                </a:solidFill>
                <a:latin typeface="Cambria" pitchFamily="34" charset="0"/>
                <a:ea typeface="Cambria" pitchFamily="34" charset="-122"/>
                <a:cs typeface="Cambria" pitchFamily="34" charset="-120"/>
              </a:rPr>
              <a:t>2. </a:t>
            </a:r>
            <a:r>
              <a:rPr lang="en-US" sz="1400" b="1" dirty="0" err="1">
                <a:solidFill>
                  <a:srgbClr val="1E2761"/>
                </a:solidFill>
                <a:latin typeface="Cambria" pitchFamily="34" charset="0"/>
                <a:ea typeface="Cambria" pitchFamily="34" charset="-122"/>
                <a:cs typeface="Cambria" pitchFamily="34" charset="-120"/>
              </a:rPr>
              <a:t>Analisis</a:t>
            </a:r>
            <a:r>
              <a:rPr lang="en-US" sz="1400" b="1" dirty="0">
                <a:solidFill>
                  <a:srgbClr val="1E2761"/>
                </a:solidFill>
                <a:latin typeface="Cambria" pitchFamily="34" charset="0"/>
                <a:ea typeface="Cambria" pitchFamily="34" charset="-122"/>
                <a:cs typeface="Cambria" pitchFamily="34" charset="-120"/>
              </a:rPr>
              <a:t> </a:t>
            </a:r>
            <a:r>
              <a:rPr lang="en-US" sz="1400" b="1" dirty="0" err="1">
                <a:solidFill>
                  <a:srgbClr val="1E2761"/>
                </a:solidFill>
                <a:latin typeface="Cambria" pitchFamily="34" charset="0"/>
                <a:ea typeface="Cambria" pitchFamily="34" charset="-122"/>
                <a:cs typeface="Cambria" pitchFamily="34" charset="-120"/>
              </a:rPr>
              <a:t>Efisiensi</a:t>
            </a:r>
            <a:r>
              <a:rPr lang="en-US" sz="1400" b="1" dirty="0">
                <a:solidFill>
                  <a:srgbClr val="1E2761"/>
                </a:solidFill>
                <a:latin typeface="Cambria" pitchFamily="34" charset="0"/>
                <a:ea typeface="Cambria" pitchFamily="34" charset="-122"/>
                <a:cs typeface="Cambria" pitchFamily="34" charset="-120"/>
              </a:rPr>
              <a:t> </a:t>
            </a:r>
            <a:r>
              <a:rPr lang="en-US" sz="1400" b="1" dirty="0" err="1">
                <a:solidFill>
                  <a:srgbClr val="1E2761"/>
                </a:solidFill>
                <a:latin typeface="Cambria" pitchFamily="34" charset="0"/>
                <a:ea typeface="Cambria" pitchFamily="34" charset="-122"/>
                <a:cs typeface="Cambria" pitchFamily="34" charset="-120"/>
              </a:rPr>
              <a:t>Periklanan</a:t>
            </a:r>
            <a:r>
              <a:rPr lang="en-US" sz="1400" b="1" dirty="0">
                <a:solidFill>
                  <a:srgbClr val="1E2761"/>
                </a:solidFill>
                <a:latin typeface="Cambria" pitchFamily="34" charset="0"/>
                <a:ea typeface="Cambria" pitchFamily="34" charset="-122"/>
                <a:cs typeface="Cambria" pitchFamily="34" charset="-120"/>
              </a:rPr>
              <a:t> &amp; </a:t>
            </a:r>
            <a:r>
              <a:rPr lang="en-US" sz="1400" b="1" dirty="0" err="1">
                <a:solidFill>
                  <a:srgbClr val="1E2761"/>
                </a:solidFill>
                <a:latin typeface="Cambria" pitchFamily="34" charset="0"/>
                <a:ea typeface="Cambria" pitchFamily="34" charset="-122"/>
                <a:cs typeface="Cambria" pitchFamily="34" charset="-120"/>
              </a:rPr>
              <a:t>Retensi</a:t>
            </a:r>
            <a:r>
              <a:rPr lang="en-US" sz="1400" b="1" dirty="0">
                <a:solidFill>
                  <a:srgbClr val="1E2761"/>
                </a:solidFill>
                <a:latin typeface="Cambria" pitchFamily="34" charset="0"/>
                <a:ea typeface="Cambria" pitchFamily="34" charset="-122"/>
                <a:cs typeface="Cambria" pitchFamily="34" charset="-120"/>
              </a:rPr>
              <a:t> </a:t>
            </a:r>
            <a:r>
              <a:rPr lang="en-US" sz="1400" b="1" dirty="0" err="1">
                <a:solidFill>
                  <a:srgbClr val="1E2761"/>
                </a:solidFill>
                <a:latin typeface="Cambria" pitchFamily="34" charset="0"/>
                <a:ea typeface="Cambria" pitchFamily="34" charset="-122"/>
                <a:cs typeface="Cambria" pitchFamily="34" charset="-120"/>
              </a:rPr>
              <a:t>Pelanggan</a:t>
            </a:r>
            <a:endParaRPr lang="en-US" sz="1400" b="1" dirty="0">
              <a:solidFill>
                <a:srgbClr val="1E2761"/>
              </a:solidFill>
              <a:latin typeface="Cambria" pitchFamily="34" charset="0"/>
              <a:ea typeface="Cambria" pitchFamily="34" charset="-122"/>
              <a:cs typeface="Cambria" pitchFamily="34" charset="-120"/>
            </a:endParaRPr>
          </a:p>
          <a:p>
            <a:pPr algn="just"/>
            <a:r>
              <a:rPr lang="en-US" sz="1200" dirty="0" err="1">
                <a:solidFill>
                  <a:srgbClr val="1E2761"/>
                </a:solidFill>
                <a:latin typeface="Cambria" pitchFamily="34" charset="0"/>
                <a:ea typeface="Cambria" pitchFamily="34" charset="-122"/>
                <a:cs typeface="Cambria" pitchFamily="34" charset="-120"/>
              </a:rPr>
              <a:t>Deskripsi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Evaluasi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efektivitas</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anggaran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iklan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berbayar</a:t>
            </a:r>
            <a:r>
              <a:rPr lang="en-US" sz="1200" dirty="0">
                <a:solidFill>
                  <a:srgbClr val="1E2761"/>
                </a:solidFill>
                <a:latin typeface="Cambria" pitchFamily="34" charset="0"/>
                <a:ea typeface="Cambria" pitchFamily="34" charset="-122"/>
                <a:cs typeface="Cambria" pitchFamily="34" charset="-120"/>
              </a:rPr>
              <a:t> (paid ads) dan </a:t>
            </a:r>
            <a:r>
              <a:rPr lang="en-US" sz="1200" dirty="0" err="1">
                <a:solidFill>
                  <a:srgbClr val="1E2761"/>
                </a:solidFill>
                <a:latin typeface="Cambria" pitchFamily="34" charset="0"/>
                <a:ea typeface="Cambria" pitchFamily="34" charset="-122"/>
                <a:cs typeface="Cambria" pitchFamily="34" charset="-120"/>
              </a:rPr>
              <a:t>retensi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pengguna</a:t>
            </a:r>
            <a:r>
              <a:rPr lang="en-US" sz="1200" dirty="0">
                <a:solidFill>
                  <a:srgbClr val="1E2761"/>
                </a:solidFill>
                <a:latin typeface="Cambria" pitchFamily="34" charset="0"/>
                <a:ea typeface="Cambria" pitchFamily="34" charset="-122"/>
                <a:cs typeface="Cambria" pitchFamily="34" charset="-120"/>
              </a:rPr>
              <a:t> situs.</a:t>
            </a:r>
          </a:p>
          <a:p>
            <a:pPr algn="just"/>
            <a:r>
              <a:rPr lang="en-US" sz="1200" dirty="0">
                <a:solidFill>
                  <a:srgbClr val="1E2761"/>
                </a:solidFill>
                <a:latin typeface="Cambria" pitchFamily="34" charset="0"/>
                <a:ea typeface="Cambria" pitchFamily="34" charset="-122"/>
                <a:cs typeface="Cambria" pitchFamily="34" charset="-120"/>
              </a:rPr>
              <a:t>Tujuan: </a:t>
            </a:r>
            <a:r>
              <a:rPr lang="en-US" sz="1200" dirty="0" err="1">
                <a:solidFill>
                  <a:srgbClr val="1E2761"/>
                </a:solidFill>
                <a:latin typeface="Cambria" pitchFamily="34" charset="0"/>
                <a:ea typeface="Cambria" pitchFamily="34" charset="-122"/>
                <a:cs typeface="Cambria" pitchFamily="34" charset="-120"/>
              </a:rPr>
              <a:t>Menganalisis</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apakah</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perolehan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trafik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memberikan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pertumbuhan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sehat</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atau</a:t>
            </a:r>
            <a:r>
              <a:rPr lang="en-US" sz="1200" dirty="0">
                <a:solidFill>
                  <a:srgbClr val="1E2761"/>
                </a:solidFill>
                <a:latin typeface="Cambria" pitchFamily="34" charset="0"/>
                <a:ea typeface="Cambria" pitchFamily="34" charset="-122"/>
                <a:cs typeface="Cambria" pitchFamily="34" charset="-120"/>
              </a:rPr>
              <a:t> profit leakage. </a:t>
            </a:r>
          </a:p>
          <a:p>
            <a:pPr algn="just"/>
            <a:r>
              <a:rPr lang="en-US" sz="1200" dirty="0">
                <a:solidFill>
                  <a:srgbClr val="1E2761"/>
                </a:solidFill>
                <a:latin typeface="Cambria" pitchFamily="34" charset="0"/>
                <a:ea typeface="Cambria" pitchFamily="34" charset="-122"/>
                <a:cs typeface="Cambria" pitchFamily="34" charset="-120"/>
              </a:rPr>
              <a:t>Hasil: Paid Ads </a:t>
            </a:r>
            <a:r>
              <a:rPr lang="en-US" sz="1200" dirty="0" err="1">
                <a:solidFill>
                  <a:srgbClr val="1E2761"/>
                </a:solidFill>
                <a:latin typeface="Cambria" pitchFamily="34" charset="0"/>
                <a:ea typeface="Cambria" pitchFamily="34" charset="-122"/>
                <a:cs typeface="Cambria" pitchFamily="34" charset="-120"/>
              </a:rPr>
              <a:t>tidak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efisien</a:t>
            </a:r>
            <a:r>
              <a:rPr lang="en-US" sz="1200" dirty="0">
                <a:solidFill>
                  <a:srgbClr val="1E2761"/>
                </a:solidFill>
                <a:latin typeface="Cambria" pitchFamily="34" charset="0"/>
                <a:ea typeface="Cambria" pitchFamily="34" charset="-122"/>
                <a:cs typeface="Cambria" pitchFamily="34" charset="-120"/>
              </a:rPr>
              <a:t> (ROAS 1.20x), </a:t>
            </a:r>
            <a:r>
              <a:rPr lang="en-US" sz="1200" dirty="0" err="1">
                <a:solidFill>
                  <a:srgbClr val="1E2761"/>
                </a:solidFill>
                <a:latin typeface="Cambria" pitchFamily="34" charset="0"/>
                <a:ea typeface="Cambria" pitchFamily="34" charset="-122"/>
                <a:cs typeface="Cambria" pitchFamily="34" charset="-120"/>
              </a:rPr>
              <a:t>sementara</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kanal</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organik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menyumbang</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pendapatan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terbesar</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tanpa</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biaya</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Kebocoran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trafik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terbesar</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terjadi</a:t>
            </a:r>
            <a:r>
              <a:rPr lang="en-US" sz="1200" dirty="0">
                <a:solidFill>
                  <a:srgbClr val="1E2761"/>
                </a:solidFill>
                <a:latin typeface="Cambria" pitchFamily="34" charset="0"/>
                <a:ea typeface="Cambria" pitchFamily="34" charset="-122"/>
                <a:cs typeface="Cambria" pitchFamily="34" charset="-120"/>
              </a:rPr>
              <a:t> pada </a:t>
            </a:r>
            <a:r>
              <a:rPr lang="en-US" sz="1200" dirty="0" err="1">
                <a:solidFill>
                  <a:srgbClr val="1E2761"/>
                </a:solidFill>
                <a:latin typeface="Cambria" pitchFamily="34" charset="0"/>
                <a:ea typeface="Cambria" pitchFamily="34" charset="-122"/>
                <a:cs typeface="Cambria" pitchFamily="34" charset="-120"/>
              </a:rPr>
              <a:t>transisi</a:t>
            </a:r>
            <a:r>
              <a:rPr lang="en-US" sz="1200" dirty="0">
                <a:solidFill>
                  <a:srgbClr val="1E2761"/>
                </a:solidFill>
                <a:latin typeface="Cambria" pitchFamily="34" charset="0"/>
                <a:ea typeface="Cambria" pitchFamily="34" charset="-122"/>
                <a:cs typeface="Cambria" pitchFamily="34" charset="-120"/>
              </a:rPr>
              <a:t> landing page </a:t>
            </a:r>
            <a:r>
              <a:rPr lang="en-US" sz="1200" dirty="0" err="1">
                <a:solidFill>
                  <a:srgbClr val="1E2761"/>
                </a:solidFill>
                <a:latin typeface="Cambria" pitchFamily="34" charset="0"/>
                <a:ea typeface="Cambria" pitchFamily="34" charset="-122"/>
                <a:cs typeface="Cambria" pitchFamily="34" charset="-120"/>
              </a:rPr>
              <a:t>ke</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keranjang</a:t>
            </a:r>
            <a:r>
              <a:rPr lang="en-US" sz="1200" dirty="0">
                <a:solidFill>
                  <a:srgbClr val="1E2761"/>
                </a:solidFill>
                <a:latin typeface="Cambria" pitchFamily="34" charset="0"/>
                <a:ea typeface="Cambria" pitchFamily="34" charset="-122"/>
                <a:cs typeface="Cambria" pitchFamily="34" charset="-120"/>
              </a:rPr>
              <a:t>. </a:t>
            </a:r>
          </a:p>
          <a:p>
            <a:pPr algn="just"/>
            <a:endParaRPr lang="en-US" sz="1200" dirty="0">
              <a:solidFill>
                <a:srgbClr val="1E2761"/>
              </a:solidFill>
              <a:latin typeface="Cambria" pitchFamily="34" charset="0"/>
              <a:ea typeface="Cambria" pitchFamily="34" charset="-122"/>
              <a:cs typeface="Cambria" pitchFamily="34" charset="-120"/>
            </a:endParaRPr>
          </a:p>
          <a:p>
            <a:pPr algn="just"/>
            <a:r>
              <a:rPr lang="en-US" sz="1400" b="1" dirty="0">
                <a:solidFill>
                  <a:srgbClr val="1E2761"/>
                </a:solidFill>
                <a:latin typeface="Cambria" pitchFamily="34" charset="0"/>
                <a:ea typeface="Cambria" pitchFamily="34" charset="-122"/>
                <a:cs typeface="Cambria" pitchFamily="34" charset="-120"/>
              </a:rPr>
              <a:t>3. Profitability &amp; Discount Impact Analysis</a:t>
            </a:r>
          </a:p>
          <a:p>
            <a:pPr algn="just"/>
            <a:r>
              <a:rPr lang="en-US" sz="1200" dirty="0" err="1">
                <a:solidFill>
                  <a:srgbClr val="1E2761"/>
                </a:solidFill>
                <a:latin typeface="Cambria" pitchFamily="34" charset="0"/>
                <a:ea typeface="Cambria" pitchFamily="34" charset="-122"/>
                <a:cs typeface="Cambria" pitchFamily="34" charset="-120"/>
              </a:rPr>
              <a:t>Deskripsi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Analisis</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dampak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diskon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terhadap</a:t>
            </a:r>
            <a:r>
              <a:rPr lang="en-US" sz="1200" dirty="0">
                <a:solidFill>
                  <a:srgbClr val="1E2761"/>
                </a:solidFill>
                <a:latin typeface="Cambria" pitchFamily="34" charset="0"/>
                <a:ea typeface="Cambria" pitchFamily="34" charset="-122"/>
                <a:cs typeface="Cambria" pitchFamily="34" charset="-120"/>
              </a:rPr>
              <a:t> margin </a:t>
            </a:r>
            <a:r>
              <a:rPr lang="en-US" sz="1200" dirty="0" err="1">
                <a:solidFill>
                  <a:srgbClr val="1E2761"/>
                </a:solidFill>
                <a:latin typeface="Cambria" pitchFamily="34" charset="0"/>
                <a:ea typeface="Cambria" pitchFamily="34" charset="-122"/>
                <a:cs typeface="Cambria" pitchFamily="34" charset="-120"/>
              </a:rPr>
              <a:t>keuntungan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ritel</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menggunakan</a:t>
            </a:r>
            <a:r>
              <a:rPr lang="en-US" sz="1200" dirty="0">
                <a:solidFill>
                  <a:srgbClr val="1E2761"/>
                </a:solidFill>
                <a:latin typeface="Cambria" pitchFamily="34" charset="0"/>
                <a:ea typeface="Cambria" pitchFamily="34" charset="-122"/>
                <a:cs typeface="Cambria" pitchFamily="34" charset="-120"/>
              </a:rPr>
              <a:t> Excel &amp; Power BI. </a:t>
            </a:r>
          </a:p>
          <a:p>
            <a:pPr algn="just"/>
            <a:r>
              <a:rPr lang="en-US" sz="1200" dirty="0">
                <a:solidFill>
                  <a:srgbClr val="1E2761"/>
                </a:solidFill>
                <a:latin typeface="Cambria" pitchFamily="34" charset="0"/>
                <a:ea typeface="Cambria" pitchFamily="34" charset="-122"/>
                <a:cs typeface="Cambria" pitchFamily="34" charset="-120"/>
              </a:rPr>
              <a:t>Tujuan: </a:t>
            </a:r>
            <a:r>
              <a:rPr lang="en-US" sz="1200" dirty="0" err="1">
                <a:solidFill>
                  <a:srgbClr val="1E2761"/>
                </a:solidFill>
                <a:latin typeface="Cambria" pitchFamily="34" charset="0"/>
                <a:ea typeface="Cambria" pitchFamily="34" charset="-122"/>
                <a:cs typeface="Cambria" pitchFamily="34" charset="-120"/>
              </a:rPr>
              <a:t>Mengukur</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apakah</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diskon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mendongkrak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laba</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atau</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memicu</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pendarahan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finansial</a:t>
            </a:r>
            <a:r>
              <a:rPr lang="en-US" sz="1200" dirty="0">
                <a:solidFill>
                  <a:srgbClr val="1E2761"/>
                </a:solidFill>
                <a:latin typeface="Cambria" pitchFamily="34" charset="0"/>
                <a:ea typeface="Cambria" pitchFamily="34" charset="-122"/>
                <a:cs typeface="Cambria" pitchFamily="34" charset="-120"/>
              </a:rPr>
              <a:t>. </a:t>
            </a:r>
          </a:p>
          <a:p>
            <a:pPr algn="just"/>
            <a:r>
              <a:rPr lang="en-US" sz="1200" dirty="0">
                <a:solidFill>
                  <a:srgbClr val="1E2761"/>
                </a:solidFill>
                <a:latin typeface="Cambria" pitchFamily="34" charset="0"/>
                <a:ea typeface="Cambria" pitchFamily="34" charset="-122"/>
                <a:cs typeface="Cambria" pitchFamily="34" charset="-120"/>
              </a:rPr>
              <a:t>Hasil: </a:t>
            </a:r>
            <a:r>
              <a:rPr lang="en-US" sz="1200" dirty="0" err="1">
                <a:solidFill>
                  <a:srgbClr val="1E2761"/>
                </a:solidFill>
                <a:latin typeface="Cambria" pitchFamily="34" charset="0"/>
                <a:ea typeface="Cambria" pitchFamily="34" charset="-122"/>
                <a:cs typeface="Cambria" pitchFamily="34" charset="-120"/>
              </a:rPr>
              <a:t>Diskon</a:t>
            </a:r>
            <a:r>
              <a:rPr lang="en-US" sz="1200" dirty="0">
                <a:solidFill>
                  <a:srgbClr val="1E2761"/>
                </a:solidFill>
                <a:latin typeface="Cambria" pitchFamily="34" charset="0"/>
                <a:ea typeface="Cambria" pitchFamily="34" charset="-122"/>
                <a:cs typeface="Cambria" pitchFamily="34" charset="-120"/>
              </a:rPr>
              <a:t> di </a:t>
            </a:r>
            <a:r>
              <a:rPr lang="en-US" sz="1200" dirty="0" err="1">
                <a:solidFill>
                  <a:srgbClr val="1E2761"/>
                </a:solidFill>
                <a:latin typeface="Cambria" pitchFamily="34" charset="0"/>
                <a:ea typeface="Cambria" pitchFamily="34" charset="-122"/>
                <a:cs typeface="Cambria" pitchFamily="34" charset="-120"/>
              </a:rPr>
              <a:t>atas</a:t>
            </a:r>
            <a:r>
              <a:rPr lang="en-US" sz="1200" dirty="0">
                <a:solidFill>
                  <a:srgbClr val="1E2761"/>
                </a:solidFill>
                <a:latin typeface="Cambria" pitchFamily="34" charset="0"/>
                <a:ea typeface="Cambria" pitchFamily="34" charset="-122"/>
                <a:cs typeface="Cambria" pitchFamily="34" charset="-120"/>
              </a:rPr>
              <a:t> 20% </a:t>
            </a:r>
            <a:r>
              <a:rPr lang="en-US" sz="1200" dirty="0" err="1">
                <a:solidFill>
                  <a:srgbClr val="1E2761"/>
                </a:solidFill>
                <a:latin typeface="Cambria" pitchFamily="34" charset="0"/>
                <a:ea typeface="Cambria" pitchFamily="34" charset="-122"/>
                <a:cs typeface="Cambria" pitchFamily="34" charset="-120"/>
              </a:rPr>
              <a:t>terbukti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menjadi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akar</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kerugian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bersih</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terutama</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produk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berat</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seperti</a:t>
            </a:r>
            <a:r>
              <a:rPr lang="en-US" sz="1200" dirty="0">
                <a:solidFill>
                  <a:srgbClr val="1E2761"/>
                </a:solidFill>
                <a:latin typeface="Cambria" pitchFamily="34" charset="0"/>
                <a:ea typeface="Cambria" pitchFamily="34" charset="-122"/>
                <a:cs typeface="Cambria" pitchFamily="34" charset="-120"/>
              </a:rPr>
              <a:t> Machines dan Tables di wilayah South dan East). </a:t>
            </a:r>
          </a:p>
          <a:p>
            <a:pPr algn="just"/>
            <a:endParaRPr lang="en-US" sz="1200" dirty="0">
              <a:solidFill>
                <a:srgbClr val="1E2761"/>
              </a:solidFill>
              <a:latin typeface="Cambria" pitchFamily="34" charset="0"/>
              <a:ea typeface="Cambria" pitchFamily="34" charset="-122"/>
              <a:cs typeface="Cambria" pitchFamily="34" charset="-120"/>
            </a:endParaRPr>
          </a:p>
          <a:p>
            <a:pPr algn="just"/>
            <a:endParaRPr lang="en-US" sz="2400" b="1" dirty="0">
              <a:solidFill>
                <a:srgbClr val="1E2761"/>
              </a:solidFill>
              <a:latin typeface="Cambria" pitchFamily="34" charset="0"/>
              <a:ea typeface="Cambria" pitchFamily="34" charset="-122"/>
              <a:cs typeface="Cambria" pitchFamily="34" charset="-120"/>
            </a:endParaRPr>
          </a:p>
        </p:txBody>
      </p:sp>
      <p:sp>
        <p:nvSpPr>
          <p:cNvPr id="17" name="Text 2">
            <a:extLst>
              <a:ext uri="{FF2B5EF4-FFF2-40B4-BE49-F238E27FC236}">
                <a16:creationId xmlns:a16="http://schemas.microsoft.com/office/drawing/2014/main" id="{36891532-CF64-2A9B-F831-15C9A13E82EC}"/>
              </a:ext>
            </a:extLst>
          </p:cNvPr>
          <p:cNvSpPr/>
          <p:nvPr/>
        </p:nvSpPr>
        <p:spPr>
          <a:xfrm>
            <a:off x="5768760" y="611784"/>
            <a:ext cx="5712039" cy="5880456"/>
          </a:xfrm>
          <a:prstGeom prst="rect">
            <a:avLst/>
          </a:prstGeom>
          <a:noFill/>
          <a:ln/>
        </p:spPr>
        <p:txBody>
          <a:bodyPr wrap="square" rtlCol="0" anchor="ctr"/>
          <a:lstStyle/>
          <a:p>
            <a:pPr algn="just"/>
            <a:r>
              <a:rPr lang="en-US" sz="1400" b="1" dirty="0">
                <a:solidFill>
                  <a:srgbClr val="1E2761"/>
                </a:solidFill>
                <a:latin typeface="Cambria" pitchFamily="34" charset="0"/>
                <a:ea typeface="Cambria" pitchFamily="34" charset="-122"/>
                <a:cs typeface="Cambria" pitchFamily="34" charset="-120"/>
              </a:rPr>
              <a:t>4. Employee Attrition &amp; High-Performance Loss Analysis</a:t>
            </a:r>
          </a:p>
          <a:p>
            <a:pPr algn="just"/>
            <a:r>
              <a:rPr lang="en-US" sz="1200" dirty="0" err="1">
                <a:solidFill>
                  <a:srgbClr val="1E2761"/>
                </a:solidFill>
                <a:latin typeface="Cambria" pitchFamily="34" charset="0"/>
                <a:ea typeface="Cambria" pitchFamily="34" charset="-122"/>
                <a:cs typeface="Cambria" pitchFamily="34" charset="-120"/>
              </a:rPr>
              <a:t>Deskripsi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Analisis</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sumber</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daya</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manusia</a:t>
            </a:r>
            <a:r>
              <a:rPr lang="en-US" sz="1200" dirty="0">
                <a:solidFill>
                  <a:srgbClr val="1E2761"/>
                </a:solidFill>
                <a:latin typeface="Cambria" pitchFamily="34" charset="0"/>
                <a:ea typeface="Cambria" pitchFamily="34" charset="-122"/>
                <a:cs typeface="Cambria" pitchFamily="34" charset="-120"/>
              </a:rPr>
              <a:t> (HR Analytics) </a:t>
            </a:r>
            <a:r>
              <a:rPr lang="en-US" sz="1200" dirty="0" err="1">
                <a:solidFill>
                  <a:srgbClr val="1E2761"/>
                </a:solidFill>
                <a:latin typeface="Cambria" pitchFamily="34" charset="0"/>
                <a:ea typeface="Cambria" pitchFamily="34" charset="-122"/>
                <a:cs typeface="Cambria" pitchFamily="34" charset="-120"/>
              </a:rPr>
              <a:t>untuk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membedah</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pola</a:t>
            </a:r>
            <a:r>
              <a:rPr lang="en-US" sz="1200" dirty="0">
                <a:solidFill>
                  <a:srgbClr val="1E2761"/>
                </a:solidFill>
                <a:latin typeface="Cambria" pitchFamily="34" charset="0"/>
                <a:ea typeface="Cambria" pitchFamily="34" charset="-122"/>
                <a:cs typeface="Cambria" pitchFamily="34" charset="-120"/>
              </a:rPr>
              <a:t> resign </a:t>
            </a:r>
            <a:r>
              <a:rPr lang="en-US" sz="1200" dirty="0" err="1">
                <a:solidFill>
                  <a:srgbClr val="1E2761"/>
                </a:solidFill>
                <a:latin typeface="Cambria" pitchFamily="34" charset="0"/>
                <a:ea typeface="Cambria" pitchFamily="34" charset="-122"/>
                <a:cs typeface="Cambria" pitchFamily="34" charset="-120"/>
              </a:rPr>
              <a:t>karyawan</a:t>
            </a:r>
            <a:r>
              <a:rPr lang="en-US" sz="1200" dirty="0">
                <a:solidFill>
                  <a:srgbClr val="1E2761"/>
                </a:solidFill>
                <a:latin typeface="Cambria" pitchFamily="34" charset="0"/>
                <a:ea typeface="Cambria" pitchFamily="34" charset="-122"/>
                <a:cs typeface="Cambria" pitchFamily="34" charset="-120"/>
              </a:rPr>
              <a:t> di Excel. </a:t>
            </a:r>
          </a:p>
          <a:p>
            <a:pPr algn="just"/>
            <a:r>
              <a:rPr lang="en-US" sz="1200" dirty="0">
                <a:solidFill>
                  <a:srgbClr val="1E2761"/>
                </a:solidFill>
                <a:latin typeface="Cambria" pitchFamily="34" charset="0"/>
                <a:ea typeface="Cambria" pitchFamily="34" charset="-122"/>
                <a:cs typeface="Cambria" pitchFamily="34" charset="-120"/>
              </a:rPr>
              <a:t>Tujuan: </a:t>
            </a:r>
            <a:r>
              <a:rPr lang="en-US" sz="1200" dirty="0" err="1">
                <a:solidFill>
                  <a:srgbClr val="1E2761"/>
                </a:solidFill>
                <a:latin typeface="Cambria" pitchFamily="34" charset="0"/>
                <a:ea typeface="Cambria" pitchFamily="34" charset="-122"/>
                <a:cs typeface="Cambria" pitchFamily="34" charset="-120"/>
              </a:rPr>
              <a:t>Menganalisis</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tingkat</a:t>
            </a:r>
            <a:r>
              <a:rPr lang="en-US" sz="1200" dirty="0">
                <a:solidFill>
                  <a:srgbClr val="1E2761"/>
                </a:solidFill>
                <a:latin typeface="Cambria" pitchFamily="34" charset="0"/>
                <a:ea typeface="Cambria" pitchFamily="34" charset="-122"/>
                <a:cs typeface="Cambria" pitchFamily="34" charset="-120"/>
              </a:rPr>
              <a:t> attrition rate </a:t>
            </a:r>
            <a:r>
              <a:rPr lang="en-US" sz="1200" dirty="0" err="1">
                <a:solidFill>
                  <a:srgbClr val="1E2761"/>
                </a:solidFill>
                <a:latin typeface="Cambria" pitchFamily="34" charset="0"/>
                <a:ea typeface="Cambria" pitchFamily="34" charset="-122"/>
                <a:cs typeface="Cambria" pitchFamily="34" charset="-120"/>
              </a:rPr>
              <a:t>makro</a:t>
            </a:r>
            <a:r>
              <a:rPr lang="en-US" sz="1200" dirty="0">
                <a:solidFill>
                  <a:srgbClr val="1E2761"/>
                </a:solidFill>
                <a:latin typeface="Cambria" pitchFamily="34" charset="0"/>
                <a:ea typeface="Cambria" pitchFamily="34" charset="-122"/>
                <a:cs typeface="Cambria" pitchFamily="34" charset="-120"/>
              </a:rPr>
              <a:t> dan </a:t>
            </a:r>
            <a:r>
              <a:rPr lang="en-US" sz="1200" dirty="0" err="1">
                <a:solidFill>
                  <a:srgbClr val="1E2761"/>
                </a:solidFill>
                <a:latin typeface="Cambria" pitchFamily="34" charset="0"/>
                <a:ea typeface="Cambria" pitchFamily="34" charset="-122"/>
                <a:cs typeface="Cambria" pitchFamily="34" charset="-120"/>
              </a:rPr>
              <a:t>risiko</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kehilangan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talenta</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unggul</a:t>
            </a:r>
            <a:r>
              <a:rPr lang="en-US" sz="1200" dirty="0">
                <a:solidFill>
                  <a:srgbClr val="1E2761"/>
                </a:solidFill>
                <a:latin typeface="Cambria" pitchFamily="34" charset="0"/>
                <a:ea typeface="Cambria" pitchFamily="34" charset="-122"/>
                <a:cs typeface="Cambria" pitchFamily="34" charset="-120"/>
              </a:rPr>
              <a:t>. </a:t>
            </a:r>
          </a:p>
          <a:p>
            <a:pPr algn="just"/>
            <a:r>
              <a:rPr lang="en-US" sz="1200" dirty="0">
                <a:solidFill>
                  <a:srgbClr val="1E2761"/>
                </a:solidFill>
                <a:latin typeface="Cambria" pitchFamily="34" charset="0"/>
                <a:ea typeface="Cambria" pitchFamily="34" charset="-122"/>
                <a:cs typeface="Cambria" pitchFamily="34" charset="-120"/>
              </a:rPr>
              <a:t>Hasil: Overall attrition sangat </a:t>
            </a:r>
            <a:r>
              <a:rPr lang="en-US" sz="1200" dirty="0" err="1">
                <a:solidFill>
                  <a:srgbClr val="1E2761"/>
                </a:solidFill>
                <a:latin typeface="Cambria" pitchFamily="34" charset="0"/>
                <a:ea typeface="Cambria" pitchFamily="34" charset="-122"/>
                <a:cs typeface="Cambria" pitchFamily="34" charset="-120"/>
              </a:rPr>
              <a:t>tinggi</a:t>
            </a:r>
            <a:r>
              <a:rPr lang="en-US" sz="1200" dirty="0">
                <a:solidFill>
                  <a:srgbClr val="1E2761"/>
                </a:solidFill>
                <a:latin typeface="Cambria" pitchFamily="34" charset="0"/>
                <a:ea typeface="Cambria" pitchFamily="34" charset="-122"/>
                <a:cs typeface="Cambria" pitchFamily="34" charset="-120"/>
              </a:rPr>
              <a:t> di </a:t>
            </a:r>
            <a:r>
              <a:rPr lang="en-US" sz="1200" dirty="0" err="1">
                <a:solidFill>
                  <a:srgbClr val="1E2761"/>
                </a:solidFill>
                <a:latin typeface="Cambria" pitchFamily="34" charset="0"/>
                <a:ea typeface="Cambria" pitchFamily="34" charset="-122"/>
                <a:cs typeface="Cambria" pitchFamily="34" charset="-120"/>
              </a:rPr>
              <a:t>angka</a:t>
            </a:r>
            <a:r>
              <a:rPr lang="en-US" sz="1200" dirty="0">
                <a:solidFill>
                  <a:srgbClr val="1E2761"/>
                </a:solidFill>
                <a:latin typeface="Cambria" pitchFamily="34" charset="0"/>
                <a:ea typeface="Cambria" pitchFamily="34" charset="-122"/>
                <a:cs typeface="Cambria" pitchFamily="34" charset="-120"/>
              </a:rPr>
              <a:t> 51,1%. </a:t>
            </a:r>
            <a:r>
              <a:rPr lang="en-US" sz="1200" dirty="0" err="1">
                <a:solidFill>
                  <a:srgbClr val="1E2761"/>
                </a:solidFill>
                <a:latin typeface="Cambria" pitchFamily="34" charset="0"/>
                <a:ea typeface="Cambria" pitchFamily="34" charset="-122"/>
                <a:cs typeface="Cambria" pitchFamily="34" charset="-120"/>
              </a:rPr>
              <a:t>Sebanyak</a:t>
            </a:r>
            <a:r>
              <a:rPr lang="en-US" sz="1200" dirty="0">
                <a:solidFill>
                  <a:srgbClr val="1E2761"/>
                </a:solidFill>
                <a:latin typeface="Cambria" pitchFamily="34" charset="0"/>
                <a:ea typeface="Cambria" pitchFamily="34" charset="-122"/>
                <a:cs typeface="Cambria" pitchFamily="34" charset="-120"/>
              </a:rPr>
              <a:t> 356 di </a:t>
            </a:r>
            <a:r>
              <a:rPr lang="en-US" sz="1200" dirty="0" err="1">
                <a:solidFill>
                  <a:srgbClr val="1E2761"/>
                </a:solidFill>
                <a:latin typeface="Cambria" pitchFamily="34" charset="0"/>
                <a:ea typeface="Cambria" pitchFamily="34" charset="-122"/>
                <a:cs typeface="Cambria" pitchFamily="34" charset="-120"/>
              </a:rPr>
              <a:t>antaranya</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adalah</a:t>
            </a:r>
            <a:r>
              <a:rPr lang="en-US" sz="1200" dirty="0">
                <a:solidFill>
                  <a:srgbClr val="1E2761"/>
                </a:solidFill>
                <a:latin typeface="Cambria" pitchFamily="34" charset="0"/>
                <a:ea typeface="Cambria" pitchFamily="34" charset="-122"/>
                <a:cs typeface="Cambria" pitchFamily="34" charset="-120"/>
              </a:rPr>
              <a:t> High Performer (23,2%), </a:t>
            </a:r>
            <a:r>
              <a:rPr lang="en-US" sz="1200" dirty="0" err="1">
                <a:solidFill>
                  <a:srgbClr val="1E2761"/>
                </a:solidFill>
                <a:latin typeface="Cambria" pitchFamily="34" charset="0"/>
                <a:ea typeface="Cambria" pitchFamily="34" charset="-122"/>
                <a:cs typeface="Cambria" pitchFamily="34" charset="-120"/>
              </a:rPr>
              <a:t>terkonsentrasi</a:t>
            </a:r>
            <a:r>
              <a:rPr lang="en-US" sz="1200" dirty="0">
                <a:solidFill>
                  <a:srgbClr val="1E2761"/>
                </a:solidFill>
                <a:latin typeface="Cambria" pitchFamily="34" charset="0"/>
                <a:ea typeface="Cambria" pitchFamily="34" charset="-122"/>
                <a:cs typeface="Cambria" pitchFamily="34" charset="-120"/>
              </a:rPr>
              <a:t> di </a:t>
            </a:r>
            <a:r>
              <a:rPr lang="en-US" sz="1200" dirty="0" err="1">
                <a:solidFill>
                  <a:srgbClr val="1E2761"/>
                </a:solidFill>
                <a:latin typeface="Cambria" pitchFamily="34" charset="0"/>
                <a:ea typeface="Cambria" pitchFamily="34" charset="-122"/>
                <a:cs typeface="Cambria" pitchFamily="34" charset="-120"/>
              </a:rPr>
              <a:t>departemen</a:t>
            </a:r>
            <a:r>
              <a:rPr lang="en-US" sz="1200" dirty="0">
                <a:solidFill>
                  <a:srgbClr val="1E2761"/>
                </a:solidFill>
                <a:latin typeface="Cambria" pitchFamily="34" charset="0"/>
                <a:ea typeface="Cambria" pitchFamily="34" charset="-122"/>
                <a:cs typeface="Cambria" pitchFamily="34" charset="-120"/>
              </a:rPr>
              <a:t> Production dan Sales. </a:t>
            </a:r>
          </a:p>
          <a:p>
            <a:pPr algn="just"/>
            <a:endParaRPr lang="en-US" sz="1200" dirty="0">
              <a:solidFill>
                <a:srgbClr val="1E2761"/>
              </a:solidFill>
              <a:latin typeface="Cambria" pitchFamily="34" charset="0"/>
              <a:ea typeface="Cambria" pitchFamily="34" charset="-122"/>
              <a:cs typeface="Cambria" pitchFamily="34" charset="-120"/>
            </a:endParaRPr>
          </a:p>
          <a:p>
            <a:pPr algn="just"/>
            <a:r>
              <a:rPr lang="en-US" sz="1400" b="1" dirty="0">
                <a:solidFill>
                  <a:srgbClr val="1E2761"/>
                </a:solidFill>
                <a:latin typeface="Cambria" pitchFamily="34" charset="0"/>
                <a:ea typeface="Cambria" pitchFamily="34" charset="-122"/>
                <a:cs typeface="Cambria" pitchFamily="34" charset="-120"/>
              </a:rPr>
              <a:t>5. </a:t>
            </a:r>
            <a:r>
              <a:rPr lang="en-US" sz="1400" b="1" dirty="0" err="1">
                <a:solidFill>
                  <a:srgbClr val="1E2761"/>
                </a:solidFill>
                <a:latin typeface="Cambria" pitchFamily="34" charset="0"/>
                <a:ea typeface="Cambria" pitchFamily="34" charset="-122"/>
                <a:cs typeface="Cambria" pitchFamily="34" charset="-120"/>
              </a:rPr>
              <a:t>Analisis</a:t>
            </a:r>
            <a:r>
              <a:rPr lang="en-US" sz="1400" b="1" dirty="0">
                <a:solidFill>
                  <a:srgbClr val="1E2761"/>
                </a:solidFill>
                <a:latin typeface="Cambria" pitchFamily="34" charset="0"/>
                <a:ea typeface="Cambria" pitchFamily="34" charset="-122"/>
                <a:cs typeface="Cambria" pitchFamily="34" charset="-120"/>
              </a:rPr>
              <a:t> Jenis </a:t>
            </a:r>
            <a:r>
              <a:rPr lang="en-US" sz="1400" b="1" dirty="0" err="1">
                <a:solidFill>
                  <a:srgbClr val="1E2761"/>
                </a:solidFill>
                <a:latin typeface="Cambria" pitchFamily="34" charset="0"/>
                <a:ea typeface="Cambria" pitchFamily="34" charset="-122"/>
                <a:cs typeface="Cambria" pitchFamily="34" charset="-120"/>
              </a:rPr>
              <a:t>Produk</a:t>
            </a:r>
            <a:r>
              <a:rPr lang="en-US" sz="1400" b="1" dirty="0">
                <a:solidFill>
                  <a:srgbClr val="1E2761"/>
                </a:solidFill>
                <a:latin typeface="Cambria" pitchFamily="34" charset="0"/>
                <a:ea typeface="Cambria" pitchFamily="34" charset="-122"/>
                <a:cs typeface="Cambria" pitchFamily="34" charset="-120"/>
              </a:rPr>
              <a:t> &amp; </a:t>
            </a:r>
            <a:r>
              <a:rPr lang="en-US" sz="1400" b="1" dirty="0" err="1">
                <a:solidFill>
                  <a:srgbClr val="1E2761"/>
                </a:solidFill>
                <a:latin typeface="Cambria" pitchFamily="34" charset="0"/>
                <a:ea typeface="Cambria" pitchFamily="34" charset="-122"/>
                <a:cs typeface="Cambria" pitchFamily="34" charset="-120"/>
              </a:rPr>
              <a:t>Visibilitas</a:t>
            </a:r>
            <a:r>
              <a:rPr lang="en-US" sz="1400" b="1" dirty="0">
                <a:solidFill>
                  <a:srgbClr val="1E2761"/>
                </a:solidFill>
                <a:latin typeface="Cambria" pitchFamily="34" charset="0"/>
                <a:ea typeface="Cambria" pitchFamily="34" charset="-122"/>
                <a:cs typeface="Cambria" pitchFamily="34" charset="-120"/>
              </a:rPr>
              <a:t> Rak </a:t>
            </a:r>
            <a:r>
              <a:rPr lang="en-US" sz="1400" b="1" dirty="0" err="1">
                <a:solidFill>
                  <a:srgbClr val="1E2761"/>
                </a:solidFill>
                <a:latin typeface="Cambria" pitchFamily="34" charset="0"/>
                <a:ea typeface="Cambria" pitchFamily="34" charset="-122"/>
                <a:cs typeface="Cambria" pitchFamily="34" charset="-120"/>
              </a:rPr>
              <a:t>Ritel</a:t>
            </a:r>
            <a:r>
              <a:rPr lang="en-US" sz="1400" b="1" dirty="0">
                <a:solidFill>
                  <a:srgbClr val="1E2761"/>
                </a:solidFill>
                <a:latin typeface="Cambria" pitchFamily="34" charset="0"/>
                <a:ea typeface="Cambria" pitchFamily="34" charset="-122"/>
                <a:cs typeface="Cambria" pitchFamily="34" charset="-120"/>
              </a:rPr>
              <a:t> (</a:t>
            </a:r>
            <a:r>
              <a:rPr lang="en-US" sz="1400" b="1" dirty="0" err="1">
                <a:solidFill>
                  <a:srgbClr val="1E2761"/>
                </a:solidFill>
                <a:latin typeface="Cambria" pitchFamily="34" charset="0"/>
                <a:ea typeface="Cambria" pitchFamily="34" charset="-122"/>
                <a:cs typeface="Cambria" pitchFamily="34" charset="-120"/>
              </a:rPr>
              <a:t>BigMart</a:t>
            </a:r>
            <a:r>
              <a:rPr lang="en-US" sz="1400" b="1" dirty="0">
                <a:solidFill>
                  <a:srgbClr val="1E2761"/>
                </a:solidFill>
                <a:latin typeface="Cambria" pitchFamily="34" charset="0"/>
                <a:ea typeface="Cambria" pitchFamily="34" charset="-122"/>
                <a:cs typeface="Cambria" pitchFamily="34" charset="-120"/>
              </a:rPr>
              <a:t> Sales)</a:t>
            </a:r>
          </a:p>
          <a:p>
            <a:pPr algn="just"/>
            <a:r>
              <a:rPr lang="en-US" sz="1200" dirty="0" err="1">
                <a:solidFill>
                  <a:srgbClr val="1E2761"/>
                </a:solidFill>
                <a:latin typeface="Cambria" pitchFamily="34" charset="0"/>
                <a:ea typeface="Cambria" pitchFamily="34" charset="-122"/>
                <a:cs typeface="Cambria" pitchFamily="34" charset="-120"/>
              </a:rPr>
              <a:t>Deskripsi</a:t>
            </a:r>
            <a:r>
              <a:rPr lang="en-US" sz="1200" dirty="0">
                <a:solidFill>
                  <a:srgbClr val="1E2761"/>
                </a:solidFill>
                <a:latin typeface="Cambria" pitchFamily="34" charset="0"/>
                <a:ea typeface="Cambria" pitchFamily="34" charset="-122"/>
                <a:cs typeface="Cambria" pitchFamily="34" charset="-120"/>
              </a:rPr>
              <a:t>: Data preprocessing &amp; </a:t>
            </a:r>
            <a:r>
              <a:rPr lang="en-US" sz="1200" dirty="0" err="1">
                <a:solidFill>
                  <a:srgbClr val="1E2761"/>
                </a:solidFill>
                <a:latin typeface="Cambria" pitchFamily="34" charset="0"/>
                <a:ea typeface="Cambria" pitchFamily="34" charset="-122"/>
                <a:cs typeface="Cambria" pitchFamily="34" charset="-120"/>
              </a:rPr>
              <a:t>eksplorasi</a:t>
            </a:r>
            <a:r>
              <a:rPr lang="en-US" sz="1200" dirty="0">
                <a:solidFill>
                  <a:srgbClr val="1E2761"/>
                </a:solidFill>
                <a:latin typeface="Cambria" pitchFamily="34" charset="0"/>
                <a:ea typeface="Cambria" pitchFamily="34" charset="-122"/>
                <a:cs typeface="Cambria" pitchFamily="34" charset="-120"/>
              </a:rPr>
              <a:t> Python </a:t>
            </a:r>
            <a:r>
              <a:rPr lang="en-US" sz="1200" dirty="0" err="1">
                <a:solidFill>
                  <a:srgbClr val="1E2761"/>
                </a:solidFill>
                <a:latin typeface="Cambria" pitchFamily="34" charset="0"/>
                <a:ea typeface="Cambria" pitchFamily="34" charset="-122"/>
                <a:cs typeface="Cambria" pitchFamily="34" charset="-120"/>
              </a:rPr>
              <a:t>untuk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menganalisis</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pengaruh</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visibilitas</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rak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terhadap</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omzet</a:t>
            </a:r>
            <a:r>
              <a:rPr lang="en-US" sz="1200" dirty="0">
                <a:solidFill>
                  <a:srgbClr val="1E2761"/>
                </a:solidFill>
                <a:latin typeface="Cambria" pitchFamily="34" charset="0"/>
                <a:ea typeface="Cambria" pitchFamily="34" charset="-122"/>
                <a:cs typeface="Cambria" pitchFamily="34" charset="-120"/>
              </a:rPr>
              <a:t>. </a:t>
            </a:r>
          </a:p>
          <a:p>
            <a:pPr algn="just"/>
            <a:r>
              <a:rPr lang="en-US" sz="1200" dirty="0">
                <a:solidFill>
                  <a:srgbClr val="1E2761"/>
                </a:solidFill>
                <a:latin typeface="Cambria" pitchFamily="34" charset="0"/>
                <a:ea typeface="Cambria" pitchFamily="34" charset="-122"/>
                <a:cs typeface="Cambria" pitchFamily="34" charset="-120"/>
              </a:rPr>
              <a:t>Tujuan: </a:t>
            </a:r>
            <a:r>
              <a:rPr lang="en-US" sz="1200" dirty="0" err="1">
                <a:solidFill>
                  <a:srgbClr val="1E2761"/>
                </a:solidFill>
                <a:latin typeface="Cambria" pitchFamily="34" charset="0"/>
                <a:ea typeface="Cambria" pitchFamily="34" charset="-122"/>
                <a:cs typeface="Cambria" pitchFamily="34" charset="-120"/>
              </a:rPr>
              <a:t>Mengoptimalkan</a:t>
            </a:r>
            <a:r>
              <a:rPr lang="en-US" sz="1200" dirty="0">
                <a:solidFill>
                  <a:srgbClr val="1E2761"/>
                </a:solidFill>
                <a:latin typeface="Cambria" pitchFamily="34" charset="0"/>
                <a:ea typeface="Cambria" pitchFamily="34" charset="-122"/>
                <a:cs typeface="Cambria" pitchFamily="34" charset="-120"/>
              </a:rPr>
              <a:t> tata </a:t>
            </a:r>
            <a:r>
              <a:rPr lang="en-US" sz="1200" dirty="0" err="1">
                <a:solidFill>
                  <a:srgbClr val="1E2761"/>
                </a:solidFill>
                <a:latin typeface="Cambria" pitchFamily="34" charset="0"/>
                <a:ea typeface="Cambria" pitchFamily="34" charset="-122"/>
                <a:cs typeface="Cambria" pitchFamily="34" charset="-120"/>
              </a:rPr>
              <a:t>letak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rak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toko</a:t>
            </a:r>
            <a:r>
              <a:rPr lang="en-US" sz="1200" dirty="0">
                <a:solidFill>
                  <a:srgbClr val="1E2761"/>
                </a:solidFill>
                <a:latin typeface="Cambria" pitchFamily="34" charset="0"/>
                <a:ea typeface="Cambria" pitchFamily="34" charset="-122"/>
                <a:cs typeface="Cambria" pitchFamily="34" charset="-120"/>
              </a:rPr>
              <a:t> agar </a:t>
            </a:r>
            <a:r>
              <a:rPr lang="en-US" sz="1200" dirty="0" err="1">
                <a:solidFill>
                  <a:srgbClr val="1E2761"/>
                </a:solidFill>
                <a:latin typeface="Cambria" pitchFamily="34" charset="0"/>
                <a:ea typeface="Cambria" pitchFamily="34" charset="-122"/>
                <a:cs typeface="Cambria" pitchFamily="34" charset="-120"/>
              </a:rPr>
              <a:t>penjualan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lebih</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efisien</a:t>
            </a:r>
            <a:r>
              <a:rPr lang="en-US" sz="1200" dirty="0">
                <a:solidFill>
                  <a:srgbClr val="1E2761"/>
                </a:solidFill>
                <a:latin typeface="Cambria" pitchFamily="34" charset="0"/>
                <a:ea typeface="Cambria" pitchFamily="34" charset="-122"/>
                <a:cs typeface="Cambria" pitchFamily="34" charset="-120"/>
              </a:rPr>
              <a:t>. </a:t>
            </a:r>
          </a:p>
          <a:p>
            <a:pPr algn="just"/>
            <a:r>
              <a:rPr lang="en-US" sz="1200" dirty="0">
                <a:solidFill>
                  <a:srgbClr val="1E2761"/>
                </a:solidFill>
                <a:latin typeface="Cambria" pitchFamily="34" charset="0"/>
                <a:ea typeface="Cambria" pitchFamily="34" charset="-122"/>
                <a:cs typeface="Cambria" pitchFamily="34" charset="-120"/>
              </a:rPr>
              <a:t>Hasil: Fruits and Vegetables </a:t>
            </a:r>
            <a:r>
              <a:rPr lang="en-US" sz="1200" dirty="0" err="1">
                <a:solidFill>
                  <a:srgbClr val="1E2761"/>
                </a:solidFill>
                <a:latin typeface="Cambria" pitchFamily="34" charset="0"/>
                <a:ea typeface="Cambria" pitchFamily="34" charset="-122"/>
                <a:cs typeface="Cambria" pitchFamily="34" charset="-120"/>
              </a:rPr>
              <a:t>mendominasi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omzet</a:t>
            </a:r>
            <a:r>
              <a:rPr lang="en-US" sz="1200" dirty="0">
                <a:solidFill>
                  <a:srgbClr val="1E2761"/>
                </a:solidFill>
                <a:latin typeface="Cambria" pitchFamily="34" charset="0"/>
                <a:ea typeface="Cambria" pitchFamily="34" charset="-122"/>
                <a:cs typeface="Cambria" pitchFamily="34" charset="-120"/>
              </a:rPr>
              <a:t> total, </a:t>
            </a:r>
            <a:r>
              <a:rPr lang="en-US" sz="1200" dirty="0" err="1">
                <a:solidFill>
                  <a:srgbClr val="1E2761"/>
                </a:solidFill>
                <a:latin typeface="Cambria" pitchFamily="34" charset="0"/>
                <a:ea typeface="Cambria" pitchFamily="34" charset="-122"/>
                <a:cs typeface="Cambria" pitchFamily="34" charset="-120"/>
              </a:rPr>
              <a:t>sementara</a:t>
            </a:r>
            <a:r>
              <a:rPr lang="en-US" sz="1200" dirty="0">
                <a:solidFill>
                  <a:srgbClr val="1E2761"/>
                </a:solidFill>
                <a:latin typeface="Cambria" pitchFamily="34" charset="0"/>
                <a:ea typeface="Cambria" pitchFamily="34" charset="-122"/>
                <a:cs typeface="Cambria" pitchFamily="34" charset="-120"/>
              </a:rPr>
              <a:t> Starchy Foods </a:t>
            </a:r>
            <a:r>
              <a:rPr lang="en-US" sz="1200" dirty="0" err="1">
                <a:solidFill>
                  <a:srgbClr val="1E2761"/>
                </a:solidFill>
                <a:latin typeface="Cambria" pitchFamily="34" charset="0"/>
                <a:ea typeface="Cambria" pitchFamily="34" charset="-122"/>
                <a:cs typeface="Cambria" pitchFamily="34" charset="-120"/>
              </a:rPr>
              <a:t>mencatatkan</a:t>
            </a:r>
            <a:r>
              <a:rPr lang="en-US" sz="1200" dirty="0">
                <a:solidFill>
                  <a:srgbClr val="1E2761"/>
                </a:solidFill>
                <a:latin typeface="Cambria" pitchFamily="34" charset="0"/>
                <a:ea typeface="Cambria" pitchFamily="34" charset="-122"/>
                <a:cs typeface="Cambria" pitchFamily="34" charset="-120"/>
              </a:rPr>
              <a:t> rata-rata </a:t>
            </a:r>
            <a:r>
              <a:rPr lang="en-US" sz="1200" dirty="0" err="1">
                <a:solidFill>
                  <a:srgbClr val="1E2761"/>
                </a:solidFill>
                <a:latin typeface="Cambria" pitchFamily="34" charset="0"/>
                <a:ea typeface="Cambria" pitchFamily="34" charset="-122"/>
                <a:cs typeface="Cambria" pitchFamily="34" charset="-120"/>
              </a:rPr>
              <a:t>penjualan</a:t>
            </a:r>
            <a:r>
              <a:rPr lang="en-US" sz="1200" dirty="0">
                <a:solidFill>
                  <a:srgbClr val="1E2761"/>
                </a:solidFill>
                <a:latin typeface="Cambria" pitchFamily="34" charset="0"/>
                <a:ea typeface="Cambria" pitchFamily="34" charset="-122"/>
                <a:cs typeface="Cambria" pitchFamily="34" charset="-120"/>
              </a:rPr>
              <a:t> per </a:t>
            </a:r>
            <a:r>
              <a:rPr lang="en-US" sz="1200" dirty="0" err="1">
                <a:solidFill>
                  <a:srgbClr val="1E2761"/>
                </a:solidFill>
                <a:latin typeface="Cambria" pitchFamily="34" charset="0"/>
                <a:ea typeface="Cambria" pitchFamily="34" charset="-122"/>
                <a:cs typeface="Cambria" pitchFamily="34" charset="-120"/>
              </a:rPr>
              <a:t>produk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tertinggi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Visibilitas</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rak</a:t>
            </a:r>
            <a:r>
              <a:rPr lang="en-US" sz="1200" dirty="0">
                <a:solidFill>
                  <a:srgbClr val="1E2761"/>
                </a:solidFill>
                <a:latin typeface="Cambria" pitchFamily="34" charset="0"/>
                <a:ea typeface="Cambria" pitchFamily="34" charset="-122"/>
                <a:cs typeface="Cambria" pitchFamily="34" charset="-120"/>
              </a:rPr>
              <a:t> yang </a:t>
            </a:r>
            <a:r>
              <a:rPr lang="en-US" sz="1200" dirty="0" err="1">
                <a:solidFill>
                  <a:srgbClr val="1E2761"/>
                </a:solidFill>
                <a:latin typeface="Cambria" pitchFamily="34" charset="0"/>
                <a:ea typeface="Cambria" pitchFamily="34" charset="-122"/>
                <a:cs typeface="Cambria" pitchFamily="34" charset="-120"/>
              </a:rPr>
              <a:t>luas</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tidak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menjamin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tingginya</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penjualan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tanpa</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permintaan</a:t>
            </a:r>
            <a:r>
              <a:rPr lang="en-US" sz="1200" dirty="0">
                <a:solidFill>
                  <a:srgbClr val="1E2761"/>
                </a:solidFill>
                <a:latin typeface="Cambria" pitchFamily="34" charset="0"/>
                <a:ea typeface="Cambria" pitchFamily="34" charset="-122"/>
                <a:cs typeface="Cambria" pitchFamily="34" charset="-120"/>
              </a:rPr>
              <a:t> pasar. </a:t>
            </a:r>
          </a:p>
          <a:p>
            <a:pPr algn="just"/>
            <a:endParaRPr lang="en-US" sz="1200" dirty="0">
              <a:solidFill>
                <a:srgbClr val="1E2761"/>
              </a:solidFill>
              <a:latin typeface="Cambria" pitchFamily="34" charset="0"/>
              <a:ea typeface="Cambria" pitchFamily="34" charset="-122"/>
              <a:cs typeface="Cambria" pitchFamily="34" charset="-120"/>
            </a:endParaRPr>
          </a:p>
          <a:p>
            <a:pPr algn="just"/>
            <a:r>
              <a:rPr lang="en-US" sz="1400" b="1" dirty="0">
                <a:solidFill>
                  <a:srgbClr val="1E2761"/>
                </a:solidFill>
                <a:latin typeface="Cambria" pitchFamily="34" charset="0"/>
                <a:ea typeface="Cambria" pitchFamily="34" charset="-122"/>
                <a:cs typeface="Cambria" pitchFamily="34" charset="-120"/>
              </a:rPr>
              <a:t>6. </a:t>
            </a:r>
            <a:r>
              <a:rPr lang="en-US" sz="1400" b="1" dirty="0" err="1">
                <a:solidFill>
                  <a:srgbClr val="1E2761"/>
                </a:solidFill>
                <a:latin typeface="Cambria" pitchFamily="34" charset="0"/>
                <a:ea typeface="Cambria" pitchFamily="34" charset="-122"/>
                <a:cs typeface="Cambria" pitchFamily="34" charset="-120"/>
              </a:rPr>
              <a:t>Analisis</a:t>
            </a:r>
            <a:r>
              <a:rPr lang="en-US" sz="1400" b="1" dirty="0">
                <a:solidFill>
                  <a:srgbClr val="1E2761"/>
                </a:solidFill>
                <a:latin typeface="Cambria" pitchFamily="34" charset="0"/>
                <a:ea typeface="Cambria" pitchFamily="34" charset="-122"/>
                <a:cs typeface="Cambria" pitchFamily="34" charset="-120"/>
              </a:rPr>
              <a:t> </a:t>
            </a:r>
            <a:r>
              <a:rPr lang="en-US" sz="1400" b="1" dirty="0" err="1">
                <a:solidFill>
                  <a:srgbClr val="1E2761"/>
                </a:solidFill>
                <a:latin typeface="Cambria" pitchFamily="34" charset="0"/>
                <a:ea typeface="Cambria" pitchFamily="34" charset="-122"/>
                <a:cs typeface="Cambria" pitchFamily="34" charset="-120"/>
              </a:rPr>
              <a:t>Biaya</a:t>
            </a:r>
            <a:r>
              <a:rPr lang="en-US" sz="1400" b="1" dirty="0">
                <a:solidFill>
                  <a:srgbClr val="1E2761"/>
                </a:solidFill>
                <a:latin typeface="Cambria" pitchFamily="34" charset="0"/>
                <a:ea typeface="Cambria" pitchFamily="34" charset="-122"/>
                <a:cs typeface="Cambria" pitchFamily="34" charset="-120"/>
              </a:rPr>
              <a:t> </a:t>
            </a:r>
            <a:r>
              <a:rPr lang="en-US" sz="1400" b="1" dirty="0" err="1">
                <a:solidFill>
                  <a:srgbClr val="1E2761"/>
                </a:solidFill>
                <a:latin typeface="Cambria" pitchFamily="34" charset="0"/>
                <a:ea typeface="Cambria" pitchFamily="34" charset="-122"/>
                <a:cs typeface="Cambria" pitchFamily="34" charset="-120"/>
              </a:rPr>
              <a:t>Pengiriman</a:t>
            </a:r>
            <a:r>
              <a:rPr lang="en-US" sz="1400" b="1" dirty="0">
                <a:solidFill>
                  <a:srgbClr val="1E2761"/>
                </a:solidFill>
                <a:latin typeface="Cambria" pitchFamily="34" charset="0"/>
                <a:ea typeface="Cambria" pitchFamily="34" charset="-122"/>
                <a:cs typeface="Cambria" pitchFamily="34" charset="-120"/>
              </a:rPr>
              <a:t> E-Commerce (</a:t>
            </a:r>
            <a:r>
              <a:rPr lang="en-US" sz="1400" b="1" dirty="0" err="1">
                <a:solidFill>
                  <a:srgbClr val="1E2761"/>
                </a:solidFill>
                <a:latin typeface="Cambria" pitchFamily="34" charset="0"/>
                <a:ea typeface="Cambria" pitchFamily="34" charset="-122"/>
                <a:cs typeface="Cambria" pitchFamily="34" charset="-120"/>
              </a:rPr>
              <a:t>Olist</a:t>
            </a:r>
            <a:r>
              <a:rPr lang="en-US" sz="1400" b="1" dirty="0">
                <a:solidFill>
                  <a:srgbClr val="1E2761"/>
                </a:solidFill>
                <a:latin typeface="Cambria" pitchFamily="34" charset="0"/>
                <a:ea typeface="Cambria" pitchFamily="34" charset="-122"/>
                <a:cs typeface="Cambria" pitchFamily="34" charset="-120"/>
              </a:rPr>
              <a:t> Logistics)</a:t>
            </a:r>
          </a:p>
          <a:p>
            <a:pPr algn="just"/>
            <a:r>
              <a:rPr lang="en-US" sz="1200" dirty="0" err="1">
                <a:solidFill>
                  <a:srgbClr val="1E2761"/>
                </a:solidFill>
                <a:latin typeface="Cambria" pitchFamily="34" charset="0"/>
                <a:ea typeface="Cambria" pitchFamily="34" charset="-122"/>
                <a:cs typeface="Cambria" pitchFamily="34" charset="-120"/>
              </a:rPr>
              <a:t>Deskripsi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Analisis</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logistik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menggunakan</a:t>
            </a:r>
            <a:r>
              <a:rPr lang="en-US" sz="1200" dirty="0">
                <a:solidFill>
                  <a:srgbClr val="1E2761"/>
                </a:solidFill>
                <a:latin typeface="Cambria" pitchFamily="34" charset="0"/>
                <a:ea typeface="Cambria" pitchFamily="34" charset="-122"/>
                <a:cs typeface="Cambria" pitchFamily="34" charset="-120"/>
              </a:rPr>
              <a:t> PostgreSQL </a:t>
            </a:r>
            <a:r>
              <a:rPr lang="en-US" sz="1200" dirty="0" err="1">
                <a:solidFill>
                  <a:srgbClr val="1E2761"/>
                </a:solidFill>
                <a:latin typeface="Cambria" pitchFamily="34" charset="0"/>
                <a:ea typeface="Cambria" pitchFamily="34" charset="-122"/>
                <a:cs typeface="Cambria" pitchFamily="34" charset="-120"/>
              </a:rPr>
              <a:t>untuk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menekan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pembengkakan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ongkir</a:t>
            </a:r>
            <a:r>
              <a:rPr lang="en-US" sz="1200" dirty="0">
                <a:solidFill>
                  <a:srgbClr val="1E2761"/>
                </a:solidFill>
                <a:latin typeface="Cambria" pitchFamily="34" charset="0"/>
                <a:ea typeface="Cambria" pitchFamily="34" charset="-122"/>
                <a:cs typeface="Cambria" pitchFamily="34" charset="-120"/>
              </a:rPr>
              <a:t> di wilayah </a:t>
            </a:r>
            <a:r>
              <a:rPr lang="en-US" sz="1200" dirty="0" err="1">
                <a:solidFill>
                  <a:srgbClr val="1E2761"/>
                </a:solidFill>
                <a:latin typeface="Cambria" pitchFamily="34" charset="0"/>
                <a:ea typeface="Cambria" pitchFamily="34" charset="-122"/>
                <a:cs typeface="Cambria" pitchFamily="34" charset="-120"/>
              </a:rPr>
              <a:t>terpencil</a:t>
            </a:r>
            <a:r>
              <a:rPr lang="en-US" sz="1200" dirty="0">
                <a:solidFill>
                  <a:srgbClr val="1E2761"/>
                </a:solidFill>
                <a:latin typeface="Cambria" pitchFamily="34" charset="0"/>
                <a:ea typeface="Cambria" pitchFamily="34" charset="-122"/>
                <a:cs typeface="Cambria" pitchFamily="34" charset="-120"/>
              </a:rPr>
              <a:t>. </a:t>
            </a:r>
          </a:p>
          <a:p>
            <a:pPr algn="just"/>
            <a:r>
              <a:rPr lang="en-US" sz="1200" dirty="0">
                <a:solidFill>
                  <a:srgbClr val="1E2761"/>
                </a:solidFill>
                <a:latin typeface="Cambria" pitchFamily="34" charset="0"/>
                <a:ea typeface="Cambria" pitchFamily="34" charset="-122"/>
                <a:cs typeface="Cambria" pitchFamily="34" charset="-120"/>
              </a:rPr>
              <a:t>Tujuan: </a:t>
            </a:r>
            <a:r>
              <a:rPr lang="en-US" sz="1200" dirty="0" err="1">
                <a:solidFill>
                  <a:srgbClr val="1E2761"/>
                </a:solidFill>
                <a:latin typeface="Cambria" pitchFamily="34" charset="0"/>
                <a:ea typeface="Cambria" pitchFamily="34" charset="-122"/>
                <a:cs typeface="Cambria" pitchFamily="34" charset="-120"/>
              </a:rPr>
              <a:t>Mengisolasi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penyebab</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ongkir</a:t>
            </a:r>
            <a:r>
              <a:rPr lang="en-US" sz="1200" dirty="0">
                <a:solidFill>
                  <a:srgbClr val="1E2761"/>
                </a:solidFill>
                <a:latin typeface="Cambria" pitchFamily="34" charset="0"/>
                <a:ea typeface="Cambria" pitchFamily="34" charset="-122"/>
                <a:cs typeface="Cambria" pitchFamily="34" charset="-120"/>
              </a:rPr>
              <a:t> mahal dan </a:t>
            </a:r>
            <a:r>
              <a:rPr lang="en-US" sz="1200" dirty="0" err="1">
                <a:solidFill>
                  <a:srgbClr val="1E2761"/>
                </a:solidFill>
                <a:latin typeface="Cambria" pitchFamily="34" charset="0"/>
                <a:ea typeface="Cambria" pitchFamily="34" charset="-122"/>
                <a:cs typeface="Cambria" pitchFamily="34" charset="-120"/>
              </a:rPr>
              <a:t>merumuskan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efisiensi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logistik</a:t>
            </a:r>
            <a:r>
              <a:rPr lang="en-US" sz="1200" dirty="0">
                <a:solidFill>
                  <a:srgbClr val="1E2761"/>
                </a:solidFill>
                <a:latin typeface="Cambria" pitchFamily="34" charset="0"/>
                <a:ea typeface="Cambria" pitchFamily="34" charset="-122"/>
                <a:cs typeface="Cambria" pitchFamily="34" charset="-120"/>
              </a:rPr>
              <a:t>. </a:t>
            </a:r>
          </a:p>
          <a:p>
            <a:pPr algn="just"/>
            <a:r>
              <a:rPr lang="en-US" sz="1200" dirty="0">
                <a:solidFill>
                  <a:srgbClr val="1E2761"/>
                </a:solidFill>
                <a:latin typeface="Cambria" pitchFamily="34" charset="0"/>
                <a:ea typeface="Cambria" pitchFamily="34" charset="-122"/>
                <a:cs typeface="Cambria" pitchFamily="34" charset="-120"/>
              </a:rPr>
              <a:t>Hasil: </a:t>
            </a:r>
            <a:r>
              <a:rPr lang="en-US" sz="1200" dirty="0" err="1">
                <a:solidFill>
                  <a:srgbClr val="1E2761"/>
                </a:solidFill>
                <a:latin typeface="Cambria" pitchFamily="34" charset="0"/>
                <a:ea typeface="Cambria" pitchFamily="34" charset="-122"/>
                <a:cs typeface="Cambria" pitchFamily="34" charset="-120"/>
              </a:rPr>
              <a:t>Masalah</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ongkir</a:t>
            </a:r>
            <a:r>
              <a:rPr lang="en-US" sz="1200" dirty="0">
                <a:solidFill>
                  <a:srgbClr val="1E2761"/>
                </a:solidFill>
                <a:latin typeface="Cambria" pitchFamily="34" charset="0"/>
                <a:ea typeface="Cambria" pitchFamily="34" charset="-122"/>
                <a:cs typeface="Cambria" pitchFamily="34" charset="-120"/>
              </a:rPr>
              <a:t> mahal </a:t>
            </a:r>
            <a:r>
              <a:rPr lang="en-US" sz="1200" dirty="0" err="1">
                <a:solidFill>
                  <a:srgbClr val="1E2761"/>
                </a:solidFill>
                <a:latin typeface="Cambria" pitchFamily="34" charset="0"/>
                <a:ea typeface="Cambria" pitchFamily="34" charset="-122"/>
                <a:cs typeface="Cambria" pitchFamily="34" charset="-120"/>
              </a:rPr>
              <a:t>bersifat</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terisolasi</a:t>
            </a:r>
            <a:r>
              <a:rPr lang="en-US" sz="1200" dirty="0">
                <a:solidFill>
                  <a:srgbClr val="1E2761"/>
                </a:solidFill>
                <a:latin typeface="Cambria" pitchFamily="34" charset="0"/>
                <a:ea typeface="Cambria" pitchFamily="34" charset="-122"/>
                <a:cs typeface="Cambria" pitchFamily="34" charset="-120"/>
              </a:rPr>
              <a:t> (~10% </a:t>
            </a:r>
            <a:r>
              <a:rPr lang="en-US" sz="1200" dirty="0" err="1">
                <a:solidFill>
                  <a:srgbClr val="1E2761"/>
                </a:solidFill>
                <a:latin typeface="Cambria" pitchFamily="34" charset="0"/>
                <a:ea typeface="Cambria" pitchFamily="34" charset="-122"/>
                <a:cs typeface="Cambria" pitchFamily="34" charset="-120"/>
              </a:rPr>
              <a:t>transaksi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terparah</a:t>
            </a:r>
            <a:r>
              <a:rPr lang="en-US" sz="1200" dirty="0">
                <a:solidFill>
                  <a:srgbClr val="1E2761"/>
                </a:solidFill>
                <a:latin typeface="Cambria" pitchFamily="34" charset="0"/>
                <a:ea typeface="Cambria" pitchFamily="34" charset="-122"/>
                <a:cs typeface="Cambria" pitchFamily="34" charset="-120"/>
              </a:rPr>
              <a:t> di Rondônia). </a:t>
            </a:r>
            <a:r>
              <a:rPr lang="en-US" sz="1200" dirty="0" err="1">
                <a:solidFill>
                  <a:srgbClr val="1E2761"/>
                </a:solidFill>
                <a:latin typeface="Cambria" pitchFamily="34" charset="0"/>
                <a:ea typeface="Cambria" pitchFamily="34" charset="-122"/>
                <a:cs typeface="Cambria" pitchFamily="34" charset="-120"/>
              </a:rPr>
              <a:t>Analisis</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membuktikan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ongkir</a:t>
            </a:r>
            <a:r>
              <a:rPr lang="en-US" sz="1200" dirty="0">
                <a:solidFill>
                  <a:srgbClr val="1E2761"/>
                </a:solidFill>
                <a:latin typeface="Cambria" pitchFamily="34" charset="0"/>
                <a:ea typeface="Cambria" pitchFamily="34" charset="-122"/>
                <a:cs typeface="Cambria" pitchFamily="34" charset="-120"/>
              </a:rPr>
              <a:t> mahal </a:t>
            </a:r>
            <a:r>
              <a:rPr lang="en-US" sz="1200" dirty="0" err="1">
                <a:solidFill>
                  <a:srgbClr val="1E2761"/>
                </a:solidFill>
                <a:latin typeface="Cambria" pitchFamily="34" charset="0"/>
                <a:ea typeface="Cambria" pitchFamily="34" charset="-122"/>
                <a:cs typeface="Cambria" pitchFamily="34" charset="-120"/>
              </a:rPr>
              <a:t>dipicu</a:t>
            </a:r>
            <a:r>
              <a:rPr lang="en-US" sz="1200" dirty="0">
                <a:solidFill>
                  <a:srgbClr val="1E2761"/>
                </a:solidFill>
                <a:latin typeface="Cambria" pitchFamily="34" charset="0"/>
                <a:ea typeface="Cambria" pitchFamily="34" charset="-122"/>
                <a:cs typeface="Cambria" pitchFamily="34" charset="-120"/>
              </a:rPr>
              <a:t> oleh </a:t>
            </a:r>
            <a:r>
              <a:rPr lang="en-US" sz="1200" dirty="0" err="1">
                <a:solidFill>
                  <a:srgbClr val="1E2761"/>
                </a:solidFill>
                <a:latin typeface="Cambria" pitchFamily="34" charset="0"/>
                <a:ea typeface="Cambria" pitchFamily="34" charset="-122"/>
                <a:cs typeface="Cambria" pitchFamily="34" charset="-120"/>
              </a:rPr>
              <a:t>jarak</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distribusi</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bukan</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berat</a:t>
            </a:r>
            <a:r>
              <a:rPr lang="en-US" sz="1200" dirty="0">
                <a:solidFill>
                  <a:srgbClr val="1E2761"/>
                </a:solidFill>
                <a:latin typeface="Cambria" pitchFamily="34" charset="0"/>
                <a:ea typeface="Cambria" pitchFamily="34" charset="-122"/>
                <a:cs typeface="Cambria" pitchFamily="34" charset="-120"/>
              </a:rPr>
              <a:t> </a:t>
            </a:r>
            <a:r>
              <a:rPr lang="en-US" sz="1200" dirty="0" err="1">
                <a:solidFill>
                  <a:srgbClr val="1E2761"/>
                </a:solidFill>
                <a:latin typeface="Cambria" pitchFamily="34" charset="0"/>
                <a:ea typeface="Cambria" pitchFamily="34" charset="-122"/>
                <a:cs typeface="Cambria" pitchFamily="34" charset="-120"/>
              </a:rPr>
              <a:t>barang</a:t>
            </a:r>
            <a:r>
              <a:rPr lang="en-US" sz="1200" dirty="0">
                <a:solidFill>
                  <a:srgbClr val="1E2761"/>
                </a:solidFill>
                <a:latin typeface="Cambria" pitchFamily="34" charset="0"/>
                <a:ea typeface="Cambria" pitchFamily="34" charset="-122"/>
                <a:cs typeface="Cambria" pitchFamily="34" charset="-120"/>
              </a:rPr>
              <a:t>. </a:t>
            </a:r>
          </a:p>
          <a:p>
            <a:pPr algn="just"/>
            <a:endParaRPr lang="en-US" sz="1200" dirty="0">
              <a:solidFill>
                <a:srgbClr val="1E2761"/>
              </a:solidFill>
              <a:latin typeface="Cambria" pitchFamily="34" charset="0"/>
              <a:ea typeface="Cambria" pitchFamily="34" charset="-122"/>
              <a:cs typeface="Cambria" pitchFamily="34" charset="-120"/>
            </a:endParaRPr>
          </a:p>
          <a:p>
            <a:pPr algn="just"/>
            <a:endParaRPr lang="en-US" sz="2400" b="1" dirty="0">
              <a:solidFill>
                <a:srgbClr val="1E2761"/>
              </a:solidFill>
              <a:latin typeface="Cambria" pitchFamily="34" charset="0"/>
              <a:ea typeface="Cambria" pitchFamily="34" charset="-122"/>
              <a:cs typeface="Cambria" pitchFamily="34" charset="-120"/>
            </a:endParaRPr>
          </a:p>
        </p:txBody>
      </p:sp>
    </p:spTree>
    <p:extLst>
      <p:ext uri="{BB962C8B-B14F-4D97-AF65-F5344CB8AC3E}">
        <p14:creationId xmlns:p14="http://schemas.microsoft.com/office/powerpoint/2010/main" val="3382681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63144"/>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Problem Statement</a:t>
            </a:r>
            <a:endParaRPr lang="en-US" sz="2800" dirty="0"/>
          </a:p>
        </p:txBody>
      </p:sp>
      <p:sp>
        <p:nvSpPr>
          <p:cNvPr id="3" name="Shape 1"/>
          <p:cNvSpPr/>
          <p:nvPr/>
        </p:nvSpPr>
        <p:spPr>
          <a:xfrm>
            <a:off x="548640" y="631373"/>
            <a:ext cx="777240" cy="777240"/>
          </a:xfrm>
          <a:prstGeom prst="ellipse">
            <a:avLst/>
          </a:prstGeom>
          <a:solidFill>
            <a:srgbClr val="1E2761"/>
          </a:solidFill>
          <a:ln/>
        </p:spPr>
      </p:sp>
      <p:pic>
        <p:nvPicPr>
          <p:cNvPr id="4" name="Image 0" descr="icon_question.png"/>
          <p:cNvPicPr>
            <a:picLocks noChangeAspect="1"/>
          </p:cNvPicPr>
          <p:nvPr/>
        </p:nvPicPr>
        <p:blipFill>
          <a:blip r:embed="rId3"/>
          <a:stretch>
            <a:fillRect/>
          </a:stretch>
        </p:blipFill>
        <p:spPr>
          <a:xfrm>
            <a:off x="723519" y="806252"/>
            <a:ext cx="427482" cy="427482"/>
          </a:xfrm>
          <a:prstGeom prst="rect">
            <a:avLst/>
          </a:prstGeom>
        </p:spPr>
      </p:pic>
      <p:sp>
        <p:nvSpPr>
          <p:cNvPr id="5" name="Text 2"/>
          <p:cNvSpPr/>
          <p:nvPr/>
        </p:nvSpPr>
        <p:spPr>
          <a:xfrm>
            <a:off x="1508759" y="631373"/>
            <a:ext cx="7562669" cy="777240"/>
          </a:xfrm>
          <a:prstGeom prst="rect">
            <a:avLst/>
          </a:prstGeom>
          <a:noFill/>
          <a:ln/>
        </p:spPr>
        <p:txBody>
          <a:bodyPr wrap="square" rtlCol="0" anchor="ctr"/>
          <a:lstStyle/>
          <a:p>
            <a:r>
              <a:rPr lang="sv-SE" sz="2400" b="1" dirty="0">
                <a:solidFill>
                  <a:srgbClr val="1E2761"/>
                </a:solidFill>
                <a:latin typeface="Cambria" pitchFamily="34" charset="0"/>
                <a:ea typeface="Cambria" pitchFamily="34" charset="-122"/>
                <a:cs typeface="Cambria" pitchFamily="34" charset="-120"/>
              </a:rPr>
              <a:t>Market Basket Analysis: Menggali Pola Pembelian Konsumen untuk Meningkatkan Penjualan Ritel</a:t>
            </a:r>
            <a:endParaRPr lang="en-US" sz="2400" b="1" dirty="0">
              <a:solidFill>
                <a:srgbClr val="1E2761"/>
              </a:solidFill>
              <a:latin typeface="Cambria" pitchFamily="34" charset="0"/>
              <a:ea typeface="Cambria" pitchFamily="34" charset="-122"/>
              <a:cs typeface="Cambria" pitchFamily="34" charset="-120"/>
            </a:endParaRPr>
          </a:p>
        </p:txBody>
      </p:sp>
      <p:sp>
        <p:nvSpPr>
          <p:cNvPr id="6" name="Shape 3"/>
          <p:cNvSpPr/>
          <p:nvPr/>
        </p:nvSpPr>
        <p:spPr>
          <a:xfrm>
            <a:off x="209996" y="1565362"/>
            <a:ext cx="5450572" cy="5064038"/>
          </a:xfrm>
          <a:prstGeom prst="roundRect">
            <a:avLst>
              <a:gd name="adj" fmla="val 6250"/>
            </a:avLst>
          </a:prstGeom>
          <a:solidFill>
            <a:srgbClr val="1E2761"/>
          </a:solidFill>
          <a:ln/>
        </p:spPr>
      </p:sp>
      <p:sp>
        <p:nvSpPr>
          <p:cNvPr id="7" name="Text 4"/>
          <p:cNvSpPr/>
          <p:nvPr/>
        </p:nvSpPr>
        <p:spPr>
          <a:xfrm>
            <a:off x="209996" y="2039496"/>
            <a:ext cx="5450572" cy="4187131"/>
          </a:xfrm>
          <a:prstGeom prst="rect">
            <a:avLst/>
          </a:prstGeom>
          <a:noFill/>
          <a:ln/>
        </p:spPr>
        <p:txBody>
          <a:bodyPr wrap="square" rtlCol="0" anchor="ctr"/>
          <a:lstStyle/>
          <a:p>
            <a:pPr algn="ctr"/>
            <a:r>
              <a:rPr lang="en-ID" sz="1600" dirty="0" err="1"/>
              <a:t>Berdasarkan</a:t>
            </a:r>
            <a:r>
              <a:rPr lang="en-ID" sz="1600" dirty="0"/>
              <a:t> </a:t>
            </a:r>
            <a:r>
              <a:rPr lang="en-ID" sz="1600" dirty="0" err="1"/>
              <a:t>studi</a:t>
            </a:r>
            <a:r>
              <a:rPr lang="en-ID" sz="1600" dirty="0"/>
              <a:t> </a:t>
            </a:r>
            <a:r>
              <a:rPr lang="en-ID" sz="1600" dirty="0" err="1"/>
              <a:t>kasus</a:t>
            </a:r>
            <a:r>
              <a:rPr lang="en-ID" sz="1600" dirty="0"/>
              <a:t> di </a:t>
            </a:r>
            <a:r>
              <a:rPr lang="en-ID" sz="1600" dirty="0" err="1"/>
              <a:t>industri</a:t>
            </a:r>
            <a:r>
              <a:rPr lang="en-ID" sz="1600" dirty="0"/>
              <a:t> </a:t>
            </a:r>
            <a:r>
              <a:rPr lang="en-ID" sz="1600" dirty="0" err="1"/>
              <a:t>ritel</a:t>
            </a:r>
            <a:r>
              <a:rPr lang="en-ID" sz="1600" dirty="0"/>
              <a:t> dunia </a:t>
            </a:r>
            <a:r>
              <a:rPr lang="en-ID" sz="1600" dirty="0" err="1"/>
              <a:t>nyata</a:t>
            </a:r>
            <a:r>
              <a:rPr lang="en-ID" sz="1600" dirty="0"/>
              <a:t>, area </a:t>
            </a:r>
            <a:r>
              <a:rPr lang="en-ID" sz="1600" dirty="0" err="1"/>
              <a:t>kasir</a:t>
            </a:r>
            <a:r>
              <a:rPr lang="en-ID" sz="1600" dirty="0"/>
              <a:t> </a:t>
            </a:r>
            <a:r>
              <a:rPr lang="en-ID" sz="1600" dirty="0" err="1"/>
              <a:t>terbukti</a:t>
            </a:r>
            <a:r>
              <a:rPr lang="en-ID" sz="1600" dirty="0"/>
              <a:t> </a:t>
            </a:r>
            <a:r>
              <a:rPr lang="en-ID" sz="1600" dirty="0" err="1"/>
              <a:t>menjadi</a:t>
            </a:r>
            <a:r>
              <a:rPr lang="en-ID" sz="1600" dirty="0"/>
              <a:t> </a:t>
            </a:r>
            <a:r>
              <a:rPr lang="en-ID" sz="1600" dirty="0" err="1"/>
              <a:t>titik</a:t>
            </a:r>
            <a:r>
              <a:rPr lang="en-ID" sz="1600" dirty="0"/>
              <a:t> 'Impulse Buying' paling </a:t>
            </a:r>
            <a:r>
              <a:rPr lang="en-ID" sz="1600" dirty="0" err="1"/>
              <a:t>krusial</a:t>
            </a:r>
            <a:r>
              <a:rPr lang="en-ID" sz="1600" dirty="0"/>
              <a:t>. </a:t>
            </a:r>
            <a:r>
              <a:rPr lang="en-ID" sz="1600" dirty="0" err="1"/>
              <a:t>Jaringan</a:t>
            </a:r>
            <a:r>
              <a:rPr lang="en-ID" sz="1600" dirty="0"/>
              <a:t> </a:t>
            </a:r>
            <a:r>
              <a:rPr lang="en-ID" sz="1600" dirty="0" err="1"/>
              <a:t>ritel</a:t>
            </a:r>
            <a:r>
              <a:rPr lang="en-ID" sz="1600" dirty="0"/>
              <a:t> </a:t>
            </a:r>
            <a:r>
              <a:rPr lang="en-ID" sz="1600" dirty="0" err="1"/>
              <a:t>besar</a:t>
            </a:r>
            <a:r>
              <a:rPr lang="en-ID" sz="1600" dirty="0"/>
              <a:t> dan data </a:t>
            </a:r>
            <a:r>
              <a:rPr lang="en-ID" sz="1600" dirty="0" err="1"/>
              <a:t>dari</a:t>
            </a:r>
            <a:r>
              <a:rPr lang="en-ID" sz="1600" dirty="0"/>
              <a:t> National Association of Convenience Stores (NACS) </a:t>
            </a:r>
            <a:r>
              <a:rPr lang="en-ID" sz="1600" dirty="0" err="1"/>
              <a:t>menunjukkan</a:t>
            </a:r>
            <a:r>
              <a:rPr lang="en-ID" sz="1600" dirty="0"/>
              <a:t> </a:t>
            </a:r>
            <a:r>
              <a:rPr lang="en-ID" sz="1600" dirty="0" err="1"/>
              <a:t>bahwa</a:t>
            </a:r>
            <a:r>
              <a:rPr lang="en-ID" sz="1600" dirty="0"/>
              <a:t> </a:t>
            </a:r>
            <a:r>
              <a:rPr lang="en-ID" sz="1600" dirty="0" err="1"/>
              <a:t>penempatan</a:t>
            </a:r>
            <a:r>
              <a:rPr lang="en-ID" sz="1600" dirty="0"/>
              <a:t> </a:t>
            </a:r>
            <a:r>
              <a:rPr lang="en-ID" sz="1600" dirty="0" err="1"/>
              <a:t>produk</a:t>
            </a:r>
            <a:r>
              <a:rPr lang="en-ID" sz="1600" dirty="0"/>
              <a:t> </a:t>
            </a:r>
            <a:r>
              <a:rPr lang="en-ID" sz="1600" dirty="0" err="1"/>
              <a:t>komplementer</a:t>
            </a:r>
            <a:r>
              <a:rPr lang="en-ID" sz="1600" dirty="0"/>
              <a:t> </a:t>
            </a:r>
            <a:r>
              <a:rPr lang="en-ID" sz="1600" dirty="0" err="1"/>
              <a:t>berskala</a:t>
            </a:r>
            <a:r>
              <a:rPr lang="en-ID" sz="1600" dirty="0"/>
              <a:t> </a:t>
            </a:r>
            <a:r>
              <a:rPr lang="en-ID" sz="1600" dirty="0" err="1"/>
              <a:t>kecil</a:t>
            </a:r>
            <a:r>
              <a:rPr lang="en-ID" sz="1600" dirty="0"/>
              <a:t> di area </a:t>
            </a:r>
            <a:r>
              <a:rPr lang="en-ID" sz="1600" dirty="0" err="1"/>
              <a:t>antrean</a:t>
            </a:r>
            <a:r>
              <a:rPr lang="en-ID" sz="1600" dirty="0"/>
              <a:t> </a:t>
            </a:r>
            <a:r>
              <a:rPr lang="en-ID" sz="1600" dirty="0" err="1"/>
              <a:t>kasir</a:t>
            </a:r>
            <a:r>
              <a:rPr lang="en-ID" sz="1600" dirty="0"/>
              <a:t> </a:t>
            </a:r>
            <a:r>
              <a:rPr lang="en-ID" sz="1600" dirty="0" err="1"/>
              <a:t>adalah</a:t>
            </a:r>
            <a:r>
              <a:rPr lang="en-ID" sz="1600" dirty="0"/>
              <a:t> </a:t>
            </a:r>
            <a:r>
              <a:rPr lang="en-ID" sz="1600" dirty="0" err="1"/>
              <a:t>cara</a:t>
            </a:r>
            <a:r>
              <a:rPr lang="en-ID" sz="1600" dirty="0"/>
              <a:t> paling minim </a:t>
            </a:r>
            <a:r>
              <a:rPr lang="en-ID" sz="1600" dirty="0" err="1"/>
              <a:t>risiko</a:t>
            </a:r>
            <a:r>
              <a:rPr lang="en-ID" sz="1600" dirty="0"/>
              <a:t> </a:t>
            </a:r>
            <a:r>
              <a:rPr lang="en-ID" sz="1600" dirty="0" err="1"/>
              <a:t>untuk</a:t>
            </a:r>
            <a:r>
              <a:rPr lang="en-ID" sz="1600" dirty="0"/>
              <a:t> </a:t>
            </a:r>
            <a:r>
              <a:rPr lang="en-ID" sz="1600" dirty="0" err="1"/>
              <a:t>mengonversi</a:t>
            </a:r>
            <a:r>
              <a:rPr lang="en-ID" sz="1600" dirty="0"/>
              <a:t> </a:t>
            </a:r>
            <a:r>
              <a:rPr lang="en-ID" sz="1600" dirty="0" err="1"/>
              <a:t>pelanggan</a:t>
            </a:r>
            <a:r>
              <a:rPr lang="en-ID" sz="1600" dirty="0"/>
              <a:t> yang </a:t>
            </a:r>
            <a:r>
              <a:rPr lang="en-ID" sz="1600" dirty="0" err="1"/>
              <a:t>tadinya</a:t>
            </a:r>
            <a:r>
              <a:rPr lang="en-ID" sz="1600" dirty="0"/>
              <a:t> </a:t>
            </a:r>
            <a:r>
              <a:rPr lang="en-ID" sz="1600" dirty="0" err="1"/>
              <a:t>hanya</a:t>
            </a:r>
            <a:r>
              <a:rPr lang="en-ID" sz="1600" dirty="0"/>
              <a:t> </a:t>
            </a:r>
            <a:r>
              <a:rPr lang="en-ID" sz="1600" dirty="0" err="1"/>
              <a:t>membeli</a:t>
            </a:r>
            <a:r>
              <a:rPr lang="en-ID" sz="1600" dirty="0"/>
              <a:t> 1-2 </a:t>
            </a:r>
            <a:r>
              <a:rPr lang="en-ID" sz="1600" dirty="0" err="1"/>
              <a:t>barang</a:t>
            </a:r>
            <a:r>
              <a:rPr lang="en-ID" sz="1600" dirty="0"/>
              <a:t> </a:t>
            </a:r>
            <a:r>
              <a:rPr lang="en-ID" sz="1600" dirty="0" err="1"/>
              <a:t>menjadi</a:t>
            </a:r>
            <a:r>
              <a:rPr lang="en-ID" sz="1600" dirty="0"/>
              <a:t> 3 </a:t>
            </a:r>
            <a:r>
              <a:rPr lang="en-ID" sz="1600" dirty="0" err="1"/>
              <a:t>barang</a:t>
            </a:r>
            <a:r>
              <a:rPr lang="en-ID" sz="1600" dirty="0"/>
              <a:t>. Strategi </a:t>
            </a:r>
            <a:r>
              <a:rPr lang="en-ID" sz="1600" dirty="0" err="1"/>
              <a:t>inilah</a:t>
            </a:r>
            <a:r>
              <a:rPr lang="en-ID" sz="1600" dirty="0"/>
              <a:t> yang juga </a:t>
            </a:r>
            <a:r>
              <a:rPr lang="en-ID" sz="1600" dirty="0" err="1"/>
              <a:t>sukses</a:t>
            </a:r>
            <a:r>
              <a:rPr lang="en-ID" sz="1600" dirty="0"/>
              <a:t> </a:t>
            </a:r>
            <a:r>
              <a:rPr lang="en-ID" sz="1600" dirty="0" err="1"/>
              <a:t>digunakan</a:t>
            </a:r>
            <a:r>
              <a:rPr lang="en-ID" sz="1600" dirty="0"/>
              <a:t> oleh </a:t>
            </a:r>
            <a:r>
              <a:rPr lang="en-ID" sz="1600" dirty="0" err="1"/>
              <a:t>peritel</a:t>
            </a:r>
            <a:r>
              <a:rPr lang="en-ID" sz="1600" dirty="0"/>
              <a:t> </a:t>
            </a:r>
            <a:r>
              <a:rPr lang="en-ID" sz="1600" dirty="0" err="1"/>
              <a:t>raksasa</a:t>
            </a:r>
            <a:r>
              <a:rPr lang="en-ID" sz="1600" dirty="0"/>
              <a:t> </a:t>
            </a:r>
            <a:r>
              <a:rPr lang="en-ID" sz="1600" dirty="0" err="1"/>
              <a:t>seperti</a:t>
            </a:r>
            <a:r>
              <a:rPr lang="en-ID" sz="1600" dirty="0"/>
              <a:t> Target </a:t>
            </a:r>
            <a:r>
              <a:rPr lang="en-ID" sz="1600" dirty="0" err="1"/>
              <a:t>untuk</a:t>
            </a:r>
            <a:r>
              <a:rPr lang="en-ID" sz="1600" dirty="0"/>
              <a:t> </a:t>
            </a:r>
            <a:r>
              <a:rPr lang="en-ID" sz="1600" dirty="0" err="1"/>
              <a:t>mendongkrak</a:t>
            </a:r>
            <a:r>
              <a:rPr lang="en-ID" sz="1600" dirty="0"/>
              <a:t> Basket Size </a:t>
            </a:r>
            <a:r>
              <a:rPr lang="en-ID" sz="1600" dirty="0" err="1"/>
              <a:t>mereka</a:t>
            </a:r>
            <a:r>
              <a:rPr lang="en-ID" sz="1600" dirty="0"/>
              <a:t>. </a:t>
            </a:r>
            <a:r>
              <a:rPr lang="en-ID" sz="1600" dirty="0" err="1"/>
              <a:t>Berkaca</a:t>
            </a:r>
            <a:r>
              <a:rPr lang="en-ID" sz="1600" dirty="0"/>
              <a:t> </a:t>
            </a:r>
            <a:r>
              <a:rPr lang="en-ID" sz="1600" dirty="0" err="1"/>
              <a:t>dari</a:t>
            </a:r>
            <a:r>
              <a:rPr lang="en-ID" sz="1600" dirty="0"/>
              <a:t> </a:t>
            </a:r>
            <a:r>
              <a:rPr lang="en-ID" sz="1600" dirty="0" err="1"/>
              <a:t>fenomena</a:t>
            </a:r>
            <a:r>
              <a:rPr lang="en-ID" sz="1600" dirty="0"/>
              <a:t> </a:t>
            </a:r>
            <a:r>
              <a:rPr lang="en-ID" sz="1600" dirty="0" err="1"/>
              <a:t>jurang</a:t>
            </a:r>
            <a:r>
              <a:rPr lang="en-ID" sz="1600" dirty="0"/>
              <a:t> </a:t>
            </a:r>
            <a:r>
              <a:rPr lang="en-ID" sz="1600" i="1" dirty="0"/>
              <a:t>small basket size</a:t>
            </a:r>
            <a:r>
              <a:rPr lang="en-ID" sz="1600" dirty="0"/>
              <a:t> </a:t>
            </a:r>
            <a:r>
              <a:rPr lang="en-ID" sz="1600" dirty="0" err="1"/>
              <a:t>tersebut</a:t>
            </a:r>
            <a:r>
              <a:rPr lang="en-ID" sz="1600" dirty="0"/>
              <a:t>, </a:t>
            </a:r>
            <a:r>
              <a:rPr lang="en-ID" sz="1600" dirty="0" err="1"/>
              <a:t>analisis</a:t>
            </a:r>
            <a:r>
              <a:rPr lang="en-ID" sz="1600" dirty="0"/>
              <a:t> </a:t>
            </a:r>
            <a:r>
              <a:rPr lang="en-ID" sz="1600" dirty="0" err="1"/>
              <a:t>ini</a:t>
            </a:r>
            <a:r>
              <a:rPr lang="en-ID" sz="1600" dirty="0"/>
              <a:t> </a:t>
            </a:r>
            <a:r>
              <a:rPr lang="en-ID" sz="1600" dirty="0" err="1"/>
              <a:t>diinisiasi</a:t>
            </a:r>
            <a:r>
              <a:rPr lang="en-ID" sz="1600" dirty="0"/>
              <a:t> </a:t>
            </a:r>
            <a:r>
              <a:rPr lang="en-ID" sz="1600" dirty="0" err="1"/>
              <a:t>untuk</a:t>
            </a:r>
            <a:r>
              <a:rPr lang="en-ID" sz="1600" dirty="0"/>
              <a:t> </a:t>
            </a:r>
            <a:r>
              <a:rPr lang="en-ID" sz="1600" dirty="0" err="1"/>
              <a:t>membedah</a:t>
            </a:r>
            <a:r>
              <a:rPr lang="en-ID" sz="1600" dirty="0"/>
              <a:t> </a:t>
            </a:r>
            <a:r>
              <a:rPr lang="en-ID" sz="1600" dirty="0" err="1"/>
              <a:t>apakah</a:t>
            </a:r>
            <a:r>
              <a:rPr lang="en-ID" sz="1600" dirty="0"/>
              <a:t> </a:t>
            </a:r>
            <a:r>
              <a:rPr lang="en-ID" sz="1600" dirty="0" err="1"/>
              <a:t>pola</a:t>
            </a:r>
            <a:r>
              <a:rPr lang="en-ID" sz="1600" dirty="0"/>
              <a:t> </a:t>
            </a:r>
            <a:r>
              <a:rPr lang="en-ID" sz="1600" dirty="0" err="1"/>
              <a:t>asosiasi</a:t>
            </a:r>
            <a:r>
              <a:rPr lang="en-ID" sz="1600" dirty="0"/>
              <a:t> </a:t>
            </a:r>
            <a:r>
              <a:rPr lang="en-ID" sz="1600" dirty="0" err="1"/>
              <a:t>produk</a:t>
            </a:r>
            <a:r>
              <a:rPr lang="en-ID" sz="1600" dirty="0"/>
              <a:t> pada dataset </a:t>
            </a:r>
            <a:r>
              <a:rPr lang="en-ID" sz="1600" dirty="0" err="1"/>
              <a:t>benar-benar</a:t>
            </a:r>
            <a:r>
              <a:rPr lang="en-ID" sz="1600" dirty="0"/>
              <a:t> </a:t>
            </a:r>
            <a:r>
              <a:rPr lang="en-ID" sz="1600" dirty="0" err="1"/>
              <a:t>mampu</a:t>
            </a:r>
            <a:r>
              <a:rPr lang="en-ID" sz="1600" dirty="0"/>
              <a:t> </a:t>
            </a:r>
            <a:r>
              <a:rPr lang="en-ID" sz="1600" dirty="0" err="1"/>
              <a:t>mendorong</a:t>
            </a:r>
            <a:r>
              <a:rPr lang="en-ID" sz="1600" dirty="0"/>
              <a:t> </a:t>
            </a:r>
            <a:r>
              <a:rPr lang="en-ID" sz="1600" dirty="0" err="1"/>
              <a:t>peningkatan</a:t>
            </a:r>
            <a:r>
              <a:rPr lang="en-ID" sz="1600" dirty="0"/>
              <a:t> </a:t>
            </a:r>
            <a:r>
              <a:rPr lang="en-ID" sz="1600" dirty="0" err="1"/>
              <a:t>ukuran</a:t>
            </a:r>
            <a:r>
              <a:rPr lang="en-ID" sz="1600" dirty="0"/>
              <a:t> </a:t>
            </a:r>
            <a:r>
              <a:rPr lang="en-ID" sz="1600" dirty="0" err="1"/>
              <a:t>keranjang</a:t>
            </a:r>
            <a:r>
              <a:rPr lang="en-ID" sz="1600" dirty="0"/>
              <a:t> yang </a:t>
            </a:r>
            <a:r>
              <a:rPr lang="en-ID" sz="1600" dirty="0" err="1"/>
              <a:t>sehat</a:t>
            </a:r>
            <a:r>
              <a:rPr lang="en-ID" sz="1600" dirty="0"/>
              <a:t>, </a:t>
            </a:r>
            <a:r>
              <a:rPr lang="en-ID" sz="1600" dirty="0" err="1"/>
              <a:t>atau</a:t>
            </a:r>
            <a:r>
              <a:rPr lang="en-ID" sz="1600" dirty="0"/>
              <a:t> </a:t>
            </a:r>
            <a:r>
              <a:rPr lang="en-ID" sz="1600" dirty="0" err="1"/>
              <a:t>justru</a:t>
            </a:r>
            <a:r>
              <a:rPr lang="en-ID" sz="1600" dirty="0"/>
              <a:t> </a:t>
            </a:r>
            <a:r>
              <a:rPr lang="en-ID" sz="1600" dirty="0" err="1"/>
              <a:t>membiarkan</a:t>
            </a:r>
            <a:r>
              <a:rPr lang="en-ID" sz="1600" dirty="0"/>
              <a:t> </a:t>
            </a:r>
            <a:r>
              <a:rPr lang="en-ID" sz="1600" dirty="0" err="1"/>
              <a:t>potensi</a:t>
            </a:r>
            <a:r>
              <a:rPr lang="en-ID" sz="1600" dirty="0"/>
              <a:t> </a:t>
            </a:r>
            <a:r>
              <a:rPr lang="en-ID" sz="1600" dirty="0" err="1"/>
              <a:t>penjualan</a:t>
            </a:r>
            <a:r>
              <a:rPr lang="en-ID" sz="1600" dirty="0"/>
              <a:t> </a:t>
            </a:r>
            <a:r>
              <a:rPr lang="en-ID" sz="1600" dirty="0" err="1"/>
              <a:t>hilang</a:t>
            </a:r>
            <a:r>
              <a:rPr lang="en-ID" sz="1600" dirty="0"/>
              <a:t> </a:t>
            </a:r>
            <a:r>
              <a:rPr lang="en-ID" sz="1600" dirty="0" err="1"/>
              <a:t>begitu</a:t>
            </a:r>
            <a:r>
              <a:rPr lang="en-ID" sz="1600" dirty="0"/>
              <a:t> </a:t>
            </a:r>
            <a:r>
              <a:rPr lang="en-ID" sz="1600" dirty="0" err="1"/>
              <a:t>saja</a:t>
            </a:r>
            <a:r>
              <a:rPr lang="en-ID" sz="1600" dirty="0"/>
              <a:t> </a:t>
            </a:r>
            <a:r>
              <a:rPr lang="en-ID" sz="1600" dirty="0" err="1"/>
              <a:t>akibat</a:t>
            </a:r>
            <a:r>
              <a:rPr lang="en-ID" sz="1600" dirty="0"/>
              <a:t> </a:t>
            </a:r>
            <a:r>
              <a:rPr lang="en-ID" sz="1600" dirty="0" err="1"/>
              <a:t>ketiadaan</a:t>
            </a:r>
            <a:r>
              <a:rPr lang="en-ID" sz="1600" dirty="0"/>
              <a:t> strategi </a:t>
            </a:r>
            <a:r>
              <a:rPr lang="en-ID" sz="1600" i="1" dirty="0"/>
              <a:t>cross-selling</a:t>
            </a:r>
            <a:r>
              <a:rPr lang="en-ID" sz="1600" dirty="0"/>
              <a:t> dan </a:t>
            </a:r>
            <a:r>
              <a:rPr lang="en-ID" sz="1600" dirty="0" err="1"/>
              <a:t>penataan</a:t>
            </a:r>
            <a:r>
              <a:rPr lang="en-ID" sz="1600" dirty="0"/>
              <a:t> tata </a:t>
            </a:r>
            <a:r>
              <a:rPr lang="en-ID" sz="1600" dirty="0" err="1"/>
              <a:t>letak</a:t>
            </a:r>
            <a:r>
              <a:rPr lang="en-ID" sz="1600" dirty="0"/>
              <a:t> yang </a:t>
            </a:r>
            <a:r>
              <a:rPr lang="en-ID" sz="1600" dirty="0" err="1"/>
              <a:t>tepat</a:t>
            </a:r>
            <a:r>
              <a:rPr lang="en-ID" sz="1600" dirty="0"/>
              <a:t>.</a:t>
            </a:r>
            <a:endParaRPr lang="en-US" sz="1600" dirty="0"/>
          </a:p>
        </p:txBody>
      </p:sp>
      <p:sp>
        <p:nvSpPr>
          <p:cNvPr id="21" name="Text 18"/>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7</a:t>
            </a:r>
            <a:endParaRPr lang="en-US" sz="850" dirty="0"/>
          </a:p>
        </p:txBody>
      </p:sp>
      <p:pic>
        <p:nvPicPr>
          <p:cNvPr id="10" name="Picture 9">
            <a:hlinkClick r:id="rId4"/>
            <a:extLst>
              <a:ext uri="{FF2B5EF4-FFF2-40B4-BE49-F238E27FC236}">
                <a16:creationId xmlns:a16="http://schemas.microsoft.com/office/drawing/2014/main" id="{E2892942-E5D8-E748-F5D7-A52195E4C2A6}"/>
              </a:ext>
            </a:extLst>
          </p:cNvPr>
          <p:cNvPicPr>
            <a:picLocks noChangeAspect="1"/>
          </p:cNvPicPr>
          <p:nvPr/>
        </p:nvPicPr>
        <p:blipFill>
          <a:blip r:embed="rId5"/>
          <a:stretch>
            <a:fillRect/>
          </a:stretch>
        </p:blipFill>
        <p:spPr>
          <a:xfrm>
            <a:off x="6313424" y="2432342"/>
            <a:ext cx="5421071" cy="19933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Understanding</a:t>
            </a:r>
            <a:endParaRPr lang="en-US" sz="2800" dirty="0"/>
          </a:p>
        </p:txBody>
      </p:sp>
      <p:sp>
        <p:nvSpPr>
          <p:cNvPr id="3" name="Shape 1"/>
          <p:cNvSpPr/>
          <p:nvPr/>
        </p:nvSpPr>
        <p:spPr>
          <a:xfrm>
            <a:off x="548640" y="975362"/>
            <a:ext cx="640080" cy="640080"/>
          </a:xfrm>
          <a:prstGeom prst="ellipse">
            <a:avLst/>
          </a:prstGeom>
          <a:solidFill>
            <a:srgbClr val="1E2761"/>
          </a:solidFill>
          <a:ln/>
        </p:spPr>
      </p:sp>
      <p:pic>
        <p:nvPicPr>
          <p:cNvPr id="4" name="Image 0" descr="icon_database.png"/>
          <p:cNvPicPr>
            <a:picLocks noChangeAspect="1"/>
          </p:cNvPicPr>
          <p:nvPr/>
        </p:nvPicPr>
        <p:blipFill>
          <a:blip r:embed="rId3"/>
          <a:stretch>
            <a:fillRect/>
          </a:stretch>
        </p:blipFill>
        <p:spPr>
          <a:xfrm>
            <a:off x="692658" y="1119380"/>
            <a:ext cx="352044" cy="352044"/>
          </a:xfrm>
          <a:prstGeom prst="rect">
            <a:avLst/>
          </a:prstGeom>
        </p:spPr>
      </p:pic>
      <p:sp>
        <p:nvSpPr>
          <p:cNvPr id="5" name="Text 2"/>
          <p:cNvSpPr/>
          <p:nvPr/>
        </p:nvSpPr>
        <p:spPr>
          <a:xfrm>
            <a:off x="1325880" y="1703251"/>
            <a:ext cx="8880438" cy="685801"/>
          </a:xfrm>
          <a:prstGeom prst="rect">
            <a:avLst/>
          </a:prstGeom>
          <a:noFill/>
          <a:ln/>
        </p:spPr>
        <p:txBody>
          <a:bodyPr wrap="square" rtlCol="0" anchor="ctr"/>
          <a:lstStyle/>
          <a:p>
            <a:r>
              <a:rPr lang="en-US" sz="2400" b="1" dirty="0" err="1">
                <a:solidFill>
                  <a:srgbClr val="1E2761"/>
                </a:solidFill>
                <a:latin typeface="Calibri" pitchFamily="34" charset="0"/>
                <a:ea typeface="Calibri" pitchFamily="34" charset="-122"/>
                <a:cs typeface="Calibri" pitchFamily="34" charset="-120"/>
              </a:rPr>
              <a:t>Sumber</a:t>
            </a:r>
            <a:r>
              <a:rPr lang="en-US" sz="2400" b="1" dirty="0">
                <a:solidFill>
                  <a:srgbClr val="1E2761"/>
                </a:solidFill>
                <a:latin typeface="Calibri" pitchFamily="34" charset="0"/>
                <a:ea typeface="Calibri" pitchFamily="34" charset="-122"/>
                <a:cs typeface="Calibri" pitchFamily="34" charset="-120"/>
              </a:rPr>
              <a:t> Data : </a:t>
            </a:r>
            <a:r>
              <a:rPr lang="en-US" sz="2400" b="1" dirty="0">
                <a:solidFill>
                  <a:srgbClr val="1E2761"/>
                </a:solidFill>
                <a:latin typeface="Calibri" pitchFamily="34" charset="0"/>
                <a:ea typeface="Calibri" pitchFamily="34" charset="-122"/>
                <a:cs typeface="Calibri" pitchFamily="34" charset="-120"/>
                <a:hlinkClick r:id="rId4"/>
              </a:rPr>
              <a:t>Market Basket Analysis- Groceries_dataset.csv</a:t>
            </a:r>
            <a:endParaRPr lang="en-US" sz="2400" b="1" dirty="0">
              <a:solidFill>
                <a:srgbClr val="1E2761"/>
              </a:solidFill>
              <a:latin typeface="Calibri" pitchFamily="34" charset="0"/>
              <a:ea typeface="Calibri" pitchFamily="34" charset="-122"/>
              <a:cs typeface="Calibri" pitchFamily="34" charset="-120"/>
            </a:endParaRPr>
          </a:p>
          <a:p>
            <a:endParaRPr lang="en-US" sz="2400" b="1" dirty="0">
              <a:solidFill>
                <a:srgbClr val="1E2761"/>
              </a:solidFill>
              <a:latin typeface="Calibri" pitchFamily="34" charset="0"/>
              <a:ea typeface="Calibri" pitchFamily="34" charset="-122"/>
              <a:cs typeface="Calibri" pitchFamily="34" charset="-120"/>
            </a:endParaRPr>
          </a:p>
          <a:p>
            <a:endParaRPr lang="en-US" sz="2400" b="1" dirty="0">
              <a:solidFill>
                <a:srgbClr val="1E2761"/>
              </a:solidFill>
              <a:latin typeface="Calibri" pitchFamily="34" charset="0"/>
              <a:ea typeface="Calibri" pitchFamily="34" charset="-122"/>
              <a:cs typeface="Calibri" pitchFamily="34" charset="-120"/>
            </a:endParaRPr>
          </a:p>
          <a:p>
            <a:endParaRPr lang="en-US" b="1" dirty="0">
              <a:solidFill>
                <a:srgbClr val="1E2761"/>
              </a:solidFill>
              <a:latin typeface="Calibri" pitchFamily="34" charset="0"/>
              <a:ea typeface="Calibri" pitchFamily="34" charset="-122"/>
              <a:cs typeface="Calibri" pitchFamily="34" charset="-120"/>
            </a:endParaRPr>
          </a:p>
          <a:p>
            <a:endParaRPr lang="en-US" b="1" dirty="0">
              <a:solidFill>
                <a:srgbClr val="1E2761"/>
              </a:solidFill>
              <a:latin typeface="Calibri" pitchFamily="34" charset="0"/>
              <a:ea typeface="Calibri" pitchFamily="34" charset="-122"/>
              <a:cs typeface="Calibri" pitchFamily="34" charset="-120"/>
            </a:endParaRPr>
          </a:p>
        </p:txBody>
      </p:sp>
      <p:sp>
        <p:nvSpPr>
          <p:cNvPr id="29" name="Text 26"/>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8" name="Text 2">
            <a:extLst>
              <a:ext uri="{FF2B5EF4-FFF2-40B4-BE49-F238E27FC236}">
                <a16:creationId xmlns:a16="http://schemas.microsoft.com/office/drawing/2014/main" id="{546EDC5A-FEA6-42A8-BF9E-B90DF4CF5908}"/>
              </a:ext>
            </a:extLst>
          </p:cNvPr>
          <p:cNvSpPr/>
          <p:nvPr/>
        </p:nvSpPr>
        <p:spPr>
          <a:xfrm>
            <a:off x="417413" y="3161740"/>
            <a:ext cx="4703227" cy="2004822"/>
          </a:xfrm>
          <a:prstGeom prst="rect">
            <a:avLst/>
          </a:prstGeom>
          <a:noFill/>
          <a:ln/>
        </p:spPr>
        <p:txBody>
          <a:bodyPr wrap="square" rtlCol="0" anchor="ctr"/>
          <a:lstStyle/>
          <a:p>
            <a:pPr algn="ctr"/>
            <a:endParaRPr lang="en-US" sz="2400" b="1" dirty="0">
              <a:solidFill>
                <a:srgbClr val="1E2761"/>
              </a:solidFill>
              <a:latin typeface="Calibri" pitchFamily="34" charset="0"/>
              <a:ea typeface="Calibri" pitchFamily="34" charset="-122"/>
              <a:cs typeface="Calibri" pitchFamily="34" charset="-120"/>
            </a:endParaRPr>
          </a:p>
          <a:p>
            <a:pPr algn="ctr"/>
            <a:endParaRPr lang="en-US" sz="2400" b="1" dirty="0">
              <a:solidFill>
                <a:srgbClr val="1E2761"/>
              </a:solidFill>
              <a:latin typeface="Calibri" pitchFamily="34" charset="0"/>
              <a:ea typeface="Calibri" pitchFamily="34" charset="-122"/>
              <a:cs typeface="Calibri" pitchFamily="34" charset="-120"/>
            </a:endParaRPr>
          </a:p>
          <a:p>
            <a:pPr algn="ctr"/>
            <a:endParaRPr lang="en-US" sz="2400" b="1" dirty="0">
              <a:solidFill>
                <a:srgbClr val="1E2761"/>
              </a:solidFill>
              <a:latin typeface="Calibri" pitchFamily="34" charset="0"/>
              <a:ea typeface="Calibri" pitchFamily="34" charset="-122"/>
              <a:cs typeface="Calibri" pitchFamily="34" charset="-120"/>
            </a:endParaRPr>
          </a:p>
          <a:p>
            <a:pPr algn="ctr"/>
            <a:endParaRPr lang="en-US" b="1" dirty="0">
              <a:solidFill>
                <a:srgbClr val="1E2761"/>
              </a:solidFill>
              <a:latin typeface="Calibri" pitchFamily="34" charset="0"/>
              <a:ea typeface="Calibri" pitchFamily="34" charset="-122"/>
              <a:cs typeface="Calibri" pitchFamily="34" charset="-120"/>
            </a:endParaRPr>
          </a:p>
          <a:p>
            <a:pPr algn="ctr"/>
            <a:endParaRPr lang="en-US" b="1" dirty="0">
              <a:solidFill>
                <a:srgbClr val="1E2761"/>
              </a:solidFill>
              <a:latin typeface="Calibri" pitchFamily="34" charset="0"/>
              <a:ea typeface="Calibri" pitchFamily="34" charset="-122"/>
              <a:cs typeface="Calibri" pitchFamily="34" charset="-120"/>
            </a:endParaRPr>
          </a:p>
        </p:txBody>
      </p:sp>
      <p:sp>
        <p:nvSpPr>
          <p:cNvPr id="15" name="Shape 3">
            <a:extLst>
              <a:ext uri="{FF2B5EF4-FFF2-40B4-BE49-F238E27FC236}">
                <a16:creationId xmlns:a16="http://schemas.microsoft.com/office/drawing/2014/main" id="{1D04547D-D9CC-4ED3-9305-65838D30EB4F}"/>
              </a:ext>
            </a:extLst>
          </p:cNvPr>
          <p:cNvSpPr/>
          <p:nvPr/>
        </p:nvSpPr>
        <p:spPr>
          <a:xfrm>
            <a:off x="5211641" y="1674224"/>
            <a:ext cx="5450572" cy="3246119"/>
          </a:xfrm>
          <a:prstGeom prst="roundRect">
            <a:avLst>
              <a:gd name="adj" fmla="val 6250"/>
            </a:avLst>
          </a:prstGeom>
          <a:solidFill>
            <a:srgbClr val="1E2761"/>
          </a:solidFill>
          <a:ln/>
        </p:spPr>
      </p:sp>
      <p:sp>
        <p:nvSpPr>
          <p:cNvPr id="17" name="Text 4">
            <a:extLst>
              <a:ext uri="{FF2B5EF4-FFF2-40B4-BE49-F238E27FC236}">
                <a16:creationId xmlns:a16="http://schemas.microsoft.com/office/drawing/2014/main" id="{EA7C312B-3709-2B4D-5724-1A6024C914B6}"/>
              </a:ext>
            </a:extLst>
          </p:cNvPr>
          <p:cNvSpPr/>
          <p:nvPr/>
        </p:nvSpPr>
        <p:spPr>
          <a:xfrm>
            <a:off x="5264658" y="1471425"/>
            <a:ext cx="5450572" cy="3712352"/>
          </a:xfrm>
          <a:prstGeom prst="rect">
            <a:avLst/>
          </a:prstGeom>
          <a:noFill/>
          <a:ln/>
        </p:spPr>
        <p:txBody>
          <a:bodyPr wrap="square" rtlCol="0" anchor="ctr"/>
          <a:lstStyle/>
          <a:p>
            <a:pPr algn="ctr"/>
            <a:r>
              <a:rPr lang="en-US" sz="1600" i="1" dirty="0">
                <a:solidFill>
                  <a:srgbClr val="FFFFFF"/>
                </a:solidFill>
                <a:latin typeface="Calibri" pitchFamily="34" charset="0"/>
                <a:ea typeface="Calibri" pitchFamily="34" charset="-122"/>
                <a:cs typeface="Calibri" pitchFamily="34" charset="-120"/>
              </a:rPr>
              <a:t> </a:t>
            </a:r>
            <a:r>
              <a:rPr lang="en-ID" sz="1600" dirty="0"/>
              <a:t>Dataset </a:t>
            </a:r>
            <a:r>
              <a:rPr lang="en-ID" sz="1600" dirty="0" err="1"/>
              <a:t>ini</a:t>
            </a:r>
            <a:r>
              <a:rPr lang="en-ID" sz="1600" dirty="0"/>
              <a:t> </a:t>
            </a:r>
            <a:r>
              <a:rPr lang="en-ID" sz="1600" dirty="0" err="1"/>
              <a:t>berasal</a:t>
            </a:r>
            <a:r>
              <a:rPr lang="en-ID" sz="1600" dirty="0"/>
              <a:t> </a:t>
            </a:r>
            <a:r>
              <a:rPr lang="en-ID" sz="1600" dirty="0" err="1"/>
              <a:t>dari</a:t>
            </a:r>
            <a:r>
              <a:rPr lang="en-ID" sz="1600" dirty="0"/>
              <a:t> program </a:t>
            </a:r>
            <a:r>
              <a:rPr lang="en-ID" sz="1600" i="1" dirty="0"/>
              <a:t>bootcamp</a:t>
            </a:r>
            <a:r>
              <a:rPr lang="en-ID" sz="1600" dirty="0"/>
              <a:t> Kaggle </a:t>
            </a:r>
            <a:r>
              <a:rPr lang="en-ID" sz="1600" dirty="0" err="1"/>
              <a:t>berjudul</a:t>
            </a:r>
            <a:r>
              <a:rPr lang="en-ID" sz="1600" dirty="0"/>
              <a:t> Groceries dataset. </a:t>
            </a:r>
            <a:r>
              <a:rPr lang="en-ID" sz="1600" dirty="0" err="1"/>
              <a:t>Secara</a:t>
            </a:r>
            <a:r>
              <a:rPr lang="en-ID" sz="1600" dirty="0"/>
              <a:t> garis </a:t>
            </a:r>
            <a:r>
              <a:rPr lang="en-ID" sz="1600" dirty="0" err="1"/>
              <a:t>besar</a:t>
            </a:r>
            <a:r>
              <a:rPr lang="en-ID" sz="1600" dirty="0"/>
              <a:t>, data </a:t>
            </a:r>
            <a:r>
              <a:rPr lang="en-ID" sz="1600" dirty="0" err="1"/>
              <a:t>ini</a:t>
            </a:r>
            <a:r>
              <a:rPr lang="en-ID" sz="1600" dirty="0"/>
              <a:t> </a:t>
            </a:r>
            <a:r>
              <a:rPr lang="en-ID" sz="1600" dirty="0" err="1"/>
              <a:t>merekam</a:t>
            </a:r>
            <a:r>
              <a:rPr lang="en-ID" sz="1600" dirty="0"/>
              <a:t> </a:t>
            </a:r>
            <a:r>
              <a:rPr lang="en-ID" sz="1600" dirty="0" err="1"/>
              <a:t>jejak</a:t>
            </a:r>
            <a:r>
              <a:rPr lang="en-ID" sz="1600" dirty="0"/>
              <a:t> </a:t>
            </a:r>
            <a:r>
              <a:rPr lang="en-ID" sz="1600" dirty="0" err="1"/>
              <a:t>histori</a:t>
            </a:r>
            <a:r>
              <a:rPr lang="en-ID" sz="1600" dirty="0"/>
              <a:t> </a:t>
            </a:r>
            <a:r>
              <a:rPr lang="en-ID" sz="1600" dirty="0" err="1"/>
              <a:t>transaksi</a:t>
            </a:r>
            <a:r>
              <a:rPr lang="en-ID" sz="1600" dirty="0"/>
              <a:t> </a:t>
            </a:r>
            <a:r>
              <a:rPr lang="en-ID" sz="1600" dirty="0" err="1"/>
              <a:t>ritel</a:t>
            </a:r>
            <a:r>
              <a:rPr lang="en-ID" sz="1600" dirty="0"/>
              <a:t> </a:t>
            </a:r>
            <a:r>
              <a:rPr lang="en-ID" sz="1600" dirty="0" err="1"/>
              <a:t>barang</a:t>
            </a:r>
            <a:r>
              <a:rPr lang="en-ID" sz="1600" dirty="0"/>
              <a:t> </a:t>
            </a:r>
            <a:r>
              <a:rPr lang="en-ID" sz="1600" dirty="0" err="1"/>
              <a:t>kebutuhan</a:t>
            </a:r>
            <a:r>
              <a:rPr lang="en-ID" sz="1600" dirty="0"/>
              <a:t> </a:t>
            </a:r>
            <a:r>
              <a:rPr lang="en-ID" sz="1600" dirty="0" err="1"/>
              <a:t>sehari-hari</a:t>
            </a:r>
            <a:r>
              <a:rPr lang="en-ID" sz="1600" dirty="0"/>
              <a:t> (</a:t>
            </a:r>
            <a:r>
              <a:rPr lang="en-ID" sz="1600" i="1" dirty="0"/>
              <a:t>groceries</a:t>
            </a:r>
            <a:r>
              <a:rPr lang="en-ID" sz="1600" dirty="0"/>
              <a:t>), yang </a:t>
            </a:r>
            <a:r>
              <a:rPr lang="en-ID" sz="1600" dirty="0" err="1"/>
              <a:t>mencakup</a:t>
            </a:r>
            <a:r>
              <a:rPr lang="en-ID" sz="1600" dirty="0"/>
              <a:t> 38.765 </a:t>
            </a:r>
            <a:r>
              <a:rPr lang="en-ID" sz="1600" dirty="0" err="1"/>
              <a:t>catatan</a:t>
            </a:r>
            <a:r>
              <a:rPr lang="en-ID" sz="1600" dirty="0"/>
              <a:t> item </a:t>
            </a:r>
            <a:r>
              <a:rPr lang="en-ID" sz="1600" dirty="0" err="1"/>
              <a:t>terjual</a:t>
            </a:r>
            <a:r>
              <a:rPr lang="en-ID" sz="1600" dirty="0"/>
              <a:t> </a:t>
            </a:r>
            <a:r>
              <a:rPr lang="en-ID" sz="1600" dirty="0" err="1"/>
              <a:t>ke</a:t>
            </a:r>
            <a:r>
              <a:rPr lang="en-ID" sz="1600" dirty="0"/>
              <a:t> </a:t>
            </a:r>
            <a:r>
              <a:rPr lang="en-ID" sz="1600" dirty="0" err="1"/>
              <a:t>dalam</a:t>
            </a:r>
            <a:r>
              <a:rPr lang="en-ID" sz="1600" dirty="0"/>
              <a:t> 14.963 </a:t>
            </a:r>
            <a:r>
              <a:rPr lang="en-ID" sz="1600" dirty="0" err="1"/>
              <a:t>keranjang</a:t>
            </a:r>
            <a:r>
              <a:rPr lang="en-ID" sz="1600" dirty="0"/>
              <a:t> </a:t>
            </a:r>
            <a:r>
              <a:rPr lang="en-ID" sz="1600" dirty="0" err="1"/>
              <a:t>transaksi</a:t>
            </a:r>
            <a:r>
              <a:rPr lang="en-ID" sz="1600" dirty="0"/>
              <a:t> </a:t>
            </a:r>
            <a:r>
              <a:rPr lang="en-ID" sz="1600" dirty="0" err="1"/>
              <a:t>unik</a:t>
            </a:r>
            <a:r>
              <a:rPr lang="en-ID" sz="1600" dirty="0"/>
              <a:t>.</a:t>
            </a:r>
          </a:p>
          <a:p>
            <a:pPr algn="ctr"/>
            <a:r>
              <a:rPr lang="en-ID" sz="1600" dirty="0"/>
              <a:t>Data </a:t>
            </a:r>
            <a:r>
              <a:rPr lang="en-ID" sz="1600" dirty="0" err="1"/>
              <a:t>ini</a:t>
            </a:r>
            <a:r>
              <a:rPr lang="en-ID" sz="1600" dirty="0"/>
              <a:t> </a:t>
            </a:r>
            <a:r>
              <a:rPr lang="en-ID" sz="1600" dirty="0" err="1"/>
              <a:t>menceritakan</a:t>
            </a:r>
            <a:r>
              <a:rPr lang="en-ID" sz="1600" dirty="0"/>
              <a:t> </a:t>
            </a:r>
            <a:r>
              <a:rPr lang="en-ID" sz="1600" dirty="0" err="1"/>
              <a:t>pola</a:t>
            </a:r>
            <a:r>
              <a:rPr lang="en-ID" sz="1600" dirty="0"/>
              <a:t> </a:t>
            </a:r>
            <a:r>
              <a:rPr lang="en-ID" sz="1600" dirty="0" err="1"/>
              <a:t>perilaku</a:t>
            </a:r>
            <a:r>
              <a:rPr lang="en-ID" sz="1600" dirty="0"/>
              <a:t> </a:t>
            </a:r>
            <a:r>
              <a:rPr lang="en-ID" sz="1600" dirty="0" err="1"/>
              <a:t>belanja</a:t>
            </a:r>
            <a:r>
              <a:rPr lang="en-ID" sz="1600" dirty="0"/>
              <a:t> </a:t>
            </a:r>
            <a:r>
              <a:rPr lang="en-ID" sz="1600" dirty="0" err="1"/>
              <a:t>dari</a:t>
            </a:r>
            <a:r>
              <a:rPr lang="en-ID" sz="1600" dirty="0"/>
              <a:t> 3.898 </a:t>
            </a:r>
            <a:r>
              <a:rPr lang="en-ID" sz="1600" dirty="0" err="1"/>
              <a:t>pelanggan</a:t>
            </a:r>
            <a:r>
              <a:rPr lang="en-ID" sz="1600" dirty="0"/>
              <a:t> </a:t>
            </a:r>
            <a:r>
              <a:rPr lang="en-ID" sz="1600" dirty="0" err="1"/>
              <a:t>berbeda</a:t>
            </a:r>
            <a:r>
              <a:rPr lang="en-ID" sz="1600" dirty="0"/>
              <a:t> </a:t>
            </a:r>
            <a:r>
              <a:rPr lang="en-ID" sz="1600" dirty="0" err="1"/>
              <a:t>selama</a:t>
            </a:r>
            <a:r>
              <a:rPr lang="en-ID" sz="1600" dirty="0"/>
              <a:t> </a:t>
            </a:r>
            <a:r>
              <a:rPr lang="en-ID" sz="1600" dirty="0" err="1"/>
              <a:t>rentang</a:t>
            </a:r>
            <a:r>
              <a:rPr lang="en-ID" sz="1600" dirty="0"/>
              <a:t> </a:t>
            </a:r>
            <a:r>
              <a:rPr lang="en-ID" sz="1600" dirty="0" err="1"/>
              <a:t>waktu</a:t>
            </a:r>
            <a:r>
              <a:rPr lang="en-ID" sz="1600" dirty="0"/>
              <a:t> dua </a:t>
            </a:r>
            <a:r>
              <a:rPr lang="en-ID" sz="1600" dirty="0" err="1"/>
              <a:t>tahun</a:t>
            </a:r>
            <a:r>
              <a:rPr lang="en-ID" sz="1600" dirty="0"/>
              <a:t> (2014-2015). </a:t>
            </a:r>
            <a:r>
              <a:rPr lang="en-ID" sz="1600" dirty="0" err="1"/>
              <a:t>Mulai</a:t>
            </a:r>
            <a:r>
              <a:rPr lang="en-ID" sz="1600" dirty="0"/>
              <a:t> </a:t>
            </a:r>
            <a:r>
              <a:rPr lang="en-ID" sz="1600" dirty="0" err="1"/>
              <a:t>dari</a:t>
            </a:r>
            <a:r>
              <a:rPr lang="en-ID" sz="1600" dirty="0"/>
              <a:t> </a:t>
            </a:r>
            <a:r>
              <a:rPr lang="en-ID" sz="1600" dirty="0" err="1"/>
              <a:t>identitas</a:t>
            </a:r>
            <a:r>
              <a:rPr lang="en-ID" sz="1600" dirty="0"/>
              <a:t> </a:t>
            </a:r>
            <a:r>
              <a:rPr lang="en-ID" sz="1600" dirty="0" err="1"/>
              <a:t>pelanggan</a:t>
            </a:r>
            <a:r>
              <a:rPr lang="en-ID" sz="1600" dirty="0"/>
              <a:t> (</a:t>
            </a:r>
            <a:r>
              <a:rPr lang="en-ID" sz="1600" i="1" dirty="0" err="1"/>
              <a:t>Member_number</a:t>
            </a:r>
            <a:r>
              <a:rPr lang="en-ID" sz="1600" dirty="0"/>
              <a:t>), </a:t>
            </a:r>
            <a:r>
              <a:rPr lang="en-ID" sz="1600" dirty="0" err="1"/>
              <a:t>waktu</a:t>
            </a:r>
            <a:r>
              <a:rPr lang="en-ID" sz="1600" dirty="0"/>
              <a:t> </a:t>
            </a:r>
            <a:r>
              <a:rPr lang="en-ID" sz="1600" dirty="0" err="1"/>
              <a:t>kunjungan</a:t>
            </a:r>
            <a:r>
              <a:rPr lang="en-ID" sz="1600" dirty="0"/>
              <a:t> (</a:t>
            </a:r>
            <a:r>
              <a:rPr lang="en-ID" sz="1600" i="1" dirty="0"/>
              <a:t>Date</a:t>
            </a:r>
            <a:r>
              <a:rPr lang="en-ID" sz="1600" dirty="0"/>
              <a:t>), </a:t>
            </a:r>
            <a:r>
              <a:rPr lang="en-ID" sz="1600" dirty="0" err="1"/>
              <a:t>hingga</a:t>
            </a:r>
            <a:r>
              <a:rPr lang="en-ID" sz="1600" dirty="0"/>
              <a:t> </a:t>
            </a:r>
            <a:r>
              <a:rPr lang="en-ID" sz="1600" dirty="0" err="1"/>
              <a:t>rincian</a:t>
            </a:r>
            <a:r>
              <a:rPr lang="en-ID" sz="1600" dirty="0"/>
              <a:t> </a:t>
            </a:r>
            <a:r>
              <a:rPr lang="en-ID" sz="1600" dirty="0" err="1"/>
              <a:t>barang</a:t>
            </a:r>
            <a:r>
              <a:rPr lang="en-ID" sz="1600" dirty="0"/>
              <a:t> yang </a:t>
            </a:r>
            <a:r>
              <a:rPr lang="en-ID" sz="1600" dirty="0" err="1"/>
              <a:t>dibeli</a:t>
            </a:r>
            <a:r>
              <a:rPr lang="en-ID" sz="1600" dirty="0"/>
              <a:t> </a:t>
            </a:r>
            <a:r>
              <a:rPr lang="en-ID" sz="1600" dirty="0" err="1"/>
              <a:t>dari</a:t>
            </a:r>
            <a:r>
              <a:rPr lang="en-ID" sz="1600" dirty="0"/>
              <a:t> 167 </a:t>
            </a:r>
            <a:r>
              <a:rPr lang="en-ID" sz="1600" dirty="0" err="1"/>
              <a:t>varian</a:t>
            </a:r>
            <a:r>
              <a:rPr lang="en-ID" sz="1600" dirty="0"/>
              <a:t> </a:t>
            </a:r>
            <a:r>
              <a:rPr lang="en-ID" sz="1600" dirty="0" err="1"/>
              <a:t>produk</a:t>
            </a:r>
            <a:r>
              <a:rPr lang="en-ID" sz="1600" dirty="0"/>
              <a:t> (</a:t>
            </a:r>
            <a:r>
              <a:rPr lang="en-ID" sz="1600" i="1" dirty="0" err="1"/>
              <a:t>itemDescription</a:t>
            </a:r>
            <a:r>
              <a:rPr lang="en-ID" sz="1600" dirty="0"/>
              <a:t>). </a:t>
            </a:r>
            <a:endParaRPr lang="en-US" sz="1600" dirty="0"/>
          </a:p>
        </p:txBody>
      </p:sp>
      <p:pic>
        <p:nvPicPr>
          <p:cNvPr id="7" name="Picture 6">
            <a:extLst>
              <a:ext uri="{FF2B5EF4-FFF2-40B4-BE49-F238E27FC236}">
                <a16:creationId xmlns:a16="http://schemas.microsoft.com/office/drawing/2014/main" id="{DC33BFDC-0F1C-09F7-0282-D68A043852C7}"/>
              </a:ext>
            </a:extLst>
          </p:cNvPr>
          <p:cNvPicPr>
            <a:picLocks noChangeAspect="1"/>
          </p:cNvPicPr>
          <p:nvPr/>
        </p:nvPicPr>
        <p:blipFill>
          <a:blip r:embed="rId5"/>
          <a:stretch>
            <a:fillRect/>
          </a:stretch>
        </p:blipFill>
        <p:spPr>
          <a:xfrm>
            <a:off x="692657" y="1846637"/>
            <a:ext cx="3839421" cy="4062355"/>
          </a:xfrm>
          <a:prstGeom prst="rect">
            <a:avLst/>
          </a:prstGeom>
        </p:spPr>
      </p:pic>
      <p:sp>
        <p:nvSpPr>
          <p:cNvPr id="10" name="Text 0">
            <a:extLst>
              <a:ext uri="{FF2B5EF4-FFF2-40B4-BE49-F238E27FC236}">
                <a16:creationId xmlns:a16="http://schemas.microsoft.com/office/drawing/2014/main" id="{B580A4B0-2D0B-0CA5-BB85-A0FFD4BB66FF}"/>
              </a:ext>
            </a:extLst>
          </p:cNvPr>
          <p:cNvSpPr/>
          <p:nvPr/>
        </p:nvSpPr>
        <p:spPr>
          <a:xfrm>
            <a:off x="5418182" y="5398912"/>
            <a:ext cx="9144000" cy="548640"/>
          </a:xfrm>
          <a:prstGeom prst="rect">
            <a:avLst/>
          </a:prstGeom>
          <a:noFill/>
          <a:ln/>
        </p:spPr>
        <p:txBody>
          <a:bodyPr wrap="square"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Link </a:t>
            </a:r>
            <a:r>
              <a:rPr lang="en-US" sz="2000" b="1" dirty="0" err="1">
                <a:solidFill>
                  <a:srgbClr val="1E2761"/>
                </a:solidFill>
                <a:latin typeface="Cambria" pitchFamily="34" charset="0"/>
                <a:ea typeface="Cambria" pitchFamily="34" charset="-122"/>
                <a:cs typeface="Cambria" pitchFamily="34" charset="-120"/>
              </a:rPr>
              <a:t>Github</a:t>
            </a:r>
            <a:r>
              <a:rPr lang="en-US" sz="2000" b="1" dirty="0">
                <a:solidFill>
                  <a:srgbClr val="1E2761"/>
                </a:solidFill>
                <a:latin typeface="Cambria" pitchFamily="34" charset="0"/>
                <a:ea typeface="Cambria" pitchFamily="34" charset="-122"/>
                <a:cs typeface="Cambria" pitchFamily="34" charset="-120"/>
              </a:rPr>
              <a:t> </a:t>
            </a:r>
            <a:r>
              <a:rPr lang="en-US" sz="2000" b="1" dirty="0" err="1">
                <a:solidFill>
                  <a:srgbClr val="1E2761"/>
                </a:solidFill>
                <a:latin typeface="Cambria" pitchFamily="34" charset="0"/>
                <a:ea typeface="Cambria" pitchFamily="34" charset="-122"/>
                <a:cs typeface="Cambria" pitchFamily="34" charset="-120"/>
              </a:rPr>
              <a:t>untuk</a:t>
            </a:r>
            <a:r>
              <a:rPr lang="en-US" sz="2000" b="1" dirty="0">
                <a:solidFill>
                  <a:srgbClr val="1E2761"/>
                </a:solidFill>
                <a:latin typeface="Cambria" pitchFamily="34" charset="0"/>
                <a:ea typeface="Cambria" pitchFamily="34" charset="-122"/>
                <a:cs typeface="Cambria" pitchFamily="34" charset="-120"/>
              </a:rPr>
              <a:t> project </a:t>
            </a:r>
            <a:r>
              <a:rPr lang="en-US" sz="2000" b="1" dirty="0" err="1">
                <a:solidFill>
                  <a:srgbClr val="1E2761"/>
                </a:solidFill>
                <a:latin typeface="Cambria" pitchFamily="34" charset="0"/>
                <a:ea typeface="Cambria" pitchFamily="34" charset="-122"/>
                <a:cs typeface="Cambria" pitchFamily="34" charset="-120"/>
              </a:rPr>
              <a:t>ini</a:t>
            </a:r>
            <a:r>
              <a:rPr lang="en-US" sz="2000" b="1" dirty="0">
                <a:solidFill>
                  <a:srgbClr val="1E2761"/>
                </a:solidFill>
                <a:latin typeface="Cambria" pitchFamily="34" charset="0"/>
                <a:ea typeface="Cambria" pitchFamily="34" charset="-122"/>
                <a:cs typeface="Cambria" pitchFamily="34" charset="-120"/>
              </a:rPr>
              <a:t>: </a:t>
            </a:r>
            <a:r>
              <a:rPr lang="en-US" sz="2000" b="1" dirty="0" err="1">
                <a:solidFill>
                  <a:srgbClr val="1E2761"/>
                </a:solidFill>
                <a:latin typeface="Cambria" pitchFamily="34" charset="0"/>
                <a:ea typeface="Cambria" pitchFamily="34" charset="-122"/>
                <a:cs typeface="Cambria" pitchFamily="34" charset="-120"/>
              </a:rPr>
              <a:t>klik</a:t>
            </a:r>
            <a:r>
              <a:rPr lang="en-US" sz="2000" b="1" dirty="0">
                <a:solidFill>
                  <a:srgbClr val="1E2761"/>
                </a:solidFill>
                <a:latin typeface="Cambria" pitchFamily="34" charset="0"/>
                <a:ea typeface="Cambria" pitchFamily="34" charset="-122"/>
                <a:cs typeface="Cambria" pitchFamily="34" charset="-120"/>
              </a:rPr>
              <a:t> </a:t>
            </a:r>
            <a:r>
              <a:rPr lang="en-US" sz="2000" b="1" dirty="0" err="1">
                <a:solidFill>
                  <a:srgbClr val="1E2761"/>
                </a:solidFill>
                <a:latin typeface="Cambria" pitchFamily="34" charset="0"/>
                <a:ea typeface="Cambria" pitchFamily="34" charset="-122"/>
                <a:cs typeface="Cambria" pitchFamily="34" charset="-120"/>
              </a:rPr>
              <a:t>disini</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E0940-7E77-7BA6-8FE6-F653D673CCB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DB25D51-CD48-1E74-7F33-506F863B6E61}"/>
              </a:ext>
            </a:extLst>
          </p:cNvPr>
          <p:cNvSpPr/>
          <p:nvPr/>
        </p:nvSpPr>
        <p:spPr>
          <a:xfrm>
            <a:off x="22107" y="0"/>
            <a:ext cx="12192000" cy="683117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1" name="Text 18">
            <a:extLst>
              <a:ext uri="{FF2B5EF4-FFF2-40B4-BE49-F238E27FC236}">
                <a16:creationId xmlns:a16="http://schemas.microsoft.com/office/drawing/2014/main" id="{834DFB1E-F0EE-D4FB-14CB-277DE602AB14}"/>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7</a:t>
            </a:r>
            <a:endParaRPr lang="en-US" sz="850" dirty="0"/>
          </a:p>
        </p:txBody>
      </p:sp>
      <p:graphicFrame>
        <p:nvGraphicFramePr>
          <p:cNvPr id="2" name="Table 1">
            <a:extLst>
              <a:ext uri="{FF2B5EF4-FFF2-40B4-BE49-F238E27FC236}">
                <a16:creationId xmlns:a16="http://schemas.microsoft.com/office/drawing/2014/main" id="{F24BD24D-96B3-488A-86D5-D5AC2C2C5B1E}"/>
              </a:ext>
            </a:extLst>
          </p:cNvPr>
          <p:cNvGraphicFramePr>
            <a:graphicFrameLocks noGrp="1"/>
          </p:cNvGraphicFramePr>
          <p:nvPr>
            <p:extLst>
              <p:ext uri="{D42A27DB-BD31-4B8C-83A1-F6EECF244321}">
                <p14:modId xmlns:p14="http://schemas.microsoft.com/office/powerpoint/2010/main" val="1723752406"/>
              </p:ext>
            </p:extLst>
          </p:nvPr>
        </p:nvGraphicFramePr>
        <p:xfrm>
          <a:off x="1045027" y="1401837"/>
          <a:ext cx="10232268" cy="4665133"/>
        </p:xfrm>
        <a:graphic>
          <a:graphicData uri="http://schemas.openxmlformats.org/drawingml/2006/table">
            <a:tbl>
              <a:tblPr firstRow="1" bandRow="1">
                <a:tableStyleId>{5C22544A-7EE6-4342-B048-85BDC9FD1C3A}</a:tableStyleId>
              </a:tblPr>
              <a:tblGrid>
                <a:gridCol w="5116134">
                  <a:extLst>
                    <a:ext uri="{9D8B030D-6E8A-4147-A177-3AD203B41FA5}">
                      <a16:colId xmlns:a16="http://schemas.microsoft.com/office/drawing/2014/main" val="252780629"/>
                    </a:ext>
                  </a:extLst>
                </a:gridCol>
                <a:gridCol w="5116134">
                  <a:extLst>
                    <a:ext uri="{9D8B030D-6E8A-4147-A177-3AD203B41FA5}">
                      <a16:colId xmlns:a16="http://schemas.microsoft.com/office/drawing/2014/main" val="1445970871"/>
                    </a:ext>
                  </a:extLst>
                </a:gridCol>
              </a:tblGrid>
              <a:tr h="1162650">
                <a:tc>
                  <a:txBody>
                    <a:bodyPr/>
                    <a:lstStyle/>
                    <a:p>
                      <a:pPr algn="ctr"/>
                      <a:r>
                        <a:rPr lang="en-US" sz="1600" dirty="0"/>
                        <a:t>Nama Kolom</a:t>
                      </a:r>
                      <a:endParaRPr lang="en-ID" sz="1600" dirty="0"/>
                    </a:p>
                  </a:txBody>
                  <a:tcPr anchor="ctr"/>
                </a:tc>
                <a:tc>
                  <a:txBody>
                    <a:bodyPr/>
                    <a:lstStyle/>
                    <a:p>
                      <a:pPr algn="ctr"/>
                      <a:r>
                        <a:rPr lang="en-US" sz="1600" dirty="0" err="1"/>
                        <a:t>Deskripsi</a:t>
                      </a:r>
                      <a:endParaRPr lang="en-ID" sz="1600" dirty="0"/>
                    </a:p>
                  </a:txBody>
                  <a:tcPr anchor="ctr"/>
                </a:tc>
                <a:extLst>
                  <a:ext uri="{0D108BD9-81ED-4DB2-BD59-A6C34878D82A}">
                    <a16:rowId xmlns:a16="http://schemas.microsoft.com/office/drawing/2014/main" val="3642746610"/>
                  </a:ext>
                </a:extLst>
              </a:tr>
              <a:tr h="1177183">
                <a:tc>
                  <a:txBody>
                    <a:bodyPr/>
                    <a:lstStyle/>
                    <a:p>
                      <a:pPr algn="ctr"/>
                      <a:r>
                        <a:rPr lang="en-US" sz="1600" dirty="0" err="1"/>
                        <a:t>Member_Number</a:t>
                      </a:r>
                      <a:endParaRPr lang="en-ID" sz="1600" dirty="0"/>
                    </a:p>
                  </a:txBody>
                  <a:tcPr anchor="ctr"/>
                </a:tc>
                <a:tc>
                  <a:txBody>
                    <a:bodyPr/>
                    <a:lstStyle/>
                    <a:p>
                      <a:pPr algn="ctr"/>
                      <a:r>
                        <a:rPr lang="en-ID" sz="1600" dirty="0" err="1"/>
                        <a:t>Nomor</a:t>
                      </a:r>
                      <a:r>
                        <a:rPr lang="en-ID" sz="1600" dirty="0"/>
                        <a:t> </a:t>
                      </a:r>
                      <a:r>
                        <a:rPr lang="en-ID" sz="1600" dirty="0" err="1"/>
                        <a:t>identitas</a:t>
                      </a:r>
                      <a:r>
                        <a:rPr lang="en-ID" sz="1600" dirty="0"/>
                        <a:t> </a:t>
                      </a:r>
                      <a:r>
                        <a:rPr lang="en-ID" sz="1600" dirty="0" err="1"/>
                        <a:t>unik</a:t>
                      </a:r>
                      <a:r>
                        <a:rPr lang="en-ID" sz="1600" dirty="0"/>
                        <a:t> </a:t>
                      </a:r>
                      <a:r>
                        <a:rPr lang="en-ID" sz="1600" dirty="0" err="1"/>
                        <a:t>pelanggan</a:t>
                      </a:r>
                      <a:r>
                        <a:rPr lang="en-ID" sz="1600" dirty="0"/>
                        <a:t> (</a:t>
                      </a:r>
                      <a:r>
                        <a:rPr lang="en-ID" sz="1600" i="1" dirty="0"/>
                        <a:t>Customer ID</a:t>
                      </a:r>
                      <a:r>
                        <a:rPr lang="en-ID" sz="1600" dirty="0"/>
                        <a:t>) yang </a:t>
                      </a:r>
                      <a:r>
                        <a:rPr lang="en-ID" sz="1600" dirty="0" err="1"/>
                        <a:t>terdaftar</a:t>
                      </a:r>
                      <a:r>
                        <a:rPr lang="en-ID" sz="1600" dirty="0"/>
                        <a:t> di toko/supermarket.</a:t>
                      </a:r>
                    </a:p>
                  </a:txBody>
                  <a:tcPr anchor="ctr"/>
                </a:tc>
                <a:extLst>
                  <a:ext uri="{0D108BD9-81ED-4DB2-BD59-A6C34878D82A}">
                    <a16:rowId xmlns:a16="http://schemas.microsoft.com/office/drawing/2014/main" val="3633340297"/>
                  </a:ext>
                </a:extLst>
              </a:tr>
              <a:tr h="1162650">
                <a:tc>
                  <a:txBody>
                    <a:bodyPr/>
                    <a:lstStyle/>
                    <a:p>
                      <a:pPr algn="ctr"/>
                      <a:r>
                        <a:rPr lang="en-US" sz="1600" dirty="0"/>
                        <a:t>Date</a:t>
                      </a:r>
                      <a:endParaRPr lang="en-ID" sz="1600" dirty="0"/>
                    </a:p>
                  </a:txBody>
                  <a:tcPr anchor="ctr"/>
                </a:tc>
                <a:tc>
                  <a:txBody>
                    <a:bodyPr/>
                    <a:lstStyle/>
                    <a:p>
                      <a:pPr algn="ctr"/>
                      <a:r>
                        <a:rPr lang="en-ID" sz="1600" dirty="0" err="1"/>
                        <a:t>Tanggal</a:t>
                      </a:r>
                      <a:r>
                        <a:rPr lang="en-ID" sz="1600" dirty="0"/>
                        <a:t> </a:t>
                      </a:r>
                      <a:r>
                        <a:rPr lang="en-ID" sz="1600" dirty="0" err="1"/>
                        <a:t>dilakukannya</a:t>
                      </a:r>
                      <a:r>
                        <a:rPr lang="en-ID" sz="1600" dirty="0"/>
                        <a:t> </a:t>
                      </a:r>
                      <a:r>
                        <a:rPr lang="en-ID" sz="1600" dirty="0" err="1"/>
                        <a:t>transaksi</a:t>
                      </a:r>
                      <a:r>
                        <a:rPr lang="en-ID" sz="1600" dirty="0"/>
                        <a:t> </a:t>
                      </a:r>
                      <a:r>
                        <a:rPr lang="en-ID" sz="1600" dirty="0" err="1"/>
                        <a:t>belanja</a:t>
                      </a:r>
                      <a:r>
                        <a:rPr lang="en-ID" sz="1600" dirty="0"/>
                        <a:t>.</a:t>
                      </a:r>
                    </a:p>
                  </a:txBody>
                  <a:tcPr anchor="ctr"/>
                </a:tc>
                <a:extLst>
                  <a:ext uri="{0D108BD9-81ED-4DB2-BD59-A6C34878D82A}">
                    <a16:rowId xmlns:a16="http://schemas.microsoft.com/office/drawing/2014/main" val="3802984837"/>
                  </a:ext>
                </a:extLst>
              </a:tr>
              <a:tr h="1162650">
                <a:tc>
                  <a:txBody>
                    <a:bodyPr/>
                    <a:lstStyle/>
                    <a:p>
                      <a:pPr algn="ctr"/>
                      <a:r>
                        <a:rPr lang="en-US" sz="1600" dirty="0" err="1"/>
                        <a:t>ItemDescription</a:t>
                      </a:r>
                      <a:endParaRPr lang="en-ID" sz="1600" dirty="0"/>
                    </a:p>
                  </a:txBody>
                  <a:tcPr anchor="ctr"/>
                </a:tc>
                <a:tc>
                  <a:txBody>
                    <a:bodyPr/>
                    <a:lstStyle/>
                    <a:p>
                      <a:pPr algn="ctr"/>
                      <a:r>
                        <a:rPr lang="en-ID" sz="1600" dirty="0"/>
                        <a:t>Jenis </a:t>
                      </a:r>
                      <a:r>
                        <a:rPr lang="en-ID" sz="1600" dirty="0" err="1"/>
                        <a:t>barang</a:t>
                      </a:r>
                      <a:r>
                        <a:rPr lang="en-ID" sz="1600" dirty="0"/>
                        <a:t>/</a:t>
                      </a:r>
                      <a:r>
                        <a:rPr lang="en-ID" sz="1600" dirty="0" err="1"/>
                        <a:t>produk</a:t>
                      </a:r>
                      <a:r>
                        <a:rPr lang="en-ID" sz="1600" dirty="0"/>
                        <a:t> yang </a:t>
                      </a:r>
                      <a:r>
                        <a:rPr lang="en-ID" sz="1600" dirty="0" err="1"/>
                        <a:t>dibeli</a:t>
                      </a:r>
                      <a:r>
                        <a:rPr lang="en-ID" sz="1600" dirty="0"/>
                        <a:t> oleh </a:t>
                      </a:r>
                      <a:r>
                        <a:rPr lang="en-ID" sz="1600" dirty="0" err="1"/>
                        <a:t>pelanggan</a:t>
                      </a:r>
                      <a:r>
                        <a:rPr lang="en-ID" sz="1600" dirty="0"/>
                        <a:t>.</a:t>
                      </a:r>
                    </a:p>
                  </a:txBody>
                  <a:tcPr anchor="ctr"/>
                </a:tc>
                <a:extLst>
                  <a:ext uri="{0D108BD9-81ED-4DB2-BD59-A6C34878D82A}">
                    <a16:rowId xmlns:a16="http://schemas.microsoft.com/office/drawing/2014/main" val="141049792"/>
                  </a:ext>
                </a:extLst>
              </a:tr>
            </a:tbl>
          </a:graphicData>
        </a:graphic>
      </p:graphicFrame>
      <p:sp>
        <p:nvSpPr>
          <p:cNvPr id="6" name="Text 0">
            <a:extLst>
              <a:ext uri="{FF2B5EF4-FFF2-40B4-BE49-F238E27FC236}">
                <a16:creationId xmlns:a16="http://schemas.microsoft.com/office/drawing/2014/main" id="{23AC3A4D-C099-08E3-3A10-DAC96276DA28}"/>
              </a:ext>
            </a:extLst>
          </p:cNvPr>
          <p:cNvSpPr/>
          <p:nvPr/>
        </p:nvSpPr>
        <p:spPr>
          <a:xfrm>
            <a:off x="548640" y="411480"/>
            <a:ext cx="9144000" cy="548640"/>
          </a:xfrm>
          <a:prstGeom prst="rect">
            <a:avLst/>
          </a:prstGeom>
          <a:noFill/>
          <a:ln/>
        </p:spPr>
        <p:txBody>
          <a:bodyPr wrap="square" rtlCol="0" anchor="ctr"/>
          <a:lstStyle/>
          <a:p>
            <a:r>
              <a:rPr lang="en-US" sz="2800" b="1" dirty="0" err="1">
                <a:solidFill>
                  <a:srgbClr val="1E2761"/>
                </a:solidFill>
                <a:latin typeface="Cambria" pitchFamily="34" charset="0"/>
                <a:ea typeface="Cambria" pitchFamily="34" charset="-122"/>
              </a:rPr>
              <a:t>Deskripsi</a:t>
            </a:r>
            <a:r>
              <a:rPr lang="en-US" sz="2800" b="1" dirty="0">
                <a:solidFill>
                  <a:srgbClr val="1E2761"/>
                </a:solidFill>
                <a:latin typeface="Cambria" pitchFamily="34" charset="0"/>
                <a:ea typeface="Cambria" pitchFamily="34" charset="-122"/>
              </a:rPr>
              <a:t> </a:t>
            </a:r>
            <a:r>
              <a:rPr lang="en-US" sz="2800" b="1" dirty="0" err="1">
                <a:solidFill>
                  <a:srgbClr val="1E2761"/>
                </a:solidFill>
                <a:latin typeface="Cambria" pitchFamily="34" charset="0"/>
                <a:ea typeface="Cambria" pitchFamily="34" charset="-122"/>
              </a:rPr>
              <a:t>kolom</a:t>
            </a:r>
            <a:r>
              <a:rPr lang="en-US" sz="2800" b="1" dirty="0">
                <a:solidFill>
                  <a:srgbClr val="1E2761"/>
                </a:solidFill>
                <a:latin typeface="Cambria" pitchFamily="34" charset="0"/>
                <a:ea typeface="Cambria" pitchFamily="34" charset="-122"/>
              </a:rPr>
              <a:t> Dataset</a:t>
            </a:r>
          </a:p>
        </p:txBody>
      </p:sp>
    </p:spTree>
    <p:extLst>
      <p:ext uri="{BB962C8B-B14F-4D97-AF65-F5344CB8AC3E}">
        <p14:creationId xmlns:p14="http://schemas.microsoft.com/office/powerpoint/2010/main" val="835593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42D65-C82B-528E-A1DB-C48F74333EC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0B5C95B-ABB3-B405-B249-2A401567D155}"/>
              </a:ext>
            </a:extLst>
          </p:cNvPr>
          <p:cNvSpPr/>
          <p:nvPr/>
        </p:nvSpPr>
        <p:spPr>
          <a:xfrm>
            <a:off x="22107" y="0"/>
            <a:ext cx="12192000" cy="683117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1" name="Text 18">
            <a:extLst>
              <a:ext uri="{FF2B5EF4-FFF2-40B4-BE49-F238E27FC236}">
                <a16:creationId xmlns:a16="http://schemas.microsoft.com/office/drawing/2014/main" id="{705ECC33-5E1E-BF14-92F6-EB7CF108219F}"/>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7</a:t>
            </a:r>
            <a:endParaRPr lang="en-US" sz="850" dirty="0"/>
          </a:p>
        </p:txBody>
      </p:sp>
      <p:graphicFrame>
        <p:nvGraphicFramePr>
          <p:cNvPr id="2" name="Table 1">
            <a:extLst>
              <a:ext uri="{FF2B5EF4-FFF2-40B4-BE49-F238E27FC236}">
                <a16:creationId xmlns:a16="http://schemas.microsoft.com/office/drawing/2014/main" id="{4594A320-62AC-E319-94AB-3E117BB34193}"/>
              </a:ext>
            </a:extLst>
          </p:cNvPr>
          <p:cNvGraphicFramePr>
            <a:graphicFrameLocks noGrp="1"/>
          </p:cNvGraphicFramePr>
          <p:nvPr>
            <p:extLst>
              <p:ext uri="{D42A27DB-BD31-4B8C-83A1-F6EECF244321}">
                <p14:modId xmlns:p14="http://schemas.microsoft.com/office/powerpoint/2010/main" val="195884550"/>
              </p:ext>
            </p:extLst>
          </p:nvPr>
        </p:nvGraphicFramePr>
        <p:xfrm>
          <a:off x="1045027" y="1401836"/>
          <a:ext cx="10232268" cy="4883805"/>
        </p:xfrm>
        <a:graphic>
          <a:graphicData uri="http://schemas.openxmlformats.org/drawingml/2006/table">
            <a:tbl>
              <a:tblPr firstRow="1" bandRow="1">
                <a:tableStyleId>{5C22544A-7EE6-4342-B048-85BDC9FD1C3A}</a:tableStyleId>
              </a:tblPr>
              <a:tblGrid>
                <a:gridCol w="5116134">
                  <a:extLst>
                    <a:ext uri="{9D8B030D-6E8A-4147-A177-3AD203B41FA5}">
                      <a16:colId xmlns:a16="http://schemas.microsoft.com/office/drawing/2014/main" val="252780629"/>
                    </a:ext>
                  </a:extLst>
                </a:gridCol>
                <a:gridCol w="5116134">
                  <a:extLst>
                    <a:ext uri="{9D8B030D-6E8A-4147-A177-3AD203B41FA5}">
                      <a16:colId xmlns:a16="http://schemas.microsoft.com/office/drawing/2014/main" val="1445970871"/>
                    </a:ext>
                  </a:extLst>
                </a:gridCol>
              </a:tblGrid>
              <a:tr h="789082">
                <a:tc>
                  <a:txBody>
                    <a:bodyPr/>
                    <a:lstStyle/>
                    <a:p>
                      <a:pPr algn="ctr"/>
                      <a:r>
                        <a:rPr lang="en-US" sz="1600" dirty="0"/>
                        <a:t>Nama Kolom</a:t>
                      </a:r>
                      <a:endParaRPr lang="en-ID" sz="1600" dirty="0"/>
                    </a:p>
                  </a:txBody>
                  <a:tcPr anchor="ctr"/>
                </a:tc>
                <a:tc>
                  <a:txBody>
                    <a:bodyPr/>
                    <a:lstStyle/>
                    <a:p>
                      <a:pPr algn="ctr"/>
                      <a:r>
                        <a:rPr lang="en-US" sz="1600" dirty="0" err="1"/>
                        <a:t>Deskripsi</a:t>
                      </a:r>
                      <a:endParaRPr lang="en-ID" sz="1600" dirty="0"/>
                    </a:p>
                  </a:txBody>
                  <a:tcPr anchor="ctr"/>
                </a:tc>
                <a:extLst>
                  <a:ext uri="{0D108BD9-81ED-4DB2-BD59-A6C34878D82A}">
                    <a16:rowId xmlns:a16="http://schemas.microsoft.com/office/drawing/2014/main" val="3642746610"/>
                  </a:ext>
                </a:extLst>
              </a:tr>
              <a:tr h="904517">
                <a:tc>
                  <a:txBody>
                    <a:bodyPr/>
                    <a:lstStyle/>
                    <a:p>
                      <a:pPr algn="ctr"/>
                      <a:r>
                        <a:rPr lang="en-US" sz="1600" dirty="0" err="1"/>
                        <a:t>Transaction_ID</a:t>
                      </a:r>
                      <a:endParaRPr lang="en-ID" sz="1600" dirty="0"/>
                    </a:p>
                  </a:txBody>
                  <a:tcPr anchor="ctr"/>
                </a:tc>
                <a:tc>
                  <a:txBody>
                    <a:bodyPr/>
                    <a:lstStyle/>
                    <a:p>
                      <a:pPr algn="ctr"/>
                      <a:r>
                        <a:rPr lang="en-ID" sz="1600" dirty="0" err="1"/>
                        <a:t>Nomor</a:t>
                      </a:r>
                      <a:r>
                        <a:rPr lang="en-ID" sz="1600" dirty="0"/>
                        <a:t> </a:t>
                      </a:r>
                      <a:r>
                        <a:rPr lang="en-ID" sz="1600" dirty="0" err="1"/>
                        <a:t>identitas</a:t>
                      </a:r>
                      <a:r>
                        <a:rPr lang="en-ID" sz="1600" dirty="0"/>
                        <a:t> </a:t>
                      </a:r>
                      <a:r>
                        <a:rPr lang="en-ID" sz="1600" dirty="0" err="1"/>
                        <a:t>untuk</a:t>
                      </a:r>
                      <a:r>
                        <a:rPr lang="en-ID" sz="1600" dirty="0"/>
                        <a:t> </a:t>
                      </a:r>
                      <a:r>
                        <a:rPr lang="en-ID" sz="1600" dirty="0" err="1"/>
                        <a:t>menemukan</a:t>
                      </a:r>
                      <a:r>
                        <a:rPr lang="en-ID" sz="1600" dirty="0"/>
                        <a:t> </a:t>
                      </a:r>
                      <a:r>
                        <a:rPr lang="en-ID" sz="1600" dirty="0" err="1"/>
                        <a:t>pola</a:t>
                      </a:r>
                      <a:r>
                        <a:rPr lang="en-ID" sz="1600" dirty="0"/>
                        <a:t> </a:t>
                      </a:r>
                      <a:r>
                        <a:rPr lang="en-ID" sz="1600" dirty="0" err="1"/>
                        <a:t>keranjang</a:t>
                      </a:r>
                      <a:r>
                        <a:rPr lang="en-ID" sz="1600" dirty="0"/>
                        <a:t>..</a:t>
                      </a:r>
                    </a:p>
                  </a:txBody>
                  <a:tcPr anchor="ctr"/>
                </a:tc>
                <a:extLst>
                  <a:ext uri="{0D108BD9-81ED-4DB2-BD59-A6C34878D82A}">
                    <a16:rowId xmlns:a16="http://schemas.microsoft.com/office/drawing/2014/main" val="3633340297"/>
                  </a:ext>
                </a:extLst>
              </a:tr>
              <a:tr h="789082">
                <a:tc>
                  <a:txBody>
                    <a:bodyPr/>
                    <a:lstStyle/>
                    <a:p>
                      <a:pPr algn="ctr"/>
                      <a:r>
                        <a:rPr lang="en-US" sz="1600" dirty="0" err="1"/>
                        <a:t>Basket_Size</a:t>
                      </a:r>
                      <a:endParaRPr lang="en-ID" sz="1600" dirty="0"/>
                    </a:p>
                  </a:txBody>
                  <a:tcPr anchor="ctr"/>
                </a:tc>
                <a:tc>
                  <a:txBody>
                    <a:bodyPr/>
                    <a:lstStyle/>
                    <a:p>
                      <a:pPr algn="ctr"/>
                      <a:r>
                        <a:rPr lang="en-US" sz="1600" dirty="0"/>
                        <a:t>J</a:t>
                      </a:r>
                      <a:r>
                        <a:rPr lang="en-ID" sz="1600" dirty="0" err="1"/>
                        <a:t>umlah</a:t>
                      </a:r>
                      <a:r>
                        <a:rPr lang="en-ID" sz="1600" dirty="0"/>
                        <a:t> </a:t>
                      </a:r>
                      <a:r>
                        <a:rPr lang="en-ID" sz="1600" dirty="0" err="1"/>
                        <a:t>barang</a:t>
                      </a:r>
                      <a:r>
                        <a:rPr lang="en-ID" sz="1600" dirty="0"/>
                        <a:t> yang </a:t>
                      </a:r>
                      <a:r>
                        <a:rPr lang="en-ID" sz="1600" dirty="0" err="1"/>
                        <a:t>dibeli</a:t>
                      </a:r>
                      <a:r>
                        <a:rPr lang="en-ID" sz="1600" dirty="0"/>
                        <a:t> </a:t>
                      </a:r>
                      <a:r>
                        <a:rPr lang="en-ID" sz="1600" dirty="0" err="1"/>
                        <a:t>seorang</a:t>
                      </a:r>
                      <a:r>
                        <a:rPr lang="en-ID" sz="1600" dirty="0"/>
                        <a:t> </a:t>
                      </a:r>
                      <a:r>
                        <a:rPr lang="en-ID" sz="1600" dirty="0" err="1"/>
                        <a:t>pelanggan</a:t>
                      </a:r>
                      <a:r>
                        <a:rPr lang="en-ID" sz="1600" dirty="0"/>
                        <a:t> </a:t>
                      </a:r>
                      <a:r>
                        <a:rPr lang="en-ID" sz="1600" dirty="0" err="1"/>
                        <a:t>dalam</a:t>
                      </a:r>
                      <a:r>
                        <a:rPr lang="en-ID" sz="1600" dirty="0"/>
                        <a:t> </a:t>
                      </a:r>
                      <a:r>
                        <a:rPr lang="en-ID" sz="1600" dirty="0" err="1"/>
                        <a:t>satu</a:t>
                      </a:r>
                      <a:r>
                        <a:rPr lang="en-ID" sz="1600" dirty="0"/>
                        <a:t> </a:t>
                      </a:r>
                      <a:r>
                        <a:rPr lang="en-ID" sz="1600" dirty="0" err="1"/>
                        <a:t>keranjang</a:t>
                      </a:r>
                      <a:endParaRPr lang="en-ID" sz="1600" dirty="0"/>
                    </a:p>
                  </a:txBody>
                  <a:tcPr anchor="ctr"/>
                </a:tc>
                <a:extLst>
                  <a:ext uri="{0D108BD9-81ED-4DB2-BD59-A6C34878D82A}">
                    <a16:rowId xmlns:a16="http://schemas.microsoft.com/office/drawing/2014/main" val="3802984837"/>
                  </a:ext>
                </a:extLst>
              </a:tr>
              <a:tr h="789082">
                <a:tc>
                  <a:txBody>
                    <a:bodyPr/>
                    <a:lstStyle/>
                    <a:p>
                      <a:pPr algn="ctr"/>
                      <a:r>
                        <a:rPr lang="en-US" sz="1600" dirty="0" err="1"/>
                        <a:t>Basket_Category</a:t>
                      </a:r>
                      <a:endParaRPr lang="en-ID" sz="1600" dirty="0"/>
                    </a:p>
                  </a:txBody>
                  <a:tcPr anchor="ctr"/>
                </a:tc>
                <a:tc>
                  <a:txBody>
                    <a:bodyPr/>
                    <a:lstStyle/>
                    <a:p>
                      <a:pPr algn="ctr"/>
                      <a:r>
                        <a:rPr lang="en-ID" sz="1600" dirty="0" err="1"/>
                        <a:t>Segmentasi</a:t>
                      </a:r>
                      <a:r>
                        <a:rPr lang="en-ID" sz="1600" dirty="0"/>
                        <a:t> </a:t>
                      </a:r>
                      <a:r>
                        <a:rPr lang="en-ID" sz="1600" dirty="0" err="1"/>
                        <a:t>berdasarkan</a:t>
                      </a:r>
                      <a:r>
                        <a:rPr lang="en-ID" sz="1600" dirty="0"/>
                        <a:t> </a:t>
                      </a:r>
                      <a:r>
                        <a:rPr lang="en-ID" sz="1600" dirty="0" err="1"/>
                        <a:t>banyaknya</a:t>
                      </a:r>
                      <a:r>
                        <a:rPr lang="en-ID" sz="1600" dirty="0"/>
                        <a:t> </a:t>
                      </a:r>
                      <a:r>
                        <a:rPr lang="en-ID" sz="1600" dirty="0" err="1"/>
                        <a:t>barang</a:t>
                      </a:r>
                      <a:r>
                        <a:rPr lang="en-ID" sz="1600" dirty="0"/>
                        <a:t> pada </a:t>
                      </a:r>
                      <a:r>
                        <a:rPr lang="en-ID" sz="1600" dirty="0" err="1"/>
                        <a:t>keranjang</a:t>
                      </a:r>
                      <a:r>
                        <a:rPr lang="en-ID" sz="1600" dirty="0"/>
                        <a:t> </a:t>
                      </a:r>
                      <a:r>
                        <a:rPr lang="en-ID" sz="1600" dirty="0" err="1"/>
                        <a:t>dari</a:t>
                      </a:r>
                      <a:r>
                        <a:rPr lang="en-ID" sz="1600" dirty="0"/>
                        <a:t> small(1-2 items), medium(3-4 items), large(&gt;4 items) </a:t>
                      </a:r>
                    </a:p>
                  </a:txBody>
                  <a:tcPr anchor="ctr"/>
                </a:tc>
                <a:extLst>
                  <a:ext uri="{0D108BD9-81ED-4DB2-BD59-A6C34878D82A}">
                    <a16:rowId xmlns:a16="http://schemas.microsoft.com/office/drawing/2014/main" val="141049792"/>
                  </a:ext>
                </a:extLst>
              </a:tr>
              <a:tr h="789082">
                <a:tc>
                  <a:txBody>
                    <a:bodyPr/>
                    <a:lstStyle/>
                    <a:p>
                      <a:pPr algn="ctr"/>
                      <a:r>
                        <a:rPr lang="en-US" sz="1600" dirty="0" err="1"/>
                        <a:t>Day_Name</a:t>
                      </a:r>
                      <a:endParaRPr lang="en-ID" sz="1600" dirty="0"/>
                    </a:p>
                  </a:txBody>
                  <a:tcPr anchor="ctr"/>
                </a:tc>
                <a:tc>
                  <a:txBody>
                    <a:bodyPr/>
                    <a:lstStyle/>
                    <a:p>
                      <a:pPr algn="ctr"/>
                      <a:r>
                        <a:rPr lang="en-US" sz="1600" dirty="0" err="1"/>
                        <a:t>Mengambil</a:t>
                      </a:r>
                      <a:r>
                        <a:rPr lang="en-US" sz="1600" dirty="0"/>
                        <a:t> nama </a:t>
                      </a:r>
                      <a:r>
                        <a:rPr lang="en-US" sz="1600" dirty="0" err="1"/>
                        <a:t>hari</a:t>
                      </a:r>
                      <a:r>
                        <a:rPr lang="en-US" sz="1600" dirty="0"/>
                        <a:t> </a:t>
                      </a:r>
                      <a:r>
                        <a:rPr lang="en-US" sz="1600" dirty="0" err="1"/>
                        <a:t>dari</a:t>
                      </a:r>
                      <a:r>
                        <a:rPr lang="en-US" sz="1600" dirty="0"/>
                        <a:t> </a:t>
                      </a:r>
                      <a:r>
                        <a:rPr lang="en-US" sz="1600" dirty="0" err="1"/>
                        <a:t>kolom</a:t>
                      </a:r>
                      <a:r>
                        <a:rPr lang="en-US" sz="1600" dirty="0"/>
                        <a:t> Date</a:t>
                      </a:r>
                      <a:endParaRPr lang="en-ID" sz="1600" dirty="0"/>
                    </a:p>
                  </a:txBody>
                  <a:tcPr anchor="ctr"/>
                </a:tc>
                <a:extLst>
                  <a:ext uri="{0D108BD9-81ED-4DB2-BD59-A6C34878D82A}">
                    <a16:rowId xmlns:a16="http://schemas.microsoft.com/office/drawing/2014/main" val="2254675888"/>
                  </a:ext>
                </a:extLst>
              </a:tr>
              <a:tr h="789082">
                <a:tc>
                  <a:txBody>
                    <a:bodyPr/>
                    <a:lstStyle/>
                    <a:p>
                      <a:pPr algn="ctr"/>
                      <a:r>
                        <a:rPr lang="en-US" sz="1600" dirty="0" err="1"/>
                        <a:t>Kombinasi_produk</a:t>
                      </a:r>
                      <a:endParaRPr lang="en-ID" sz="1600" dirty="0"/>
                    </a:p>
                  </a:txBody>
                  <a:tcPr anchor="ctr"/>
                </a:tc>
                <a:tc>
                  <a:txBody>
                    <a:bodyPr/>
                    <a:lstStyle/>
                    <a:p>
                      <a:pPr algn="ctr"/>
                      <a:r>
                        <a:rPr lang="en-US" sz="1600" dirty="0"/>
                        <a:t>Kolom pada file </a:t>
                      </a:r>
                      <a:r>
                        <a:rPr lang="en-US" sz="1600" dirty="0" err="1"/>
                        <a:t>apriori</a:t>
                      </a:r>
                      <a:r>
                        <a:rPr lang="en-US" sz="1600" dirty="0"/>
                        <a:t> </a:t>
                      </a:r>
                      <a:r>
                        <a:rPr lang="en-US" sz="1600" dirty="0" err="1"/>
                        <a:t>untuk</a:t>
                      </a:r>
                      <a:r>
                        <a:rPr lang="en-US" sz="1600" dirty="0"/>
                        <a:t> </a:t>
                      </a:r>
                      <a:r>
                        <a:rPr lang="en-US" sz="1600" dirty="0" err="1"/>
                        <a:t>menghubungkan</a:t>
                      </a:r>
                      <a:r>
                        <a:rPr lang="en-US" sz="1600" dirty="0"/>
                        <a:t> </a:t>
                      </a:r>
                      <a:r>
                        <a:rPr lang="en-US" sz="1600" dirty="0" err="1"/>
                        <a:t>dengan</a:t>
                      </a:r>
                      <a:r>
                        <a:rPr lang="en-US" sz="1600" dirty="0"/>
                        <a:t> dataset </a:t>
                      </a:r>
                      <a:endParaRPr lang="en-ID" sz="1600" dirty="0"/>
                    </a:p>
                  </a:txBody>
                  <a:tcPr anchor="ctr"/>
                </a:tc>
                <a:extLst>
                  <a:ext uri="{0D108BD9-81ED-4DB2-BD59-A6C34878D82A}">
                    <a16:rowId xmlns:a16="http://schemas.microsoft.com/office/drawing/2014/main" val="1535558816"/>
                  </a:ext>
                </a:extLst>
              </a:tr>
            </a:tbl>
          </a:graphicData>
        </a:graphic>
      </p:graphicFrame>
      <p:sp>
        <p:nvSpPr>
          <p:cNvPr id="6" name="Text 0">
            <a:extLst>
              <a:ext uri="{FF2B5EF4-FFF2-40B4-BE49-F238E27FC236}">
                <a16:creationId xmlns:a16="http://schemas.microsoft.com/office/drawing/2014/main" id="{B59EB889-79DA-6FA6-D6B9-80CC1A236658}"/>
              </a:ext>
            </a:extLst>
          </p:cNvPr>
          <p:cNvSpPr/>
          <p:nvPr/>
        </p:nvSpPr>
        <p:spPr>
          <a:xfrm>
            <a:off x="548640" y="411480"/>
            <a:ext cx="9144000" cy="548640"/>
          </a:xfrm>
          <a:prstGeom prst="rect">
            <a:avLst/>
          </a:prstGeom>
          <a:noFill/>
          <a:ln/>
        </p:spPr>
        <p:txBody>
          <a:bodyPr wrap="square" rtlCol="0" anchor="ctr"/>
          <a:lstStyle/>
          <a:p>
            <a:r>
              <a:rPr lang="en-US" sz="2800" b="1" dirty="0">
                <a:solidFill>
                  <a:srgbClr val="1E2761"/>
                </a:solidFill>
                <a:latin typeface="Cambria" pitchFamily="34" charset="0"/>
                <a:ea typeface="Cambria" pitchFamily="34" charset="-122"/>
              </a:rPr>
              <a:t>Feature Engineering</a:t>
            </a:r>
          </a:p>
        </p:txBody>
      </p:sp>
    </p:spTree>
    <p:extLst>
      <p:ext uri="{BB962C8B-B14F-4D97-AF65-F5344CB8AC3E}">
        <p14:creationId xmlns:p14="http://schemas.microsoft.com/office/powerpoint/2010/main" val="168741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232B8-7153-DBD6-AABB-75EEB522BC4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3B316C6-2050-2EEA-D374-131AEBD882D0}"/>
              </a:ext>
            </a:extLst>
          </p:cNvPr>
          <p:cNvSpPr/>
          <p:nvPr/>
        </p:nvSpPr>
        <p:spPr>
          <a:xfrm>
            <a:off x="0" y="0"/>
            <a:ext cx="12192000" cy="683117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 name="Text 0">
            <a:extLst>
              <a:ext uri="{FF2B5EF4-FFF2-40B4-BE49-F238E27FC236}">
                <a16:creationId xmlns:a16="http://schemas.microsoft.com/office/drawing/2014/main" id="{398CDEBE-9594-EC13-F345-872AE1F88F56}"/>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pic>
        <p:nvPicPr>
          <p:cNvPr id="4" name="Image 0" descr="icon_database.png">
            <a:extLst>
              <a:ext uri="{FF2B5EF4-FFF2-40B4-BE49-F238E27FC236}">
                <a16:creationId xmlns:a16="http://schemas.microsoft.com/office/drawing/2014/main" id="{BF5F9E11-2D11-F922-277D-50A9E8972D58}"/>
              </a:ext>
            </a:extLst>
          </p:cNvPr>
          <p:cNvPicPr>
            <a:picLocks noChangeAspect="1"/>
          </p:cNvPicPr>
          <p:nvPr/>
        </p:nvPicPr>
        <p:blipFill>
          <a:blip r:embed="rId3"/>
          <a:stretch>
            <a:fillRect/>
          </a:stretch>
        </p:blipFill>
        <p:spPr>
          <a:xfrm>
            <a:off x="692658" y="1424178"/>
            <a:ext cx="352044" cy="352044"/>
          </a:xfrm>
          <a:prstGeom prst="rect">
            <a:avLst/>
          </a:prstGeom>
        </p:spPr>
      </p:pic>
      <p:sp>
        <p:nvSpPr>
          <p:cNvPr id="29" name="Text 26">
            <a:extLst>
              <a:ext uri="{FF2B5EF4-FFF2-40B4-BE49-F238E27FC236}">
                <a16:creationId xmlns:a16="http://schemas.microsoft.com/office/drawing/2014/main" id="{F7AC3EAF-9884-AFAB-F4D7-469B3E40B06D}"/>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2" name="Shape 5">
            <a:extLst>
              <a:ext uri="{FF2B5EF4-FFF2-40B4-BE49-F238E27FC236}">
                <a16:creationId xmlns:a16="http://schemas.microsoft.com/office/drawing/2014/main" id="{29AD0AD9-D0B8-FCD3-6EC6-CE6186C69DBD}"/>
              </a:ext>
            </a:extLst>
          </p:cNvPr>
          <p:cNvSpPr/>
          <p:nvPr/>
        </p:nvSpPr>
        <p:spPr>
          <a:xfrm>
            <a:off x="130229" y="4592359"/>
            <a:ext cx="11835333" cy="1985999"/>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5" name="Text 6">
            <a:extLst>
              <a:ext uri="{FF2B5EF4-FFF2-40B4-BE49-F238E27FC236}">
                <a16:creationId xmlns:a16="http://schemas.microsoft.com/office/drawing/2014/main" id="{542E7EC0-49AD-F5BE-15D3-B1B343700F0E}"/>
              </a:ext>
            </a:extLst>
          </p:cNvPr>
          <p:cNvSpPr/>
          <p:nvPr/>
        </p:nvSpPr>
        <p:spPr>
          <a:xfrm>
            <a:off x="415435" y="4592359"/>
            <a:ext cx="5174955" cy="436321"/>
          </a:xfrm>
          <a:prstGeom prst="rect">
            <a:avLst/>
          </a:prstGeom>
          <a:noFill/>
          <a:ln/>
        </p:spPr>
        <p:txBody>
          <a:bodyPr wrap="square" rtlCol="0" anchor="ctr"/>
          <a:lstStyle/>
          <a:p>
            <a:pPr marL="0" indent="0">
              <a:buNone/>
            </a:pPr>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17" name="Text 8">
            <a:extLst>
              <a:ext uri="{FF2B5EF4-FFF2-40B4-BE49-F238E27FC236}">
                <a16:creationId xmlns:a16="http://schemas.microsoft.com/office/drawing/2014/main" id="{8F572C53-7199-6926-6D06-E211872C7FBA}"/>
              </a:ext>
            </a:extLst>
          </p:cNvPr>
          <p:cNvSpPr/>
          <p:nvPr/>
        </p:nvSpPr>
        <p:spPr>
          <a:xfrm>
            <a:off x="367331" y="5041210"/>
            <a:ext cx="11598231" cy="1537148"/>
          </a:xfrm>
          <a:prstGeom prst="rect">
            <a:avLst/>
          </a:prstGeom>
          <a:noFill/>
          <a:ln/>
        </p:spPr>
        <p:txBody>
          <a:bodyPr wrap="square" rtlCol="0" anchor="t"/>
          <a:lstStyle/>
          <a:p>
            <a:r>
              <a:rPr lang="en-US" sz="2000" dirty="0" err="1">
                <a:solidFill>
                  <a:srgbClr val="444444"/>
                </a:solidFill>
                <a:latin typeface="Calibri" pitchFamily="34" charset="0"/>
                <a:ea typeface="Calibri" pitchFamily="34" charset="-122"/>
                <a:cs typeface="Calibri" pitchFamily="34" charset="-120"/>
              </a:rPr>
              <a:t>Berdasarkan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hasil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eksplorasi</a:t>
            </a:r>
            <a:r>
              <a:rPr lang="en-US" sz="2000" dirty="0">
                <a:solidFill>
                  <a:srgbClr val="444444"/>
                </a:solidFill>
                <a:latin typeface="Calibri" pitchFamily="34" charset="0"/>
                <a:ea typeface="Calibri" pitchFamily="34" charset="-122"/>
                <a:cs typeface="Calibri" pitchFamily="34" charset="-120"/>
              </a:rPr>
              <a:t> data, dataset </a:t>
            </a:r>
            <a:r>
              <a:rPr lang="en-US" sz="2000" dirty="0" err="1">
                <a:solidFill>
                  <a:srgbClr val="444444"/>
                </a:solidFill>
                <a:latin typeface="Calibri" pitchFamily="34" charset="0"/>
                <a:ea typeface="Calibri" pitchFamily="34" charset="-122"/>
                <a:cs typeface="Calibri" pitchFamily="34" charset="-120"/>
              </a:rPr>
              <a:t>terdiri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dari</a:t>
            </a:r>
            <a:r>
              <a:rPr lang="en-US" sz="2000" dirty="0">
                <a:solidFill>
                  <a:srgbClr val="444444"/>
                </a:solidFill>
                <a:latin typeface="Calibri" pitchFamily="34" charset="0"/>
                <a:ea typeface="Calibri" pitchFamily="34" charset="-122"/>
                <a:cs typeface="Calibri" pitchFamily="34" charset="-120"/>
              </a:rPr>
              <a:t> 38.765 baris dan 3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tanpa</a:t>
            </a:r>
            <a:r>
              <a:rPr lang="en-US" sz="2000" dirty="0">
                <a:solidFill>
                  <a:srgbClr val="444444"/>
                </a:solidFill>
                <a:latin typeface="Calibri" pitchFamily="34" charset="0"/>
                <a:ea typeface="Calibri" pitchFamily="34" charset="-122"/>
                <a:cs typeface="Calibri" pitchFamily="34" charset="-120"/>
              </a:rPr>
              <a:t> missing values, </a:t>
            </a:r>
            <a:r>
              <a:rPr lang="en-US" sz="2000" dirty="0" err="1">
                <a:solidFill>
                  <a:srgbClr val="444444"/>
                </a:solidFill>
                <a:latin typeface="Calibri" pitchFamily="34" charset="0"/>
                <a:ea typeface="Calibri" pitchFamily="34" charset="-122"/>
                <a:cs typeface="Calibri" pitchFamily="34" charset="-120"/>
              </a:rPr>
              <a:t>serta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memiliki</a:t>
            </a:r>
            <a:r>
              <a:rPr lang="en-US" sz="2000" dirty="0">
                <a:solidFill>
                  <a:srgbClr val="444444"/>
                </a:solidFill>
                <a:latin typeface="Calibri" pitchFamily="34" charset="0"/>
                <a:ea typeface="Calibri" pitchFamily="34" charset="-122"/>
                <a:cs typeface="Calibri" pitchFamily="34" charset="-120"/>
              </a:rPr>
              <a:t> 759 baris </a:t>
            </a:r>
            <a:r>
              <a:rPr lang="en-US" sz="2000" dirty="0" err="1">
                <a:solidFill>
                  <a:srgbClr val="444444"/>
                </a:solidFill>
                <a:latin typeface="Calibri" pitchFamily="34" charset="0"/>
                <a:ea typeface="Calibri" pitchFamily="34" charset="-122"/>
                <a:cs typeface="Calibri" pitchFamily="34" charset="-120"/>
              </a:rPr>
              <a:t>duplikat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awal</a:t>
            </a:r>
            <a:r>
              <a:rPr lang="en-US" sz="2000" dirty="0">
                <a:solidFill>
                  <a:srgbClr val="444444"/>
                </a:solidFill>
                <a:latin typeface="Calibri" pitchFamily="34" charset="0"/>
                <a:ea typeface="Calibri" pitchFamily="34" charset="-122"/>
                <a:cs typeface="Calibri" pitchFamily="34" charset="-120"/>
              </a:rPr>
              <a:t> (1,96%). </a:t>
            </a:r>
            <a:r>
              <a:rPr lang="en-US" sz="2000" dirty="0" err="1">
                <a:solidFill>
                  <a:srgbClr val="444444"/>
                </a:solidFill>
                <a:latin typeface="Calibri" pitchFamily="34" charset="0"/>
                <a:ea typeface="Calibri" pitchFamily="34" charset="-122"/>
                <a:cs typeface="Calibri" pitchFamily="34" charset="-120"/>
              </a:rPr>
              <a:t>Ditemukan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beberapa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isu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tipe</a:t>
            </a:r>
            <a:r>
              <a:rPr lang="en-US" sz="2000" dirty="0">
                <a:solidFill>
                  <a:srgbClr val="444444"/>
                </a:solidFill>
                <a:latin typeface="Calibri" pitchFamily="34" charset="0"/>
                <a:ea typeface="Calibri" pitchFamily="34" charset="-122"/>
                <a:cs typeface="Calibri" pitchFamily="34" charset="-120"/>
              </a:rPr>
              <a:t> data, </a:t>
            </a:r>
            <a:r>
              <a:rPr lang="en-US" sz="2000" dirty="0" err="1">
                <a:solidFill>
                  <a:srgbClr val="444444"/>
                </a:solidFill>
                <a:latin typeface="Calibri" pitchFamily="34" charset="0"/>
                <a:ea typeface="Calibri" pitchFamily="34" charset="-122"/>
                <a:cs typeface="Calibri" pitchFamily="34" charset="-120"/>
              </a:rPr>
              <a:t>yaitu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Member_number</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bertipe</a:t>
            </a:r>
            <a:r>
              <a:rPr lang="en-US" sz="2000" dirty="0">
                <a:solidFill>
                  <a:srgbClr val="444444"/>
                </a:solidFill>
                <a:latin typeface="Calibri" pitchFamily="34" charset="0"/>
                <a:ea typeface="Calibri" pitchFamily="34" charset="-122"/>
                <a:cs typeface="Calibri" pitchFamily="34" charset="-120"/>
              </a:rPr>
              <a:t> integer yang </a:t>
            </a:r>
            <a:r>
              <a:rPr lang="en-US" sz="2000" dirty="0" err="1">
                <a:solidFill>
                  <a:srgbClr val="444444"/>
                </a:solidFill>
                <a:latin typeface="Calibri" pitchFamily="34" charset="0"/>
                <a:ea typeface="Calibri" pitchFamily="34" charset="-122"/>
                <a:cs typeface="Calibri" pitchFamily="34" charset="-120"/>
              </a:rPr>
              <a:t>perlu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diubah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a:t>
            </a:r>
            <a:r>
              <a:rPr lang="en-US" sz="2000" dirty="0">
                <a:solidFill>
                  <a:srgbClr val="444444"/>
                </a:solidFill>
                <a:latin typeface="Calibri" pitchFamily="34" charset="0"/>
                <a:ea typeface="Calibri" pitchFamily="34" charset="-122"/>
                <a:cs typeface="Calibri" pitchFamily="34" charset="-120"/>
              </a:rPr>
              <a:t> string dan Date </a:t>
            </a:r>
            <a:r>
              <a:rPr lang="en-US" sz="2000" dirty="0" err="1">
                <a:solidFill>
                  <a:srgbClr val="444444"/>
                </a:solidFill>
                <a:latin typeface="Calibri" pitchFamily="34" charset="0"/>
                <a:ea typeface="Calibri" pitchFamily="34" charset="-122"/>
                <a:cs typeface="Calibri" pitchFamily="34" charset="-120"/>
              </a:rPr>
              <a:t>bertipe</a:t>
            </a:r>
            <a:r>
              <a:rPr lang="en-US" sz="2000" dirty="0">
                <a:solidFill>
                  <a:srgbClr val="444444"/>
                </a:solidFill>
                <a:latin typeface="Calibri" pitchFamily="34" charset="0"/>
                <a:ea typeface="Calibri" pitchFamily="34" charset="-122"/>
                <a:cs typeface="Calibri" pitchFamily="34" charset="-120"/>
              </a:rPr>
              <a:t> string yang </a:t>
            </a:r>
            <a:r>
              <a:rPr lang="en-US" sz="2000" dirty="0" err="1">
                <a:solidFill>
                  <a:srgbClr val="444444"/>
                </a:solidFill>
                <a:latin typeface="Calibri" pitchFamily="34" charset="0"/>
                <a:ea typeface="Calibri" pitchFamily="34" charset="-122"/>
                <a:cs typeface="Calibri" pitchFamily="34" charset="-120"/>
              </a:rPr>
              <a:t>perlu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diubah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a:t>
            </a:r>
            <a:r>
              <a:rPr lang="en-US" sz="2000" dirty="0">
                <a:solidFill>
                  <a:srgbClr val="444444"/>
                </a:solidFill>
                <a:latin typeface="Calibri" pitchFamily="34" charset="0"/>
                <a:ea typeface="Calibri" pitchFamily="34" charset="-122"/>
                <a:cs typeface="Calibri" pitchFamily="34" charset="-120"/>
              </a:rPr>
              <a:t> datetime.</a:t>
            </a:r>
            <a:endParaRPr lang="en-US" sz="1600" dirty="0">
              <a:solidFill>
                <a:srgbClr val="444444"/>
              </a:solidFill>
              <a:latin typeface="Calibri" pitchFamily="34" charset="0"/>
              <a:ea typeface="Calibri" pitchFamily="34" charset="-122"/>
              <a:cs typeface="Calibri" pitchFamily="34" charset="-120"/>
            </a:endParaRPr>
          </a:p>
        </p:txBody>
      </p:sp>
      <p:pic>
        <p:nvPicPr>
          <p:cNvPr id="5" name="Picture 4">
            <a:extLst>
              <a:ext uri="{FF2B5EF4-FFF2-40B4-BE49-F238E27FC236}">
                <a16:creationId xmlns:a16="http://schemas.microsoft.com/office/drawing/2014/main" id="{18AA2437-934E-902D-47FB-BBAD1050A836}"/>
              </a:ext>
            </a:extLst>
          </p:cNvPr>
          <p:cNvPicPr>
            <a:picLocks noChangeAspect="1"/>
          </p:cNvPicPr>
          <p:nvPr/>
        </p:nvPicPr>
        <p:blipFill>
          <a:blip r:embed="rId4"/>
          <a:stretch>
            <a:fillRect/>
          </a:stretch>
        </p:blipFill>
        <p:spPr>
          <a:xfrm>
            <a:off x="548641" y="1436478"/>
            <a:ext cx="3061546" cy="1681879"/>
          </a:xfrm>
          <a:prstGeom prst="rect">
            <a:avLst/>
          </a:prstGeom>
        </p:spPr>
      </p:pic>
      <p:pic>
        <p:nvPicPr>
          <p:cNvPr id="9" name="Picture 8">
            <a:extLst>
              <a:ext uri="{FF2B5EF4-FFF2-40B4-BE49-F238E27FC236}">
                <a16:creationId xmlns:a16="http://schemas.microsoft.com/office/drawing/2014/main" id="{0406D346-F984-87C3-D786-CE4627A5D4B6}"/>
              </a:ext>
            </a:extLst>
          </p:cNvPr>
          <p:cNvPicPr>
            <a:picLocks noChangeAspect="1"/>
          </p:cNvPicPr>
          <p:nvPr/>
        </p:nvPicPr>
        <p:blipFill>
          <a:blip r:embed="rId5"/>
          <a:stretch>
            <a:fillRect/>
          </a:stretch>
        </p:blipFill>
        <p:spPr>
          <a:xfrm>
            <a:off x="3754204" y="1443002"/>
            <a:ext cx="3791451" cy="1985998"/>
          </a:xfrm>
          <a:prstGeom prst="rect">
            <a:avLst/>
          </a:prstGeom>
        </p:spPr>
      </p:pic>
      <p:sp>
        <p:nvSpPr>
          <p:cNvPr id="14" name="Text 6">
            <a:extLst>
              <a:ext uri="{FF2B5EF4-FFF2-40B4-BE49-F238E27FC236}">
                <a16:creationId xmlns:a16="http://schemas.microsoft.com/office/drawing/2014/main" id="{A6CAF75F-33AE-7F8D-1506-7FB5039274CC}"/>
              </a:ext>
            </a:extLst>
          </p:cNvPr>
          <p:cNvSpPr/>
          <p:nvPr/>
        </p:nvSpPr>
        <p:spPr>
          <a:xfrm>
            <a:off x="548641" y="887838"/>
            <a:ext cx="2589732"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Cek tipe data kolom</a:t>
            </a:r>
            <a:endParaRPr lang="en-US" sz="1600" dirty="0"/>
          </a:p>
        </p:txBody>
      </p:sp>
      <p:sp>
        <p:nvSpPr>
          <p:cNvPr id="18" name="Text 6">
            <a:extLst>
              <a:ext uri="{FF2B5EF4-FFF2-40B4-BE49-F238E27FC236}">
                <a16:creationId xmlns:a16="http://schemas.microsoft.com/office/drawing/2014/main" id="{54024BE4-778D-CCD2-47E2-850F6720AFC2}"/>
              </a:ext>
            </a:extLst>
          </p:cNvPr>
          <p:cNvSpPr/>
          <p:nvPr/>
        </p:nvSpPr>
        <p:spPr>
          <a:xfrm>
            <a:off x="3754204" y="887838"/>
            <a:ext cx="2367571"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Cek kelengapan data</a:t>
            </a:r>
            <a:endParaRPr lang="en-US" sz="1600" dirty="0"/>
          </a:p>
        </p:txBody>
      </p:sp>
      <p:pic>
        <p:nvPicPr>
          <p:cNvPr id="20" name="Picture 19">
            <a:extLst>
              <a:ext uri="{FF2B5EF4-FFF2-40B4-BE49-F238E27FC236}">
                <a16:creationId xmlns:a16="http://schemas.microsoft.com/office/drawing/2014/main" id="{2662AF27-45C2-02C9-533E-D47CDA7CB8F4}"/>
              </a:ext>
            </a:extLst>
          </p:cNvPr>
          <p:cNvPicPr>
            <a:picLocks noChangeAspect="1"/>
          </p:cNvPicPr>
          <p:nvPr/>
        </p:nvPicPr>
        <p:blipFill>
          <a:blip r:embed="rId6"/>
          <a:stretch>
            <a:fillRect/>
          </a:stretch>
        </p:blipFill>
        <p:spPr>
          <a:xfrm>
            <a:off x="7722626" y="1436478"/>
            <a:ext cx="3940028" cy="948524"/>
          </a:xfrm>
          <a:prstGeom prst="rect">
            <a:avLst/>
          </a:prstGeom>
        </p:spPr>
      </p:pic>
      <p:sp>
        <p:nvSpPr>
          <p:cNvPr id="22" name="Text 6">
            <a:extLst>
              <a:ext uri="{FF2B5EF4-FFF2-40B4-BE49-F238E27FC236}">
                <a16:creationId xmlns:a16="http://schemas.microsoft.com/office/drawing/2014/main" id="{8C45165A-BCD3-BA29-6069-EC979573DDFD}"/>
              </a:ext>
            </a:extLst>
          </p:cNvPr>
          <p:cNvSpPr/>
          <p:nvPr/>
        </p:nvSpPr>
        <p:spPr>
          <a:xfrm>
            <a:off x="7722626" y="893137"/>
            <a:ext cx="3109219"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Cek persentase baris duplikasi</a:t>
            </a:r>
            <a:endParaRPr lang="en-US" sz="1600" dirty="0"/>
          </a:p>
        </p:txBody>
      </p:sp>
      <p:sp>
        <p:nvSpPr>
          <p:cNvPr id="37" name="Oval 36">
            <a:extLst>
              <a:ext uri="{FF2B5EF4-FFF2-40B4-BE49-F238E27FC236}">
                <a16:creationId xmlns:a16="http://schemas.microsoft.com/office/drawing/2014/main" id="{F5D136C2-12D4-7186-C6FB-C51062F2468D}"/>
              </a:ext>
            </a:extLst>
          </p:cNvPr>
          <p:cNvSpPr/>
          <p:nvPr/>
        </p:nvSpPr>
        <p:spPr>
          <a:xfrm>
            <a:off x="404624" y="1842599"/>
            <a:ext cx="3028592" cy="78707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658387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EFF28-F5EE-FA03-B028-27AC0B49384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646359D-7B32-A8D0-BA6D-3BA9915D300D}"/>
              </a:ext>
            </a:extLst>
          </p:cNvPr>
          <p:cNvSpPr/>
          <p:nvPr/>
        </p:nvSpPr>
        <p:spPr>
          <a:xfrm>
            <a:off x="0" y="0"/>
            <a:ext cx="12192000" cy="683117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 name="Text 0">
            <a:extLst>
              <a:ext uri="{FF2B5EF4-FFF2-40B4-BE49-F238E27FC236}">
                <a16:creationId xmlns:a16="http://schemas.microsoft.com/office/drawing/2014/main" id="{66F12D89-8E53-1AFB-FF79-38139C0BC573}"/>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pic>
        <p:nvPicPr>
          <p:cNvPr id="4" name="Image 0" descr="icon_database.png">
            <a:extLst>
              <a:ext uri="{FF2B5EF4-FFF2-40B4-BE49-F238E27FC236}">
                <a16:creationId xmlns:a16="http://schemas.microsoft.com/office/drawing/2014/main" id="{4B3E76AD-E997-12AD-4493-409E28C3F5EC}"/>
              </a:ext>
            </a:extLst>
          </p:cNvPr>
          <p:cNvPicPr>
            <a:picLocks noChangeAspect="1"/>
          </p:cNvPicPr>
          <p:nvPr/>
        </p:nvPicPr>
        <p:blipFill>
          <a:blip r:embed="rId3"/>
          <a:stretch>
            <a:fillRect/>
          </a:stretch>
        </p:blipFill>
        <p:spPr>
          <a:xfrm>
            <a:off x="692658" y="1424178"/>
            <a:ext cx="352044" cy="352044"/>
          </a:xfrm>
          <a:prstGeom prst="rect">
            <a:avLst/>
          </a:prstGeom>
        </p:spPr>
      </p:pic>
      <p:sp>
        <p:nvSpPr>
          <p:cNvPr id="29" name="Text 26">
            <a:extLst>
              <a:ext uri="{FF2B5EF4-FFF2-40B4-BE49-F238E27FC236}">
                <a16:creationId xmlns:a16="http://schemas.microsoft.com/office/drawing/2014/main" id="{37E1BA38-F5C9-E4AB-4DFA-DBBA18B549F0}"/>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2" name="Shape 5">
            <a:extLst>
              <a:ext uri="{FF2B5EF4-FFF2-40B4-BE49-F238E27FC236}">
                <a16:creationId xmlns:a16="http://schemas.microsoft.com/office/drawing/2014/main" id="{5315E969-F92D-D129-427E-E39B856C1F95}"/>
              </a:ext>
            </a:extLst>
          </p:cNvPr>
          <p:cNvSpPr/>
          <p:nvPr/>
        </p:nvSpPr>
        <p:spPr>
          <a:xfrm>
            <a:off x="130229" y="4592359"/>
            <a:ext cx="11835333" cy="1985999"/>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5" name="Text 6">
            <a:extLst>
              <a:ext uri="{FF2B5EF4-FFF2-40B4-BE49-F238E27FC236}">
                <a16:creationId xmlns:a16="http://schemas.microsoft.com/office/drawing/2014/main" id="{37175743-503B-8A81-0ABA-2BC6AC64B486}"/>
              </a:ext>
            </a:extLst>
          </p:cNvPr>
          <p:cNvSpPr/>
          <p:nvPr/>
        </p:nvSpPr>
        <p:spPr>
          <a:xfrm>
            <a:off x="415435" y="4592359"/>
            <a:ext cx="5174955" cy="436321"/>
          </a:xfrm>
          <a:prstGeom prst="rect">
            <a:avLst/>
          </a:prstGeom>
          <a:noFill/>
          <a:ln/>
        </p:spPr>
        <p:txBody>
          <a:bodyPr wrap="square" rtlCol="0" anchor="ctr"/>
          <a:lstStyle/>
          <a:p>
            <a:pPr marL="0" indent="0">
              <a:buNone/>
            </a:pPr>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17" name="Text 8">
            <a:extLst>
              <a:ext uri="{FF2B5EF4-FFF2-40B4-BE49-F238E27FC236}">
                <a16:creationId xmlns:a16="http://schemas.microsoft.com/office/drawing/2014/main" id="{20DAC899-F653-8BE9-DABB-31F1DEF56E34}"/>
              </a:ext>
            </a:extLst>
          </p:cNvPr>
          <p:cNvSpPr/>
          <p:nvPr/>
        </p:nvSpPr>
        <p:spPr>
          <a:xfrm>
            <a:off x="367331" y="5041210"/>
            <a:ext cx="11598231" cy="1537148"/>
          </a:xfrm>
          <a:prstGeom prst="rect">
            <a:avLst/>
          </a:prstGeom>
          <a:noFill/>
          <a:ln/>
        </p:spPr>
        <p:txBody>
          <a:bodyPr wrap="square" rtlCol="0" anchor="t"/>
          <a:lstStyle/>
          <a:p>
            <a:r>
              <a:rPr lang="en-US" sz="2000" dirty="0">
                <a:solidFill>
                  <a:srgbClr val="444444"/>
                </a:solidFill>
                <a:latin typeface="Calibri" pitchFamily="34" charset="0"/>
                <a:ea typeface="Calibri" pitchFamily="34" charset="-122"/>
                <a:cs typeface="Calibri" pitchFamily="34" charset="-120"/>
              </a:rPr>
              <a:t>Hasil </a:t>
            </a:r>
            <a:r>
              <a:rPr lang="en-US" sz="2000" dirty="0" err="1">
                <a:solidFill>
                  <a:srgbClr val="444444"/>
                </a:solidFill>
                <a:latin typeface="Calibri" pitchFamily="34" charset="0"/>
                <a:ea typeface="Calibri" pitchFamily="34" charset="-122"/>
                <a:cs typeface="Calibri" pitchFamily="34" charset="-120"/>
              </a:rPr>
              <a:t>dari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pemeriksaan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konsistensi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nilai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unik</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setiap</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ditemukan</a:t>
            </a:r>
            <a:r>
              <a:rPr lang="en-US" sz="2000" dirty="0">
                <a:solidFill>
                  <a:srgbClr val="444444"/>
                </a:solidFill>
                <a:latin typeface="Calibri" pitchFamily="34" charset="0"/>
                <a:ea typeface="Calibri" pitchFamily="34" charset="-122"/>
                <a:cs typeface="Calibri" pitchFamily="34" charset="-120"/>
              </a:rPr>
              <a:t> </a:t>
            </a:r>
            <a:r>
              <a:rPr lang="en-US" sz="2000" b="1" dirty="0" err="1">
                <a:solidFill>
                  <a:srgbClr val="444444"/>
                </a:solidFill>
                <a:latin typeface="Calibri" pitchFamily="34" charset="0"/>
                <a:ea typeface="Calibri" pitchFamily="34" charset="-122"/>
                <a:cs typeface="Calibri" pitchFamily="34" charset="-120"/>
              </a:rPr>
              <a:t>jumlah</a:t>
            </a:r>
            <a:r>
              <a:rPr lang="en-US" sz="2000" b="1" dirty="0">
                <a:solidFill>
                  <a:srgbClr val="444444"/>
                </a:solidFill>
                <a:latin typeface="Calibri" pitchFamily="34" charset="0"/>
                <a:ea typeface="Calibri" pitchFamily="34" charset="-122"/>
                <a:cs typeface="Calibri" pitchFamily="34" charset="-120"/>
              </a:rPr>
              <a:t> </a:t>
            </a:r>
            <a:r>
              <a:rPr lang="en-US" sz="2000" b="1" dirty="0" err="1">
                <a:solidFill>
                  <a:srgbClr val="444444"/>
                </a:solidFill>
                <a:latin typeface="Calibri" pitchFamily="34" charset="0"/>
                <a:ea typeface="Calibri" pitchFamily="34" charset="-122"/>
                <a:cs typeface="Calibri" pitchFamily="34" charset="-120"/>
              </a:rPr>
              <a:t>nilai</a:t>
            </a:r>
            <a:r>
              <a:rPr lang="en-US" sz="2000" b="1" dirty="0">
                <a:solidFill>
                  <a:srgbClr val="444444"/>
                </a:solidFill>
                <a:latin typeface="Calibri" pitchFamily="34" charset="0"/>
                <a:ea typeface="Calibri" pitchFamily="34" charset="-122"/>
                <a:cs typeface="Calibri" pitchFamily="34" charset="-120"/>
              </a:rPr>
              <a:t> </a:t>
            </a:r>
            <a:r>
              <a:rPr lang="en-US" sz="2000" b="1" dirty="0" err="1">
                <a:solidFill>
                  <a:srgbClr val="444444"/>
                </a:solidFill>
                <a:latin typeface="Calibri" pitchFamily="34" charset="0"/>
                <a:ea typeface="Calibri" pitchFamily="34" charset="-122"/>
                <a:cs typeface="Calibri" pitchFamily="34" charset="-120"/>
              </a:rPr>
              <a:t>unik</a:t>
            </a:r>
            <a:r>
              <a:rPr lang="en-US" sz="2000" b="1" dirty="0">
                <a:solidFill>
                  <a:srgbClr val="444444"/>
                </a:solidFill>
                <a:latin typeface="Calibri" pitchFamily="34" charset="0"/>
                <a:ea typeface="Calibri" pitchFamily="34" charset="-122"/>
                <a:cs typeface="Calibri" pitchFamily="34" charset="-120"/>
              </a:rPr>
              <a:t> yang </a:t>
            </a:r>
            <a:r>
              <a:rPr lang="en-US" sz="2000" b="1" dirty="0" err="1">
                <a:solidFill>
                  <a:srgbClr val="444444"/>
                </a:solidFill>
                <a:latin typeface="Calibri" pitchFamily="34" charset="0"/>
                <a:ea typeface="Calibri" pitchFamily="34" charset="-122"/>
                <a:cs typeface="Calibri" pitchFamily="34" charset="-120"/>
              </a:rPr>
              <a:t>mencapai</a:t>
            </a:r>
            <a:r>
              <a:rPr lang="en-US" sz="2000" b="1" dirty="0">
                <a:solidFill>
                  <a:srgbClr val="444444"/>
                </a:solidFill>
                <a:latin typeface="Calibri" pitchFamily="34" charset="0"/>
                <a:ea typeface="Calibri" pitchFamily="34" charset="-122"/>
                <a:cs typeface="Calibri" pitchFamily="34" charset="-120"/>
              </a:rPr>
              <a:t> 3898 pada </a:t>
            </a:r>
            <a:r>
              <a:rPr lang="en-US" sz="2000" b="1" dirty="0" err="1">
                <a:solidFill>
                  <a:srgbClr val="444444"/>
                </a:solidFill>
                <a:latin typeface="Calibri" pitchFamily="34" charset="0"/>
                <a:ea typeface="Calibri" pitchFamily="34" charset="-122"/>
                <a:cs typeface="Calibri" pitchFamily="34" charset="-120"/>
              </a:rPr>
              <a:t>kolom</a:t>
            </a:r>
            <a:r>
              <a:rPr lang="en-US" sz="2000" b="1" dirty="0">
                <a:solidFill>
                  <a:srgbClr val="444444"/>
                </a:solidFill>
                <a:latin typeface="Calibri" pitchFamily="34" charset="0"/>
                <a:ea typeface="Calibri" pitchFamily="34" charset="-122"/>
                <a:cs typeface="Calibri" pitchFamily="34" charset="-120"/>
              </a:rPr>
              <a:t> </a:t>
            </a:r>
            <a:r>
              <a:rPr lang="en-US" sz="2000" b="1" dirty="0" err="1">
                <a:solidFill>
                  <a:srgbClr val="444444"/>
                </a:solidFill>
                <a:latin typeface="Calibri" pitchFamily="34" charset="0"/>
                <a:ea typeface="Calibri" pitchFamily="34" charset="-122"/>
                <a:cs typeface="Calibri" pitchFamily="34" charset="-120"/>
              </a:rPr>
              <a:t>Member_number</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mempersingkat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waktu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hasil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pemeriksaan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nilai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unik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akan</a:t>
            </a:r>
            <a:r>
              <a:rPr lang="en-US" sz="2000" dirty="0">
                <a:solidFill>
                  <a:srgbClr val="444444"/>
                </a:solidFill>
                <a:latin typeface="Calibri" pitchFamily="34" charset="0"/>
                <a:ea typeface="Calibri" pitchFamily="34" charset="-122"/>
                <a:cs typeface="Calibri" pitchFamily="34" charset="-120"/>
              </a:rPr>
              <a:t> di </a:t>
            </a:r>
            <a:r>
              <a:rPr lang="en-US" sz="2000" dirty="0" err="1">
                <a:solidFill>
                  <a:srgbClr val="444444"/>
                </a:solidFill>
                <a:latin typeface="Calibri" pitchFamily="34" charset="0"/>
                <a:ea typeface="Calibri" pitchFamily="34" charset="-122"/>
                <a:cs typeface="Calibri" pitchFamily="34" charset="-120"/>
              </a:rPr>
              <a:t>eksport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kedalam</a:t>
            </a:r>
            <a:r>
              <a:rPr lang="en-US" sz="2000" dirty="0">
                <a:solidFill>
                  <a:srgbClr val="444444"/>
                </a:solidFill>
                <a:latin typeface="Calibri" pitchFamily="34" charset="0"/>
                <a:ea typeface="Calibri" pitchFamily="34" charset="-122"/>
                <a:cs typeface="Calibri" pitchFamily="34" charset="-120"/>
              </a:rPr>
              <a:t> csv dan di Analisa oleh Gemini AI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memeriksa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konsistensi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datanya</a:t>
            </a:r>
            <a:r>
              <a:rPr lang="en-US" sz="2000" dirty="0">
                <a:solidFill>
                  <a:srgbClr val="444444"/>
                </a:solidFill>
                <a:latin typeface="Calibri" pitchFamily="34" charset="0"/>
                <a:ea typeface="Calibri" pitchFamily="34" charset="-122"/>
                <a:cs typeface="Calibri" pitchFamily="34" charset="-120"/>
              </a:rPr>
              <a:t>. Hasil </a:t>
            </a:r>
            <a:r>
              <a:rPr lang="en-US" sz="2000" dirty="0" err="1">
                <a:solidFill>
                  <a:srgbClr val="444444"/>
                </a:solidFill>
                <a:latin typeface="Calibri" pitchFamily="34" charset="0"/>
                <a:ea typeface="Calibri" pitchFamily="34" charset="-122"/>
                <a:cs typeface="Calibri" pitchFamily="34" charset="-120"/>
              </a:rPr>
              <a:t>dari</a:t>
            </a:r>
            <a:r>
              <a:rPr lang="en-US" sz="2000" dirty="0">
                <a:solidFill>
                  <a:srgbClr val="444444"/>
                </a:solidFill>
                <a:latin typeface="Calibri" pitchFamily="34" charset="0"/>
                <a:ea typeface="Calibri" pitchFamily="34" charset="-122"/>
                <a:cs typeface="Calibri" pitchFamily="34" charset="-120"/>
              </a:rPr>
              <a:t> Analisa AI </a:t>
            </a:r>
            <a:r>
              <a:rPr lang="en-US" sz="2000" dirty="0" err="1">
                <a:solidFill>
                  <a:srgbClr val="444444"/>
                </a:solidFill>
                <a:latin typeface="Calibri" pitchFamily="34" charset="0"/>
                <a:ea typeface="Calibri" pitchFamily="34" charset="-122"/>
                <a:cs typeface="Calibri" pitchFamily="34" charset="-120"/>
              </a:rPr>
              <a:t>menemukan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nilai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unik</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itemdescription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yaitu</a:t>
            </a:r>
            <a:r>
              <a:rPr lang="en-US" sz="2000" dirty="0">
                <a:solidFill>
                  <a:srgbClr val="444444"/>
                </a:solidFill>
                <a:latin typeface="Calibri" pitchFamily="34" charset="0"/>
                <a:ea typeface="Calibri" pitchFamily="34" charset="-122"/>
                <a:cs typeface="Calibri" pitchFamily="34" charset="-120"/>
              </a:rPr>
              <a:t> </a:t>
            </a:r>
            <a:r>
              <a:rPr lang="en-US" sz="2000" b="1" dirty="0">
                <a:solidFill>
                  <a:srgbClr val="444444"/>
                </a:solidFill>
                <a:latin typeface="Calibri" pitchFamily="34" charset="0"/>
                <a:ea typeface="Calibri" pitchFamily="34" charset="-122"/>
                <a:cs typeface="Calibri" pitchFamily="34" charset="-120"/>
              </a:rPr>
              <a:t>'cream cheese ' dan 'roll products ‘</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memiliki</a:t>
            </a:r>
            <a:r>
              <a:rPr lang="en-US" sz="2000" dirty="0">
                <a:solidFill>
                  <a:srgbClr val="444444"/>
                </a:solidFill>
                <a:latin typeface="Calibri" pitchFamily="34" charset="0"/>
                <a:ea typeface="Calibri" pitchFamily="34" charset="-122"/>
                <a:cs typeface="Calibri" pitchFamily="34" charset="-120"/>
              </a:rPr>
              <a:t> </a:t>
            </a:r>
            <a:r>
              <a:rPr lang="en-US" sz="2000" b="1" dirty="0" err="1">
                <a:solidFill>
                  <a:srgbClr val="444444"/>
                </a:solidFill>
                <a:latin typeface="Calibri" pitchFamily="34" charset="0"/>
                <a:ea typeface="Calibri" pitchFamily="34" charset="-122"/>
                <a:cs typeface="Calibri" pitchFamily="34" charset="-120"/>
              </a:rPr>
              <a:t>spasi</a:t>
            </a:r>
            <a:r>
              <a:rPr lang="en-US" sz="2000" b="1" dirty="0">
                <a:solidFill>
                  <a:srgbClr val="444444"/>
                </a:solidFill>
                <a:latin typeface="Calibri" pitchFamily="34" charset="0"/>
                <a:ea typeface="Calibri" pitchFamily="34" charset="-122"/>
                <a:cs typeface="Calibri" pitchFamily="34" charset="-120"/>
              </a:rPr>
              <a:t> </a:t>
            </a:r>
            <a:r>
              <a:rPr lang="en-US" sz="2000" b="1" dirty="0" err="1">
                <a:solidFill>
                  <a:srgbClr val="444444"/>
                </a:solidFill>
                <a:latin typeface="Calibri" pitchFamily="34" charset="0"/>
                <a:ea typeface="Calibri" pitchFamily="34" charset="-122"/>
                <a:cs typeface="Calibri" pitchFamily="34" charset="-120"/>
              </a:rPr>
              <a:t>berlebih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menangani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dilakukan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penghilagan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spasi</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berlebih</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endParaRPr lang="en-US" sz="1600" dirty="0">
              <a:solidFill>
                <a:srgbClr val="444444"/>
              </a:solidFill>
              <a:latin typeface="Calibri" pitchFamily="34" charset="0"/>
              <a:ea typeface="Calibri" pitchFamily="34" charset="-122"/>
              <a:cs typeface="Calibri" pitchFamily="34" charset="-120"/>
            </a:endParaRPr>
          </a:p>
        </p:txBody>
      </p:sp>
      <p:pic>
        <p:nvPicPr>
          <p:cNvPr id="24" name="Picture 23">
            <a:extLst>
              <a:ext uri="{FF2B5EF4-FFF2-40B4-BE49-F238E27FC236}">
                <a16:creationId xmlns:a16="http://schemas.microsoft.com/office/drawing/2014/main" id="{EDE5FCAC-6903-7148-1F84-658E421FD87D}"/>
              </a:ext>
            </a:extLst>
          </p:cNvPr>
          <p:cNvPicPr>
            <a:picLocks noChangeAspect="1"/>
          </p:cNvPicPr>
          <p:nvPr/>
        </p:nvPicPr>
        <p:blipFill>
          <a:blip r:embed="rId4"/>
          <a:stretch>
            <a:fillRect/>
          </a:stretch>
        </p:blipFill>
        <p:spPr>
          <a:xfrm>
            <a:off x="548641" y="1356325"/>
            <a:ext cx="9444386" cy="1891929"/>
          </a:xfrm>
          <a:prstGeom prst="rect">
            <a:avLst/>
          </a:prstGeom>
        </p:spPr>
      </p:pic>
      <p:sp>
        <p:nvSpPr>
          <p:cNvPr id="26" name="Text 6">
            <a:extLst>
              <a:ext uri="{FF2B5EF4-FFF2-40B4-BE49-F238E27FC236}">
                <a16:creationId xmlns:a16="http://schemas.microsoft.com/office/drawing/2014/main" id="{1CE63B57-7346-0F4E-7EC1-B97F2720E1B0}"/>
              </a:ext>
            </a:extLst>
          </p:cNvPr>
          <p:cNvSpPr/>
          <p:nvPr/>
        </p:nvSpPr>
        <p:spPr>
          <a:xfrm>
            <a:off x="548641" y="859556"/>
            <a:ext cx="3109219"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Cek konsistensi nilai kolom</a:t>
            </a:r>
            <a:endParaRPr lang="en-US" sz="1600" dirty="0"/>
          </a:p>
        </p:txBody>
      </p:sp>
      <p:pic>
        <p:nvPicPr>
          <p:cNvPr id="31" name="Picture 30">
            <a:extLst>
              <a:ext uri="{FF2B5EF4-FFF2-40B4-BE49-F238E27FC236}">
                <a16:creationId xmlns:a16="http://schemas.microsoft.com/office/drawing/2014/main" id="{00F03450-C97C-0D20-031A-F1D823ADFE4C}"/>
              </a:ext>
            </a:extLst>
          </p:cNvPr>
          <p:cNvPicPr>
            <a:picLocks noChangeAspect="1"/>
          </p:cNvPicPr>
          <p:nvPr/>
        </p:nvPicPr>
        <p:blipFill>
          <a:blip r:embed="rId5"/>
          <a:stretch>
            <a:fillRect/>
          </a:stretch>
        </p:blipFill>
        <p:spPr>
          <a:xfrm>
            <a:off x="548640" y="3683186"/>
            <a:ext cx="6926973" cy="720971"/>
          </a:xfrm>
          <a:prstGeom prst="rect">
            <a:avLst/>
          </a:prstGeom>
        </p:spPr>
      </p:pic>
      <p:sp>
        <p:nvSpPr>
          <p:cNvPr id="33" name="Text 6">
            <a:extLst>
              <a:ext uri="{FF2B5EF4-FFF2-40B4-BE49-F238E27FC236}">
                <a16:creationId xmlns:a16="http://schemas.microsoft.com/office/drawing/2014/main" id="{8D503A9D-98CD-EDD9-B1FB-CE407D7B130E}"/>
              </a:ext>
            </a:extLst>
          </p:cNvPr>
          <p:cNvSpPr/>
          <p:nvPr/>
        </p:nvSpPr>
        <p:spPr>
          <a:xfrm>
            <a:off x="548640" y="3283857"/>
            <a:ext cx="4667901"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rPr>
              <a:t>Export nilai unik data utuk pemeriksaan cepat</a:t>
            </a:r>
            <a:endParaRPr lang="en-US" sz="1600" dirty="0"/>
          </a:p>
        </p:txBody>
      </p:sp>
      <p:sp>
        <p:nvSpPr>
          <p:cNvPr id="11" name="Oval 10">
            <a:extLst>
              <a:ext uri="{FF2B5EF4-FFF2-40B4-BE49-F238E27FC236}">
                <a16:creationId xmlns:a16="http://schemas.microsoft.com/office/drawing/2014/main" id="{F1F42FE9-2AA1-033C-14C5-630656EE632C}"/>
              </a:ext>
            </a:extLst>
          </p:cNvPr>
          <p:cNvSpPr/>
          <p:nvPr/>
        </p:nvSpPr>
        <p:spPr>
          <a:xfrm rot="5400000">
            <a:off x="8363155" y="1499427"/>
            <a:ext cx="2060262" cy="141257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155561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514FF-166D-EEEA-366B-4148E8BE5C14}"/>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8D38008F-AD0E-2277-8A84-E332C6DBA641}"/>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174ED9B1-CD0C-0409-21E7-86CEF85A8F7C}"/>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15126E5D-8395-2F83-9EAA-491634D3EC0D}"/>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21DEFC77-9F82-8F44-003A-3A6695E2E31E}"/>
              </a:ext>
            </a:extLst>
          </p:cNvPr>
          <p:cNvSpPr/>
          <p:nvPr/>
        </p:nvSpPr>
        <p:spPr>
          <a:xfrm>
            <a:off x="133246" y="960120"/>
            <a:ext cx="11835333" cy="553701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A4EF772D-E86D-821A-36E6-EA0D4A87C57B}"/>
              </a:ext>
            </a:extLst>
          </p:cNvPr>
          <p:cNvSpPr/>
          <p:nvPr/>
        </p:nvSpPr>
        <p:spPr>
          <a:xfrm>
            <a:off x="3508522" y="1105097"/>
            <a:ext cx="5174955" cy="436321"/>
          </a:xfrm>
          <a:prstGeom prst="rect">
            <a:avLst/>
          </a:prstGeom>
          <a:noFill/>
          <a:ln/>
        </p:spPr>
        <p:txBody>
          <a:bodyPr wrap="square" rtlCol="0" anchor="ctr"/>
          <a:lstStyle/>
          <a:p>
            <a:pPr marL="0" indent="0" algn="ctr">
              <a:buNone/>
            </a:pPr>
            <a:r>
              <a:rPr lang="en-US" sz="2400" b="1" dirty="0">
                <a:solidFill>
                  <a:srgbClr val="F2545B"/>
                </a:solidFill>
                <a:latin typeface="Cambria" pitchFamily="34" charset="0"/>
                <a:ea typeface="Cambria" pitchFamily="34" charset="-122"/>
                <a:cs typeface="Cambria" pitchFamily="34" charset="-120"/>
              </a:rPr>
              <a:t>Hasil </a:t>
            </a:r>
            <a:r>
              <a:rPr lang="en-US" sz="2400" b="1" dirty="0" err="1">
                <a:solidFill>
                  <a:srgbClr val="F2545B"/>
                </a:solidFill>
                <a:latin typeface="Cambria" pitchFamily="34" charset="0"/>
                <a:ea typeface="Cambria" pitchFamily="34" charset="-122"/>
                <a:cs typeface="Cambria" pitchFamily="34" charset="-120"/>
              </a:rPr>
              <a:t>Pengamatan</a:t>
            </a:r>
            <a:r>
              <a:rPr lang="en-US" sz="2400" b="1" dirty="0">
                <a:solidFill>
                  <a:srgbClr val="F2545B"/>
                </a:solidFill>
                <a:latin typeface="Cambria" pitchFamily="34" charset="0"/>
                <a:ea typeface="Cambria" pitchFamily="34" charset="-122"/>
                <a:cs typeface="Cambria" pitchFamily="34" charset="-120"/>
              </a:rPr>
              <a:t> Data Exploration</a:t>
            </a:r>
            <a:endParaRPr lang="en-US" sz="2400" dirty="0"/>
          </a:p>
        </p:txBody>
      </p:sp>
      <p:sp>
        <p:nvSpPr>
          <p:cNvPr id="9" name="Text 8">
            <a:extLst>
              <a:ext uri="{FF2B5EF4-FFF2-40B4-BE49-F238E27FC236}">
                <a16:creationId xmlns:a16="http://schemas.microsoft.com/office/drawing/2014/main" id="{949B0E91-01F3-0A34-34BA-81996CFBF80F}"/>
              </a:ext>
            </a:extLst>
          </p:cNvPr>
          <p:cNvSpPr/>
          <p:nvPr/>
        </p:nvSpPr>
        <p:spPr>
          <a:xfrm>
            <a:off x="412417" y="1861140"/>
            <a:ext cx="11367164" cy="4125558"/>
          </a:xfrm>
          <a:prstGeom prst="rect">
            <a:avLst/>
          </a:prstGeom>
          <a:noFill/>
          <a:ln/>
        </p:spPr>
        <p:txBody>
          <a:bodyPr wrap="square" rtlCol="0" anchor="t"/>
          <a:lstStyle/>
          <a:p>
            <a:pPr algn="ctr"/>
            <a:r>
              <a:rPr lang="en-US" sz="2400" dirty="0" err="1">
                <a:solidFill>
                  <a:srgbClr val="444444"/>
                </a:solidFill>
                <a:latin typeface="Calibri" pitchFamily="34" charset="0"/>
                <a:ea typeface="Calibri" pitchFamily="34" charset="-122"/>
                <a:cs typeface="Calibri" pitchFamily="34" charset="-120"/>
              </a:rPr>
              <a:t>Berdasarkan</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hasil</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eksplorasi</a:t>
            </a:r>
            <a:r>
              <a:rPr lang="en-US" sz="2400" dirty="0">
                <a:solidFill>
                  <a:srgbClr val="444444"/>
                </a:solidFill>
                <a:latin typeface="Calibri" pitchFamily="34" charset="0"/>
                <a:ea typeface="Calibri" pitchFamily="34" charset="-122"/>
                <a:cs typeface="Calibri" pitchFamily="34" charset="-120"/>
              </a:rPr>
              <a:t> data, dataset </a:t>
            </a:r>
            <a:r>
              <a:rPr lang="en-US" sz="2400" dirty="0" err="1">
                <a:solidFill>
                  <a:srgbClr val="444444"/>
                </a:solidFill>
                <a:latin typeface="Calibri" pitchFamily="34" charset="0"/>
                <a:ea typeface="Calibri" pitchFamily="34" charset="-122"/>
                <a:cs typeface="Calibri" pitchFamily="34" charset="-120"/>
              </a:rPr>
              <a:t>terdiri</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dari</a:t>
            </a:r>
            <a:r>
              <a:rPr lang="en-US" sz="2400" dirty="0">
                <a:solidFill>
                  <a:srgbClr val="444444"/>
                </a:solidFill>
                <a:latin typeface="Calibri" pitchFamily="34" charset="0"/>
                <a:ea typeface="Calibri" pitchFamily="34" charset="-122"/>
                <a:cs typeface="Calibri" pitchFamily="34" charset="-120"/>
              </a:rPr>
              <a:t> </a:t>
            </a:r>
            <a:r>
              <a:rPr lang="en-US" sz="2400" b="1" dirty="0">
                <a:solidFill>
                  <a:srgbClr val="444444"/>
                </a:solidFill>
                <a:latin typeface="Calibri" pitchFamily="34" charset="0"/>
                <a:ea typeface="Calibri" pitchFamily="34" charset="-122"/>
                <a:cs typeface="Calibri" pitchFamily="34" charset="-120"/>
              </a:rPr>
              <a:t>38.765 baris dan 3 </a:t>
            </a:r>
            <a:r>
              <a:rPr lang="en-US" sz="2400" b="1" dirty="0" err="1">
                <a:solidFill>
                  <a:srgbClr val="444444"/>
                </a:solidFill>
                <a:latin typeface="Calibri" pitchFamily="34" charset="0"/>
                <a:ea typeface="Calibri" pitchFamily="34" charset="-122"/>
                <a:cs typeface="Calibri" pitchFamily="34" charset="-120"/>
              </a:rPr>
              <a:t>kolom</a:t>
            </a:r>
            <a:r>
              <a:rPr lang="en-US" sz="2400" b="1"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tanpa</a:t>
            </a:r>
            <a:r>
              <a:rPr lang="en-US" sz="2400" b="1" dirty="0">
                <a:solidFill>
                  <a:srgbClr val="444444"/>
                </a:solidFill>
                <a:latin typeface="Calibri" pitchFamily="34" charset="0"/>
                <a:ea typeface="Calibri" pitchFamily="34" charset="-122"/>
                <a:cs typeface="Calibri" pitchFamily="34" charset="-120"/>
              </a:rPr>
              <a:t> missing values</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ditemukan</a:t>
            </a:r>
            <a:r>
              <a:rPr lang="en-US" sz="2400" dirty="0">
                <a:solidFill>
                  <a:srgbClr val="444444"/>
                </a:solidFill>
                <a:latin typeface="Calibri" pitchFamily="34" charset="0"/>
                <a:ea typeface="Calibri" pitchFamily="34" charset="-122"/>
                <a:cs typeface="Calibri" pitchFamily="34" charset="-120"/>
              </a:rPr>
              <a:t> </a:t>
            </a:r>
            <a:r>
              <a:rPr lang="en-US" sz="2400" b="1" dirty="0">
                <a:solidFill>
                  <a:srgbClr val="444444"/>
                </a:solidFill>
                <a:latin typeface="Calibri" pitchFamily="34" charset="0"/>
                <a:ea typeface="Calibri" pitchFamily="34" charset="-122"/>
                <a:cs typeface="Calibri" pitchFamily="34" charset="-120"/>
              </a:rPr>
              <a:t>759 baris </a:t>
            </a:r>
            <a:r>
              <a:rPr lang="en-US" sz="2400" b="1" dirty="0" err="1">
                <a:solidFill>
                  <a:srgbClr val="444444"/>
                </a:solidFill>
                <a:latin typeface="Calibri" pitchFamily="34" charset="0"/>
                <a:ea typeface="Calibri" pitchFamily="34" charset="-122"/>
                <a:cs typeface="Calibri" pitchFamily="34" charset="-120"/>
              </a:rPr>
              <a:t>duplikat</a:t>
            </a:r>
            <a:r>
              <a:rPr lang="en-US" sz="2400" b="1" dirty="0">
                <a:solidFill>
                  <a:srgbClr val="444444"/>
                </a:solidFill>
                <a:latin typeface="Calibri" pitchFamily="34" charset="0"/>
                <a:ea typeface="Calibri" pitchFamily="34" charset="-122"/>
                <a:cs typeface="Calibri" pitchFamily="34" charset="-120"/>
              </a:rPr>
              <a:t> (1,96%)</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Ditemukan</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beberapa</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isu</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tipe</a:t>
            </a:r>
            <a:r>
              <a:rPr lang="en-US" sz="2400" dirty="0">
                <a:solidFill>
                  <a:srgbClr val="444444"/>
                </a:solidFill>
                <a:latin typeface="Calibri" pitchFamily="34" charset="0"/>
                <a:ea typeface="Calibri" pitchFamily="34" charset="-122"/>
                <a:cs typeface="Calibri" pitchFamily="34" charset="-120"/>
              </a:rPr>
              <a:t> data, </a:t>
            </a:r>
            <a:r>
              <a:rPr lang="en-US" sz="2400" dirty="0" err="1">
                <a:solidFill>
                  <a:srgbClr val="444444"/>
                </a:solidFill>
                <a:latin typeface="Calibri" pitchFamily="34" charset="0"/>
                <a:ea typeface="Calibri" pitchFamily="34" charset="-122"/>
                <a:cs typeface="Calibri" pitchFamily="34" charset="-120"/>
              </a:rPr>
              <a:t>yaitu</a:t>
            </a:r>
            <a:r>
              <a:rPr lang="en-US" sz="2400"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Member_number</a:t>
            </a:r>
            <a:r>
              <a:rPr lang="en-US" sz="2400" b="1"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bertipe</a:t>
            </a:r>
            <a:r>
              <a:rPr lang="en-US" sz="2400" b="1" dirty="0">
                <a:solidFill>
                  <a:srgbClr val="444444"/>
                </a:solidFill>
                <a:latin typeface="Calibri" pitchFamily="34" charset="0"/>
                <a:ea typeface="Calibri" pitchFamily="34" charset="-122"/>
                <a:cs typeface="Calibri" pitchFamily="34" charset="-120"/>
              </a:rPr>
              <a:t> integer </a:t>
            </a:r>
            <a:r>
              <a:rPr lang="en-US" sz="2400" dirty="0">
                <a:solidFill>
                  <a:srgbClr val="444444"/>
                </a:solidFill>
                <a:latin typeface="Calibri" pitchFamily="34" charset="0"/>
                <a:ea typeface="Calibri" pitchFamily="34" charset="-122"/>
                <a:cs typeface="Calibri" pitchFamily="34" charset="-120"/>
              </a:rPr>
              <a:t>yang </a:t>
            </a:r>
            <a:r>
              <a:rPr lang="en-US" sz="2400" dirty="0" err="1">
                <a:solidFill>
                  <a:srgbClr val="444444"/>
                </a:solidFill>
                <a:latin typeface="Calibri" pitchFamily="34" charset="0"/>
                <a:ea typeface="Calibri" pitchFamily="34" charset="-122"/>
                <a:cs typeface="Calibri" pitchFamily="34" charset="-120"/>
              </a:rPr>
              <a:t>perlu</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diubah</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ke</a:t>
            </a:r>
            <a:r>
              <a:rPr lang="en-US" sz="2400" dirty="0">
                <a:solidFill>
                  <a:srgbClr val="444444"/>
                </a:solidFill>
                <a:latin typeface="Calibri" pitchFamily="34" charset="0"/>
                <a:ea typeface="Calibri" pitchFamily="34" charset="-122"/>
                <a:cs typeface="Calibri" pitchFamily="34" charset="-120"/>
              </a:rPr>
              <a:t> string dan </a:t>
            </a:r>
            <a:r>
              <a:rPr lang="en-US" sz="2400" b="1" dirty="0">
                <a:solidFill>
                  <a:srgbClr val="444444"/>
                </a:solidFill>
                <a:latin typeface="Calibri" pitchFamily="34" charset="0"/>
                <a:ea typeface="Calibri" pitchFamily="34" charset="-122"/>
                <a:cs typeface="Calibri" pitchFamily="34" charset="-120"/>
              </a:rPr>
              <a:t>Date </a:t>
            </a:r>
            <a:r>
              <a:rPr lang="en-US" sz="2400" b="1" dirty="0" err="1">
                <a:solidFill>
                  <a:srgbClr val="444444"/>
                </a:solidFill>
                <a:latin typeface="Calibri" pitchFamily="34" charset="0"/>
                <a:ea typeface="Calibri" pitchFamily="34" charset="-122"/>
                <a:cs typeface="Calibri" pitchFamily="34" charset="-120"/>
              </a:rPr>
              <a:t>bertipe</a:t>
            </a:r>
            <a:r>
              <a:rPr lang="en-US" sz="2400" b="1" dirty="0">
                <a:solidFill>
                  <a:srgbClr val="444444"/>
                </a:solidFill>
                <a:latin typeface="Calibri" pitchFamily="34" charset="0"/>
                <a:ea typeface="Calibri" pitchFamily="34" charset="-122"/>
                <a:cs typeface="Calibri" pitchFamily="34" charset="-120"/>
              </a:rPr>
              <a:t> string </a:t>
            </a:r>
            <a:r>
              <a:rPr lang="en-US" sz="2400" dirty="0">
                <a:solidFill>
                  <a:srgbClr val="444444"/>
                </a:solidFill>
                <a:latin typeface="Calibri" pitchFamily="34" charset="0"/>
                <a:ea typeface="Calibri" pitchFamily="34" charset="-122"/>
                <a:cs typeface="Calibri" pitchFamily="34" charset="-120"/>
              </a:rPr>
              <a:t>yang </a:t>
            </a:r>
            <a:r>
              <a:rPr lang="en-US" sz="2400" dirty="0" err="1">
                <a:solidFill>
                  <a:srgbClr val="444444"/>
                </a:solidFill>
                <a:latin typeface="Calibri" pitchFamily="34" charset="0"/>
                <a:ea typeface="Calibri" pitchFamily="34" charset="-122"/>
                <a:cs typeface="Calibri" pitchFamily="34" charset="-120"/>
              </a:rPr>
              <a:t>perlu</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diubah</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ke</a:t>
            </a:r>
            <a:r>
              <a:rPr lang="en-US" sz="2400" dirty="0">
                <a:solidFill>
                  <a:srgbClr val="444444"/>
                </a:solidFill>
                <a:latin typeface="Calibri" pitchFamily="34" charset="0"/>
                <a:ea typeface="Calibri" pitchFamily="34" charset="-122"/>
                <a:cs typeface="Calibri" pitchFamily="34" charset="-120"/>
              </a:rPr>
              <a:t> datetime. Selain </a:t>
            </a:r>
            <a:r>
              <a:rPr lang="en-US" sz="2400" dirty="0" err="1">
                <a:solidFill>
                  <a:srgbClr val="444444"/>
                </a:solidFill>
                <a:latin typeface="Calibri" pitchFamily="34" charset="0"/>
                <a:ea typeface="Calibri" pitchFamily="34" charset="-122"/>
                <a:cs typeface="Calibri" pitchFamily="34" charset="-120"/>
              </a:rPr>
              <a:t>itu</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terdapat</a:t>
            </a:r>
            <a:r>
              <a:rPr lang="en-US" sz="2400"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spasi</a:t>
            </a:r>
            <a:r>
              <a:rPr lang="en-US" sz="2400" b="1"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berlebih</a:t>
            </a:r>
            <a:r>
              <a:rPr lang="en-US" sz="2400" b="1" dirty="0">
                <a:solidFill>
                  <a:srgbClr val="444444"/>
                </a:solidFill>
                <a:latin typeface="Calibri" pitchFamily="34" charset="0"/>
                <a:ea typeface="Calibri" pitchFamily="34" charset="-122"/>
                <a:cs typeface="Calibri" pitchFamily="34" charset="-120"/>
              </a:rPr>
              <a:t> (whitespace)</a:t>
            </a:r>
            <a:r>
              <a:rPr lang="en-US" sz="2400" dirty="0">
                <a:solidFill>
                  <a:srgbClr val="444444"/>
                </a:solidFill>
                <a:latin typeface="Calibri" pitchFamily="34" charset="0"/>
                <a:ea typeface="Calibri" pitchFamily="34" charset="-122"/>
                <a:cs typeface="Calibri" pitchFamily="34" charset="-120"/>
              </a:rPr>
              <a:t> pada </a:t>
            </a:r>
            <a:r>
              <a:rPr lang="en-US" sz="2400" dirty="0" err="1">
                <a:solidFill>
                  <a:srgbClr val="444444"/>
                </a:solidFill>
                <a:latin typeface="Calibri" pitchFamily="34" charset="0"/>
                <a:ea typeface="Calibri" pitchFamily="34" charset="-122"/>
                <a:cs typeface="Calibri" pitchFamily="34" charset="-120"/>
              </a:rPr>
              <a:t>kolom</a:t>
            </a:r>
            <a:r>
              <a:rPr lang="en-US" sz="2400"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itemDescription</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khususnya</a:t>
            </a:r>
            <a:r>
              <a:rPr lang="en-US" sz="2400" dirty="0">
                <a:solidFill>
                  <a:srgbClr val="444444"/>
                </a:solidFill>
                <a:latin typeface="Calibri" pitchFamily="34" charset="0"/>
                <a:ea typeface="Calibri" pitchFamily="34" charset="-122"/>
                <a:cs typeface="Calibri" pitchFamily="34" charset="-120"/>
              </a:rPr>
              <a:t> pada </a:t>
            </a:r>
            <a:r>
              <a:rPr lang="en-US" sz="2400" dirty="0" err="1">
                <a:solidFill>
                  <a:srgbClr val="444444"/>
                </a:solidFill>
                <a:latin typeface="Calibri" pitchFamily="34" charset="0"/>
                <a:ea typeface="Calibri" pitchFamily="34" charset="-122"/>
                <a:cs typeface="Calibri" pitchFamily="34" charset="-120"/>
              </a:rPr>
              <a:t>produk</a:t>
            </a:r>
            <a:r>
              <a:rPr lang="en-US" sz="2400" dirty="0">
                <a:solidFill>
                  <a:srgbClr val="444444"/>
                </a:solidFill>
                <a:latin typeface="Calibri" pitchFamily="34" charset="0"/>
                <a:ea typeface="Calibri" pitchFamily="34" charset="-122"/>
                <a:cs typeface="Calibri" pitchFamily="34" charset="-120"/>
              </a:rPr>
              <a:t> </a:t>
            </a:r>
            <a:r>
              <a:rPr lang="en-US" sz="2400" b="1" dirty="0">
                <a:solidFill>
                  <a:srgbClr val="444444"/>
                </a:solidFill>
                <a:latin typeface="Calibri" pitchFamily="34" charset="0"/>
                <a:ea typeface="Calibri" pitchFamily="34" charset="-122"/>
                <a:cs typeface="Calibri" pitchFamily="34" charset="-120"/>
              </a:rPr>
              <a:t>'cream cheese ' dan 'roll products ‘</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Berdasarkan</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jumlah</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kolom</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unik</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tidak</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ditemukan</a:t>
            </a:r>
            <a:r>
              <a:rPr lang="en-US" sz="2400"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kolom</a:t>
            </a:r>
            <a:r>
              <a:rPr lang="en-US" sz="2400" b="1"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untuk</a:t>
            </a:r>
            <a:r>
              <a:rPr lang="en-US" sz="2400" b="1"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mewakili</a:t>
            </a:r>
            <a:r>
              <a:rPr lang="en-US" sz="2400" b="1"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keranjang</a:t>
            </a:r>
            <a:r>
              <a:rPr lang="en-US" sz="2400" b="1"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belanja</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maka</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akan</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dibuat</a:t>
            </a:r>
            <a:r>
              <a:rPr lang="en-US" sz="2400"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kolom</a:t>
            </a:r>
            <a:r>
              <a:rPr lang="en-US" sz="2400" b="1"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baru</a:t>
            </a:r>
            <a:r>
              <a:rPr lang="en-US" sz="2400" b="1"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Transaction_ID</a:t>
            </a:r>
            <a:r>
              <a:rPr lang="en-US" sz="2400" b="1"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dari</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penggabungan</a:t>
            </a:r>
            <a:r>
              <a:rPr lang="en-US" sz="2400"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Member_number</a:t>
            </a:r>
            <a:r>
              <a:rPr lang="en-US" sz="2400" b="1" dirty="0">
                <a:solidFill>
                  <a:srgbClr val="444444"/>
                </a:solidFill>
                <a:latin typeface="Calibri" pitchFamily="34" charset="0"/>
                <a:ea typeface="Calibri" pitchFamily="34" charset="-122"/>
                <a:cs typeface="Calibri" pitchFamily="34" charset="-120"/>
              </a:rPr>
              <a:t> dan Date </a:t>
            </a:r>
            <a:r>
              <a:rPr lang="en-US" sz="2400" dirty="0" err="1">
                <a:solidFill>
                  <a:srgbClr val="444444"/>
                </a:solidFill>
                <a:latin typeface="Calibri" pitchFamily="34" charset="0"/>
                <a:ea typeface="Calibri" pitchFamily="34" charset="-122"/>
                <a:cs typeface="Calibri" pitchFamily="34" charset="-120"/>
              </a:rPr>
              <a:t>untuk</a:t>
            </a:r>
            <a:r>
              <a:rPr lang="en-US" sz="2400"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mengelompokkan</a:t>
            </a:r>
            <a:r>
              <a:rPr lang="en-US" sz="2400" b="1"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keranjang</a:t>
            </a:r>
            <a:r>
              <a:rPr lang="en-US" sz="2400" b="1"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belanja</a:t>
            </a:r>
            <a:r>
              <a:rPr lang="en-US" sz="2400" b="1" dirty="0">
                <a:solidFill>
                  <a:srgbClr val="444444"/>
                </a:solidFill>
                <a:latin typeface="Calibri" pitchFamily="34" charset="0"/>
                <a:ea typeface="Calibri" pitchFamily="34" charset="-122"/>
                <a:cs typeface="Calibri" pitchFamily="34" charset="-120"/>
              </a:rPr>
              <a:t> </a:t>
            </a:r>
            <a:r>
              <a:rPr lang="en-US" sz="2400" b="1" dirty="0" err="1">
                <a:solidFill>
                  <a:srgbClr val="444444"/>
                </a:solidFill>
                <a:latin typeface="Calibri" pitchFamily="34" charset="0"/>
                <a:ea typeface="Calibri" pitchFamily="34" charset="-122"/>
                <a:cs typeface="Calibri" pitchFamily="34" charset="-120"/>
              </a:rPr>
              <a:t>harian</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Penanganan</a:t>
            </a:r>
            <a:r>
              <a:rPr lang="en-US" sz="2400" dirty="0">
                <a:solidFill>
                  <a:srgbClr val="444444"/>
                </a:solidFill>
                <a:latin typeface="Calibri" pitchFamily="34" charset="0"/>
                <a:ea typeface="Calibri" pitchFamily="34" charset="-122"/>
                <a:cs typeface="Calibri" pitchFamily="34" charset="-120"/>
              </a:rPr>
              <a:t> data </a:t>
            </a:r>
            <a:r>
              <a:rPr lang="en-US" sz="2400" dirty="0" err="1">
                <a:solidFill>
                  <a:srgbClr val="444444"/>
                </a:solidFill>
                <a:latin typeface="Calibri" pitchFamily="34" charset="0"/>
                <a:ea typeface="Calibri" pitchFamily="34" charset="-122"/>
                <a:cs typeface="Calibri" pitchFamily="34" charset="-120"/>
              </a:rPr>
              <a:t>dilakukan</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dengan</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urutan</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merapikan</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spasi</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produk</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mengonversi</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tipe</a:t>
            </a:r>
            <a:r>
              <a:rPr lang="en-US" sz="2400" dirty="0">
                <a:solidFill>
                  <a:srgbClr val="444444"/>
                </a:solidFill>
                <a:latin typeface="Calibri" pitchFamily="34" charset="0"/>
                <a:ea typeface="Calibri" pitchFamily="34" charset="-122"/>
                <a:cs typeface="Calibri" pitchFamily="34" charset="-120"/>
              </a:rPr>
              <a:t> data , </a:t>
            </a:r>
            <a:r>
              <a:rPr lang="en-US" sz="2400" dirty="0" err="1">
                <a:solidFill>
                  <a:srgbClr val="444444"/>
                </a:solidFill>
                <a:latin typeface="Calibri" pitchFamily="34" charset="0"/>
                <a:ea typeface="Calibri" pitchFamily="34" charset="-122"/>
                <a:cs typeface="Calibri" pitchFamily="34" charset="-120"/>
              </a:rPr>
              <a:t>membuat</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Transaction_ID</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serta</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menghapus</a:t>
            </a:r>
            <a:r>
              <a:rPr lang="en-US" sz="2400" dirty="0">
                <a:solidFill>
                  <a:srgbClr val="444444"/>
                </a:solidFill>
                <a:latin typeface="Calibri" pitchFamily="34" charset="0"/>
                <a:ea typeface="Calibri" pitchFamily="34" charset="-122"/>
                <a:cs typeface="Calibri" pitchFamily="34" charset="-120"/>
              </a:rPr>
              <a:t> </a:t>
            </a:r>
            <a:r>
              <a:rPr lang="en-US" sz="2400" dirty="0" err="1">
                <a:solidFill>
                  <a:srgbClr val="444444"/>
                </a:solidFill>
                <a:latin typeface="Calibri" pitchFamily="34" charset="0"/>
                <a:ea typeface="Calibri" pitchFamily="34" charset="-122"/>
                <a:cs typeface="Calibri" pitchFamily="34" charset="-120"/>
              </a:rPr>
              <a:t>duplikasi</a:t>
            </a:r>
            <a:r>
              <a:rPr lang="en-US" sz="2400" dirty="0">
                <a:solidFill>
                  <a:srgbClr val="444444"/>
                </a:solidFill>
                <a:latin typeface="Calibri" pitchFamily="34" charset="0"/>
                <a:ea typeface="Calibri" pitchFamily="34" charset="-122"/>
                <a:cs typeface="Calibri" pitchFamily="34" charset="-120"/>
              </a:rPr>
              <a:t> item pada </a:t>
            </a:r>
            <a:r>
              <a:rPr lang="en-US" sz="2400" dirty="0" err="1">
                <a:solidFill>
                  <a:srgbClr val="444444"/>
                </a:solidFill>
                <a:latin typeface="Calibri" pitchFamily="34" charset="0"/>
                <a:ea typeface="Calibri" pitchFamily="34" charset="-122"/>
                <a:cs typeface="Calibri" pitchFamily="34" charset="-120"/>
              </a:rPr>
              <a:t>keranjang</a:t>
            </a:r>
            <a:r>
              <a:rPr lang="en-US" sz="2400" dirty="0">
                <a:solidFill>
                  <a:srgbClr val="444444"/>
                </a:solidFill>
                <a:latin typeface="Calibri" pitchFamily="34" charset="0"/>
                <a:ea typeface="Calibri" pitchFamily="34" charset="-122"/>
                <a:cs typeface="Calibri" pitchFamily="34" charset="-120"/>
              </a:rPr>
              <a:t> yang </a:t>
            </a:r>
            <a:r>
              <a:rPr lang="en-US" sz="2400" dirty="0" err="1">
                <a:solidFill>
                  <a:srgbClr val="444444"/>
                </a:solidFill>
                <a:latin typeface="Calibri" pitchFamily="34" charset="0"/>
                <a:ea typeface="Calibri" pitchFamily="34" charset="-122"/>
                <a:cs typeface="Calibri" pitchFamily="34" charset="-120"/>
              </a:rPr>
              <a:t>sama</a:t>
            </a:r>
            <a:r>
              <a:rPr lang="en-US" sz="2400" dirty="0">
                <a:solidFill>
                  <a:srgbClr val="444444"/>
                </a:solidFill>
                <a:latin typeface="Calibri" pitchFamily="34" charset="0"/>
                <a:ea typeface="Calibri" pitchFamily="34" charset="-122"/>
                <a:cs typeface="Calibri" pitchFamily="34" charset="-120"/>
              </a:rPr>
              <a:t>.</a:t>
            </a: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2770772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1E61E-B13E-9D7D-2D38-E1E9F4B41C52}"/>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E6B20DB0-3181-4DE3-56C4-51A963D52354}"/>
              </a:ext>
            </a:extLst>
          </p:cNvPr>
          <p:cNvSpPr/>
          <p:nvPr/>
        </p:nvSpPr>
        <p:spPr>
          <a:xfrm>
            <a:off x="-67948" y="3882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AC05EA51-06F2-852F-EA2B-10334FDDDD61}"/>
              </a:ext>
            </a:extLst>
          </p:cNvPr>
          <p:cNvSpPr/>
          <p:nvPr/>
        </p:nvSpPr>
        <p:spPr>
          <a:xfrm>
            <a:off x="548640" y="135708"/>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328E216F-626D-500A-6FA5-3C7EFF9290DC}"/>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A82AF0F5-B6EE-D764-D0B9-EB06DC080318}"/>
              </a:ext>
            </a:extLst>
          </p:cNvPr>
          <p:cNvSpPr/>
          <p:nvPr/>
        </p:nvSpPr>
        <p:spPr>
          <a:xfrm>
            <a:off x="133246" y="508871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6C35CCE7-8F72-52FB-4391-34999A93B862}"/>
              </a:ext>
            </a:extLst>
          </p:cNvPr>
          <p:cNvSpPr/>
          <p:nvPr/>
        </p:nvSpPr>
        <p:spPr>
          <a:xfrm>
            <a:off x="415435" y="5125531"/>
            <a:ext cx="517495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718B752B-EA80-D463-D52D-1E572719DC15}"/>
              </a:ext>
            </a:extLst>
          </p:cNvPr>
          <p:cNvSpPr/>
          <p:nvPr/>
        </p:nvSpPr>
        <p:spPr>
          <a:xfrm>
            <a:off x="367330" y="5561852"/>
            <a:ext cx="11367164" cy="1171388"/>
          </a:xfrm>
          <a:prstGeom prst="rect">
            <a:avLst/>
          </a:prstGeom>
          <a:noFill/>
          <a:ln/>
        </p:spPr>
        <p:txBody>
          <a:bodyPr wrap="square" rtlCol="0" anchor="t"/>
          <a:lstStyle/>
          <a:p>
            <a:r>
              <a:rPr lang="sv-SE" sz="2000" dirty="0">
                <a:solidFill>
                  <a:srgbClr val="444444"/>
                </a:solidFill>
                <a:latin typeface="Calibri" pitchFamily="34" charset="0"/>
                <a:ea typeface="Calibri" pitchFamily="34" charset="-122"/>
                <a:cs typeface="Calibri" pitchFamily="34" charset="-120"/>
              </a:rPr>
              <a:t>Seluruh tipe data sudah diganti kemudian penambahan kolom untuk menemukan pola keranjang juga sudah dibuat memungkinkan penggunaan algoritma apriori. Selanjutnya akan dilakukan penghapusan spasi berlebih (white space) dan pemeriksaan ulang pada nilai duplikasi. </a:t>
            </a:r>
            <a:br>
              <a:rPr lang="sv-SE" sz="2000" dirty="0">
                <a:solidFill>
                  <a:srgbClr val="444444"/>
                </a:solidFill>
                <a:latin typeface="Calibri" pitchFamily="34" charset="0"/>
                <a:ea typeface="Calibri" pitchFamily="34" charset="-122"/>
                <a:cs typeface="Calibri" pitchFamily="34" charset="-120"/>
              </a:rPr>
            </a:b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85579B21-C679-9072-34FD-4310C90A65B1}"/>
              </a:ext>
            </a:extLst>
          </p:cNvPr>
          <p:cNvSpPr/>
          <p:nvPr/>
        </p:nvSpPr>
        <p:spPr>
          <a:xfrm>
            <a:off x="548641" y="564433"/>
            <a:ext cx="4181524"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1. Mengubah tipe data Member_number</a:t>
            </a:r>
            <a:endParaRPr lang="en-US" sz="1600" dirty="0"/>
          </a:p>
        </p:txBody>
      </p:sp>
      <p:sp>
        <p:nvSpPr>
          <p:cNvPr id="15" name="Text 6">
            <a:extLst>
              <a:ext uri="{FF2B5EF4-FFF2-40B4-BE49-F238E27FC236}">
                <a16:creationId xmlns:a16="http://schemas.microsoft.com/office/drawing/2014/main" id="{ED30A953-B473-7C60-CF27-DE1FE05BF646}"/>
              </a:ext>
            </a:extLst>
          </p:cNvPr>
          <p:cNvSpPr/>
          <p:nvPr/>
        </p:nvSpPr>
        <p:spPr>
          <a:xfrm>
            <a:off x="4730165" y="564433"/>
            <a:ext cx="5881189"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2. Membuat kolom baru </a:t>
            </a:r>
            <a:endParaRPr lang="en-US" sz="1600" dirty="0"/>
          </a:p>
        </p:txBody>
      </p:sp>
      <p:sp>
        <p:nvSpPr>
          <p:cNvPr id="19" name="Text 6">
            <a:extLst>
              <a:ext uri="{FF2B5EF4-FFF2-40B4-BE49-F238E27FC236}">
                <a16:creationId xmlns:a16="http://schemas.microsoft.com/office/drawing/2014/main" id="{6057FDD1-BDC7-86C5-6E20-4EE1FA2E5548}"/>
              </a:ext>
            </a:extLst>
          </p:cNvPr>
          <p:cNvSpPr/>
          <p:nvPr/>
        </p:nvSpPr>
        <p:spPr>
          <a:xfrm>
            <a:off x="634181" y="2980009"/>
            <a:ext cx="2704106"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3. Cek kembali nilai unik </a:t>
            </a:r>
            <a:endParaRPr lang="en-US" sz="1600" dirty="0"/>
          </a:p>
        </p:txBody>
      </p:sp>
      <p:sp>
        <p:nvSpPr>
          <p:cNvPr id="23" name="Text 6">
            <a:extLst>
              <a:ext uri="{FF2B5EF4-FFF2-40B4-BE49-F238E27FC236}">
                <a16:creationId xmlns:a16="http://schemas.microsoft.com/office/drawing/2014/main" id="{421F75B2-4C16-D264-290E-8442CC159BAA}"/>
              </a:ext>
            </a:extLst>
          </p:cNvPr>
          <p:cNvSpPr/>
          <p:nvPr/>
        </p:nvSpPr>
        <p:spPr>
          <a:xfrm>
            <a:off x="4730165" y="2992018"/>
            <a:ext cx="4890945"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4. Mengubah tipe data Date menjadi datetime </a:t>
            </a:r>
            <a:endParaRPr lang="en-US" sz="1600" dirty="0"/>
          </a:p>
        </p:txBody>
      </p:sp>
      <p:pic>
        <p:nvPicPr>
          <p:cNvPr id="27" name="Picture 26">
            <a:extLst>
              <a:ext uri="{FF2B5EF4-FFF2-40B4-BE49-F238E27FC236}">
                <a16:creationId xmlns:a16="http://schemas.microsoft.com/office/drawing/2014/main" id="{67628B36-5D6C-8A04-B3D7-D49A144B19BC}"/>
              </a:ext>
            </a:extLst>
          </p:cNvPr>
          <p:cNvPicPr>
            <a:picLocks noChangeAspect="1"/>
          </p:cNvPicPr>
          <p:nvPr/>
        </p:nvPicPr>
        <p:blipFill>
          <a:blip r:embed="rId3"/>
          <a:stretch>
            <a:fillRect/>
          </a:stretch>
        </p:blipFill>
        <p:spPr>
          <a:xfrm>
            <a:off x="634180" y="1075689"/>
            <a:ext cx="3975011" cy="1813342"/>
          </a:xfrm>
          <a:prstGeom prst="rect">
            <a:avLst/>
          </a:prstGeom>
        </p:spPr>
      </p:pic>
      <p:pic>
        <p:nvPicPr>
          <p:cNvPr id="30" name="Picture 29">
            <a:extLst>
              <a:ext uri="{FF2B5EF4-FFF2-40B4-BE49-F238E27FC236}">
                <a16:creationId xmlns:a16="http://schemas.microsoft.com/office/drawing/2014/main" id="{E62A3B57-EDFD-E95B-5287-FF16082EB9BE}"/>
              </a:ext>
            </a:extLst>
          </p:cNvPr>
          <p:cNvPicPr>
            <a:picLocks noChangeAspect="1"/>
          </p:cNvPicPr>
          <p:nvPr/>
        </p:nvPicPr>
        <p:blipFill>
          <a:blip r:embed="rId4"/>
          <a:stretch>
            <a:fillRect/>
          </a:stretch>
        </p:blipFill>
        <p:spPr>
          <a:xfrm>
            <a:off x="4775002" y="1037571"/>
            <a:ext cx="4801270" cy="1886213"/>
          </a:xfrm>
          <a:prstGeom prst="rect">
            <a:avLst/>
          </a:prstGeom>
        </p:spPr>
      </p:pic>
      <p:pic>
        <p:nvPicPr>
          <p:cNvPr id="32" name="Picture 31">
            <a:extLst>
              <a:ext uri="{FF2B5EF4-FFF2-40B4-BE49-F238E27FC236}">
                <a16:creationId xmlns:a16="http://schemas.microsoft.com/office/drawing/2014/main" id="{D0CD64F9-FC7A-0CEA-023A-54AC465732F9}"/>
              </a:ext>
            </a:extLst>
          </p:cNvPr>
          <p:cNvPicPr>
            <a:picLocks noChangeAspect="1"/>
          </p:cNvPicPr>
          <p:nvPr/>
        </p:nvPicPr>
        <p:blipFill>
          <a:blip r:embed="rId5"/>
          <a:stretch>
            <a:fillRect/>
          </a:stretch>
        </p:blipFill>
        <p:spPr>
          <a:xfrm>
            <a:off x="712503" y="3362169"/>
            <a:ext cx="3486637" cy="1600423"/>
          </a:xfrm>
          <a:prstGeom prst="rect">
            <a:avLst/>
          </a:prstGeom>
        </p:spPr>
      </p:pic>
      <p:pic>
        <p:nvPicPr>
          <p:cNvPr id="34" name="Picture 33">
            <a:extLst>
              <a:ext uri="{FF2B5EF4-FFF2-40B4-BE49-F238E27FC236}">
                <a16:creationId xmlns:a16="http://schemas.microsoft.com/office/drawing/2014/main" id="{EAD7860D-5701-BB71-B156-05DA609EF7C3}"/>
              </a:ext>
            </a:extLst>
          </p:cNvPr>
          <p:cNvPicPr>
            <a:picLocks noChangeAspect="1"/>
          </p:cNvPicPr>
          <p:nvPr/>
        </p:nvPicPr>
        <p:blipFill>
          <a:blip r:embed="rId6"/>
          <a:stretch>
            <a:fillRect/>
          </a:stretch>
        </p:blipFill>
        <p:spPr>
          <a:xfrm>
            <a:off x="4775002" y="3406935"/>
            <a:ext cx="3934374" cy="1676634"/>
          </a:xfrm>
          <a:prstGeom prst="rect">
            <a:avLst/>
          </a:prstGeom>
        </p:spPr>
      </p:pic>
      <p:sp>
        <p:nvSpPr>
          <p:cNvPr id="36" name="Oval 35">
            <a:extLst>
              <a:ext uri="{FF2B5EF4-FFF2-40B4-BE49-F238E27FC236}">
                <a16:creationId xmlns:a16="http://schemas.microsoft.com/office/drawing/2014/main" id="{86A53C74-6409-7F9D-90B9-4635F122439C}"/>
              </a:ext>
            </a:extLst>
          </p:cNvPr>
          <p:cNvSpPr/>
          <p:nvPr/>
        </p:nvSpPr>
        <p:spPr>
          <a:xfrm>
            <a:off x="548640" y="2071248"/>
            <a:ext cx="1847762" cy="38216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8" name="Oval 37">
            <a:extLst>
              <a:ext uri="{FF2B5EF4-FFF2-40B4-BE49-F238E27FC236}">
                <a16:creationId xmlns:a16="http://schemas.microsoft.com/office/drawing/2014/main" id="{7EF434EB-7A65-A80D-A290-27C737AEA600}"/>
              </a:ext>
            </a:extLst>
          </p:cNvPr>
          <p:cNvSpPr/>
          <p:nvPr/>
        </p:nvSpPr>
        <p:spPr>
          <a:xfrm>
            <a:off x="4672108" y="2500672"/>
            <a:ext cx="1847762" cy="27318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0" name="Oval 39">
            <a:extLst>
              <a:ext uri="{FF2B5EF4-FFF2-40B4-BE49-F238E27FC236}">
                <a16:creationId xmlns:a16="http://schemas.microsoft.com/office/drawing/2014/main" id="{DE1526AF-641A-1294-057D-55FB8DB0CC74}"/>
              </a:ext>
            </a:extLst>
          </p:cNvPr>
          <p:cNvSpPr/>
          <p:nvPr/>
        </p:nvSpPr>
        <p:spPr>
          <a:xfrm>
            <a:off x="637136" y="4726911"/>
            <a:ext cx="2817264" cy="32848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2" name="Oval 41">
            <a:extLst>
              <a:ext uri="{FF2B5EF4-FFF2-40B4-BE49-F238E27FC236}">
                <a16:creationId xmlns:a16="http://schemas.microsoft.com/office/drawing/2014/main" id="{CFDCF284-F3D3-FA14-DB83-763161796761}"/>
              </a:ext>
            </a:extLst>
          </p:cNvPr>
          <p:cNvSpPr/>
          <p:nvPr/>
        </p:nvSpPr>
        <p:spPr>
          <a:xfrm>
            <a:off x="4775001" y="4386885"/>
            <a:ext cx="2467627" cy="27318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993963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4C4D-1365-6FAB-9B37-10828C31D9EC}"/>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ED4C27AC-F542-0B20-1608-F076A0EEDA58}"/>
              </a:ext>
            </a:extLst>
          </p:cNvPr>
          <p:cNvSpPr/>
          <p:nvPr/>
        </p:nvSpPr>
        <p:spPr>
          <a:xfrm>
            <a:off x="-67948" y="3882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4F7D2F2C-22F3-9ACF-5F8E-D16447493652}"/>
              </a:ext>
            </a:extLst>
          </p:cNvPr>
          <p:cNvSpPr/>
          <p:nvPr/>
        </p:nvSpPr>
        <p:spPr>
          <a:xfrm>
            <a:off x="548640" y="135708"/>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1EA202B8-15D6-2B73-203B-8B7F0AE77081}"/>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4C4D77E2-C8E3-A266-C089-C5A8C396EFD8}"/>
              </a:ext>
            </a:extLst>
          </p:cNvPr>
          <p:cNvSpPr/>
          <p:nvPr/>
        </p:nvSpPr>
        <p:spPr>
          <a:xfrm>
            <a:off x="133246" y="508871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7E4988B5-0964-4FB4-22F2-A0D7700ABDE7}"/>
              </a:ext>
            </a:extLst>
          </p:cNvPr>
          <p:cNvSpPr/>
          <p:nvPr/>
        </p:nvSpPr>
        <p:spPr>
          <a:xfrm>
            <a:off x="415435" y="5125531"/>
            <a:ext cx="517495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63EB2161-1B8B-53F5-F299-53319CF3D994}"/>
              </a:ext>
            </a:extLst>
          </p:cNvPr>
          <p:cNvSpPr/>
          <p:nvPr/>
        </p:nvSpPr>
        <p:spPr>
          <a:xfrm>
            <a:off x="367330" y="5561852"/>
            <a:ext cx="11367164" cy="1171388"/>
          </a:xfrm>
          <a:prstGeom prst="rect">
            <a:avLst/>
          </a:prstGeom>
          <a:noFill/>
          <a:ln/>
        </p:spPr>
        <p:txBody>
          <a:bodyPr wrap="square" rtlCol="0" anchor="t"/>
          <a:lstStyle/>
          <a:p>
            <a:r>
              <a:rPr lang="sv-SE" sz="2000" dirty="0">
                <a:solidFill>
                  <a:srgbClr val="444444"/>
                </a:solidFill>
                <a:latin typeface="Calibri" pitchFamily="34" charset="0"/>
                <a:ea typeface="Calibri" pitchFamily="34" charset="-122"/>
                <a:cs typeface="Calibri" pitchFamily="34" charset="-120"/>
              </a:rPr>
              <a:t>Setelah penghapusan spasi berlebih dan menggunakan </a:t>
            </a:r>
            <a:r>
              <a:rPr lang="sv-SE" sz="2000" b="1" dirty="0">
                <a:solidFill>
                  <a:srgbClr val="444444"/>
                </a:solidFill>
                <a:latin typeface="Calibri" pitchFamily="34" charset="0"/>
                <a:ea typeface="Calibri" pitchFamily="34" charset="-122"/>
                <a:cs typeface="Calibri" pitchFamily="34" charset="-120"/>
              </a:rPr>
              <a:t>Gemini AI untuk cek konsistensi nilai </a:t>
            </a:r>
            <a:r>
              <a:rPr lang="sv-SE" sz="2000" dirty="0">
                <a:solidFill>
                  <a:srgbClr val="444444"/>
                </a:solidFill>
                <a:latin typeface="Calibri" pitchFamily="34" charset="0"/>
                <a:ea typeface="Calibri" pitchFamily="34" charset="-122"/>
                <a:cs typeface="Calibri" pitchFamily="34" charset="-120"/>
              </a:rPr>
              <a:t>pada setiap kolom, data sudah </a:t>
            </a:r>
            <a:r>
              <a:rPr lang="sv-SE" sz="2000" b="1" dirty="0">
                <a:solidFill>
                  <a:srgbClr val="444444"/>
                </a:solidFill>
                <a:latin typeface="Calibri" pitchFamily="34" charset="0"/>
                <a:ea typeface="Calibri" pitchFamily="34" charset="-122"/>
                <a:cs typeface="Calibri" pitchFamily="34" charset="-120"/>
              </a:rPr>
              <a:t>konsisten </a:t>
            </a:r>
            <a:r>
              <a:rPr lang="sv-SE" sz="2000" dirty="0">
                <a:solidFill>
                  <a:srgbClr val="444444"/>
                </a:solidFill>
                <a:latin typeface="Calibri" pitchFamily="34" charset="0"/>
                <a:ea typeface="Calibri" pitchFamily="34" charset="-122"/>
                <a:cs typeface="Calibri" pitchFamily="34" charset="-120"/>
              </a:rPr>
              <a:t>namun nilai duplikasi masih ada,  langkah cleaning selanjutnya untuk menentukan tindakan yang dilakukan pada nilai duplikasi</a:t>
            </a:r>
            <a:br>
              <a:rPr lang="sv-SE" sz="2000" dirty="0">
                <a:solidFill>
                  <a:srgbClr val="444444"/>
                </a:solidFill>
                <a:latin typeface="Calibri" pitchFamily="34" charset="0"/>
                <a:ea typeface="Calibri" pitchFamily="34" charset="-122"/>
                <a:cs typeface="Calibri" pitchFamily="34" charset="-120"/>
              </a:rPr>
            </a:b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83386C4E-19D9-3F7D-25AE-BBBCCDA11C95}"/>
              </a:ext>
            </a:extLst>
          </p:cNvPr>
          <p:cNvSpPr/>
          <p:nvPr/>
        </p:nvSpPr>
        <p:spPr>
          <a:xfrm>
            <a:off x="548641" y="564433"/>
            <a:ext cx="4181524"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5. Menghapus spasi berlebih</a:t>
            </a:r>
            <a:endParaRPr lang="en-US" sz="1600" dirty="0"/>
          </a:p>
        </p:txBody>
      </p:sp>
      <p:sp>
        <p:nvSpPr>
          <p:cNvPr id="15" name="Text 6">
            <a:extLst>
              <a:ext uri="{FF2B5EF4-FFF2-40B4-BE49-F238E27FC236}">
                <a16:creationId xmlns:a16="http://schemas.microsoft.com/office/drawing/2014/main" id="{FFDA79A9-67B9-929A-39C4-BFF6A1C099BC}"/>
              </a:ext>
            </a:extLst>
          </p:cNvPr>
          <p:cNvSpPr/>
          <p:nvPr/>
        </p:nvSpPr>
        <p:spPr>
          <a:xfrm>
            <a:off x="4730165" y="564433"/>
            <a:ext cx="5881189"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6. Membuat kolom baru </a:t>
            </a:r>
            <a:endParaRPr lang="en-US" sz="1600" dirty="0"/>
          </a:p>
        </p:txBody>
      </p:sp>
      <p:sp>
        <p:nvSpPr>
          <p:cNvPr id="19" name="Text 6">
            <a:extLst>
              <a:ext uri="{FF2B5EF4-FFF2-40B4-BE49-F238E27FC236}">
                <a16:creationId xmlns:a16="http://schemas.microsoft.com/office/drawing/2014/main" id="{BA8D16FB-0C80-F773-5650-253EDA3810C9}"/>
              </a:ext>
            </a:extLst>
          </p:cNvPr>
          <p:cNvSpPr/>
          <p:nvPr/>
        </p:nvSpPr>
        <p:spPr>
          <a:xfrm>
            <a:off x="634181" y="2980009"/>
            <a:ext cx="2704106"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7. Cek kembali duplikasi</a:t>
            </a:r>
            <a:endParaRPr lang="en-US" sz="1600" dirty="0"/>
          </a:p>
        </p:txBody>
      </p:sp>
      <p:pic>
        <p:nvPicPr>
          <p:cNvPr id="11" name="Picture 10">
            <a:extLst>
              <a:ext uri="{FF2B5EF4-FFF2-40B4-BE49-F238E27FC236}">
                <a16:creationId xmlns:a16="http://schemas.microsoft.com/office/drawing/2014/main" id="{C4734EA5-DC7F-B691-9CCE-93BD9CF88CED}"/>
              </a:ext>
            </a:extLst>
          </p:cNvPr>
          <p:cNvPicPr>
            <a:picLocks noChangeAspect="1"/>
          </p:cNvPicPr>
          <p:nvPr/>
        </p:nvPicPr>
        <p:blipFill>
          <a:blip r:embed="rId3"/>
          <a:stretch>
            <a:fillRect/>
          </a:stretch>
        </p:blipFill>
        <p:spPr>
          <a:xfrm>
            <a:off x="576124" y="1696080"/>
            <a:ext cx="4020111" cy="447737"/>
          </a:xfrm>
          <a:prstGeom prst="rect">
            <a:avLst/>
          </a:prstGeom>
        </p:spPr>
      </p:pic>
      <p:pic>
        <p:nvPicPr>
          <p:cNvPr id="16" name="Picture 15">
            <a:extLst>
              <a:ext uri="{FF2B5EF4-FFF2-40B4-BE49-F238E27FC236}">
                <a16:creationId xmlns:a16="http://schemas.microsoft.com/office/drawing/2014/main" id="{A7245C95-6D78-C358-0FE5-19E9CD144D2C}"/>
              </a:ext>
            </a:extLst>
          </p:cNvPr>
          <p:cNvPicPr>
            <a:picLocks noChangeAspect="1"/>
          </p:cNvPicPr>
          <p:nvPr/>
        </p:nvPicPr>
        <p:blipFill>
          <a:blip r:embed="rId4"/>
          <a:stretch>
            <a:fillRect/>
          </a:stretch>
        </p:blipFill>
        <p:spPr>
          <a:xfrm>
            <a:off x="4763716" y="979134"/>
            <a:ext cx="6249272" cy="2010056"/>
          </a:xfrm>
          <a:prstGeom prst="rect">
            <a:avLst/>
          </a:prstGeom>
        </p:spPr>
      </p:pic>
      <p:pic>
        <p:nvPicPr>
          <p:cNvPr id="20" name="Picture 19">
            <a:extLst>
              <a:ext uri="{FF2B5EF4-FFF2-40B4-BE49-F238E27FC236}">
                <a16:creationId xmlns:a16="http://schemas.microsoft.com/office/drawing/2014/main" id="{B1994AE2-F65D-8596-1BBE-388BFBAB3CA0}"/>
              </a:ext>
            </a:extLst>
          </p:cNvPr>
          <p:cNvPicPr>
            <a:picLocks noChangeAspect="1"/>
          </p:cNvPicPr>
          <p:nvPr/>
        </p:nvPicPr>
        <p:blipFill>
          <a:blip r:embed="rId5"/>
          <a:stretch>
            <a:fillRect/>
          </a:stretch>
        </p:blipFill>
        <p:spPr>
          <a:xfrm>
            <a:off x="634181" y="3546095"/>
            <a:ext cx="3832802" cy="851734"/>
          </a:xfrm>
          <a:prstGeom prst="rect">
            <a:avLst/>
          </a:prstGeom>
        </p:spPr>
      </p:pic>
    </p:spTree>
    <p:extLst>
      <p:ext uri="{BB962C8B-B14F-4D97-AF65-F5344CB8AC3E}">
        <p14:creationId xmlns:p14="http://schemas.microsoft.com/office/powerpoint/2010/main" val="305686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74203-E734-29A5-2635-819F6D8C5706}"/>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0449CF8B-193A-3034-023A-0135CCA1365E}"/>
              </a:ext>
            </a:extLst>
          </p:cNvPr>
          <p:cNvSpPr/>
          <p:nvPr/>
        </p:nvSpPr>
        <p:spPr>
          <a:xfrm>
            <a:off x="-67948" y="3882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5993FB75-E2C5-515A-E322-5F76ACEB9D97}"/>
              </a:ext>
            </a:extLst>
          </p:cNvPr>
          <p:cNvSpPr/>
          <p:nvPr/>
        </p:nvSpPr>
        <p:spPr>
          <a:xfrm>
            <a:off x="548640" y="135708"/>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9117038E-36C9-ECB3-4499-9C701677CE64}"/>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713E94DA-4F2F-6D2D-B606-8E7CF6B569B4}"/>
              </a:ext>
            </a:extLst>
          </p:cNvPr>
          <p:cNvSpPr/>
          <p:nvPr/>
        </p:nvSpPr>
        <p:spPr>
          <a:xfrm>
            <a:off x="133246" y="508871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F5054536-4227-F8E1-92FC-533275095BCF}"/>
              </a:ext>
            </a:extLst>
          </p:cNvPr>
          <p:cNvSpPr/>
          <p:nvPr/>
        </p:nvSpPr>
        <p:spPr>
          <a:xfrm>
            <a:off x="415435" y="5125531"/>
            <a:ext cx="517495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D4D45072-C031-F4E1-102C-2590E2F84321}"/>
              </a:ext>
            </a:extLst>
          </p:cNvPr>
          <p:cNvSpPr/>
          <p:nvPr/>
        </p:nvSpPr>
        <p:spPr>
          <a:xfrm>
            <a:off x="367330" y="5561852"/>
            <a:ext cx="11367164" cy="1171388"/>
          </a:xfrm>
          <a:prstGeom prst="rect">
            <a:avLst/>
          </a:prstGeom>
          <a:noFill/>
          <a:ln/>
        </p:spPr>
        <p:txBody>
          <a:bodyPr wrap="square" rtlCol="0" anchor="t"/>
          <a:lstStyle/>
          <a:p>
            <a:r>
              <a:rPr lang="sv-SE" sz="2000" dirty="0">
                <a:solidFill>
                  <a:srgbClr val="444444"/>
                </a:solidFill>
                <a:latin typeface="Calibri" pitchFamily="34" charset="0"/>
                <a:ea typeface="Calibri" pitchFamily="34" charset="-122"/>
                <a:cs typeface="Calibri" pitchFamily="34" charset="-120"/>
              </a:rPr>
              <a:t>Ditemukan barang yang sama pada Transactions_ID yang sama, hal ini mengartikan pelanggan dengan no member 1003 membeli barang rolls/buns sebanyak 2 buah di hari yang sama. karena analisis Algoritma Apriori hanya perlu tahu apakah suatu produk ada atau tidak di dalam satu keranjang belanja. Maka nilai duplikasi akan dihapus.</a:t>
            </a:r>
            <a:br>
              <a:rPr lang="sv-SE" sz="2000" dirty="0">
                <a:solidFill>
                  <a:srgbClr val="444444"/>
                </a:solidFill>
                <a:latin typeface="Calibri" pitchFamily="34" charset="0"/>
                <a:ea typeface="Calibri" pitchFamily="34" charset="-122"/>
                <a:cs typeface="Calibri" pitchFamily="34" charset="-120"/>
              </a:rPr>
            </a:b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8645E307-EFE6-31B6-034F-8F63A266C950}"/>
              </a:ext>
            </a:extLst>
          </p:cNvPr>
          <p:cNvSpPr/>
          <p:nvPr/>
        </p:nvSpPr>
        <p:spPr>
          <a:xfrm>
            <a:off x="548641" y="564433"/>
            <a:ext cx="4181524"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8. Cek nilai Duplikasi</a:t>
            </a:r>
            <a:endParaRPr lang="en-US" sz="1600" dirty="0"/>
          </a:p>
        </p:txBody>
      </p:sp>
      <p:pic>
        <p:nvPicPr>
          <p:cNvPr id="4" name="Picture 3">
            <a:extLst>
              <a:ext uri="{FF2B5EF4-FFF2-40B4-BE49-F238E27FC236}">
                <a16:creationId xmlns:a16="http://schemas.microsoft.com/office/drawing/2014/main" id="{CB877FA8-045D-9267-04B3-22CF53081195}"/>
              </a:ext>
            </a:extLst>
          </p:cNvPr>
          <p:cNvPicPr>
            <a:picLocks noChangeAspect="1"/>
          </p:cNvPicPr>
          <p:nvPr/>
        </p:nvPicPr>
        <p:blipFill>
          <a:blip r:embed="rId3"/>
          <a:stretch>
            <a:fillRect/>
          </a:stretch>
        </p:blipFill>
        <p:spPr>
          <a:xfrm>
            <a:off x="791294" y="1083390"/>
            <a:ext cx="9165222" cy="3401524"/>
          </a:xfrm>
          <a:prstGeom prst="rect">
            <a:avLst/>
          </a:prstGeom>
        </p:spPr>
      </p:pic>
    </p:spTree>
    <p:extLst>
      <p:ext uri="{BB962C8B-B14F-4D97-AF65-F5344CB8AC3E}">
        <p14:creationId xmlns:p14="http://schemas.microsoft.com/office/powerpoint/2010/main" val="2075536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C4F90-5D0B-243B-07C1-DB24786CCEED}"/>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6DC2A490-ED9D-67F7-90B7-4DB28B6263BA}"/>
              </a:ext>
            </a:extLst>
          </p:cNvPr>
          <p:cNvSpPr/>
          <p:nvPr/>
        </p:nvSpPr>
        <p:spPr>
          <a:xfrm>
            <a:off x="-67948" y="3882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9D1CE068-E896-A09D-7A99-499DBF645C77}"/>
              </a:ext>
            </a:extLst>
          </p:cNvPr>
          <p:cNvSpPr/>
          <p:nvPr/>
        </p:nvSpPr>
        <p:spPr>
          <a:xfrm>
            <a:off x="548640" y="135708"/>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FC2CD7BB-5E32-6168-3904-8775C5FE9B87}"/>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24481574-FD13-53C0-8442-BA8BE63E51BF}"/>
              </a:ext>
            </a:extLst>
          </p:cNvPr>
          <p:cNvSpPr/>
          <p:nvPr/>
        </p:nvSpPr>
        <p:spPr>
          <a:xfrm>
            <a:off x="133246" y="508871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DC7C7748-999D-7CD6-6B31-4B861A61A6DC}"/>
              </a:ext>
            </a:extLst>
          </p:cNvPr>
          <p:cNvSpPr/>
          <p:nvPr/>
        </p:nvSpPr>
        <p:spPr>
          <a:xfrm>
            <a:off x="415435" y="5125531"/>
            <a:ext cx="517495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A4C163CB-AF1C-8B1F-9863-1B4605FF2DD5}"/>
              </a:ext>
            </a:extLst>
          </p:cNvPr>
          <p:cNvSpPr/>
          <p:nvPr/>
        </p:nvSpPr>
        <p:spPr>
          <a:xfrm>
            <a:off x="367330" y="5561852"/>
            <a:ext cx="11367164" cy="1171388"/>
          </a:xfrm>
          <a:prstGeom prst="rect">
            <a:avLst/>
          </a:prstGeom>
          <a:noFill/>
          <a:ln/>
        </p:spPr>
        <p:txBody>
          <a:bodyPr wrap="square" rtlCol="0" anchor="t"/>
          <a:lstStyle/>
          <a:p>
            <a:r>
              <a:rPr lang="sv-SE" sz="2000" dirty="0">
                <a:solidFill>
                  <a:srgbClr val="444444"/>
                </a:solidFill>
                <a:latin typeface="Calibri" pitchFamily="34" charset="0"/>
                <a:ea typeface="Calibri" pitchFamily="34" charset="-122"/>
                <a:cs typeface="Calibri" pitchFamily="34" charset="-120"/>
              </a:rPr>
              <a:t>Duplikasi berhasil dihapus dan total baris berkurang menjadi 38.006, jumlah kolom bertambah 1 dan tidak menemukan data yang duplikasi atau pun data yang berisi kosong. Tahapan cleaning sudah selesai selanjutnya akan melakukan pemeriksaan outlier</a:t>
            </a:r>
            <a:br>
              <a:rPr lang="sv-SE" sz="2000" dirty="0">
                <a:solidFill>
                  <a:srgbClr val="444444"/>
                </a:solidFill>
                <a:latin typeface="Calibri" pitchFamily="34" charset="0"/>
                <a:ea typeface="Calibri" pitchFamily="34" charset="-122"/>
                <a:cs typeface="Calibri" pitchFamily="34" charset="-120"/>
              </a:rPr>
            </a:b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19912FDD-8AB4-1467-9AF2-8B2445A41B43}"/>
              </a:ext>
            </a:extLst>
          </p:cNvPr>
          <p:cNvSpPr/>
          <p:nvPr/>
        </p:nvSpPr>
        <p:spPr>
          <a:xfrm>
            <a:off x="548641" y="564433"/>
            <a:ext cx="4181524"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9. Menghapus Duplikasi</a:t>
            </a:r>
            <a:endParaRPr lang="en-US" sz="1600" dirty="0"/>
          </a:p>
        </p:txBody>
      </p:sp>
      <p:sp>
        <p:nvSpPr>
          <p:cNvPr id="19" name="Text 6">
            <a:extLst>
              <a:ext uri="{FF2B5EF4-FFF2-40B4-BE49-F238E27FC236}">
                <a16:creationId xmlns:a16="http://schemas.microsoft.com/office/drawing/2014/main" id="{64ABC877-99D0-8B9F-FF55-74486BF876CF}"/>
              </a:ext>
            </a:extLst>
          </p:cNvPr>
          <p:cNvSpPr/>
          <p:nvPr/>
        </p:nvSpPr>
        <p:spPr>
          <a:xfrm>
            <a:off x="548641" y="1872888"/>
            <a:ext cx="2704106"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10. Cek kembali duplikasi</a:t>
            </a:r>
            <a:endParaRPr lang="en-US" sz="1600" dirty="0"/>
          </a:p>
        </p:txBody>
      </p:sp>
      <p:pic>
        <p:nvPicPr>
          <p:cNvPr id="6" name="Picture 5">
            <a:extLst>
              <a:ext uri="{FF2B5EF4-FFF2-40B4-BE49-F238E27FC236}">
                <a16:creationId xmlns:a16="http://schemas.microsoft.com/office/drawing/2014/main" id="{7C7A9F62-482C-3E57-1067-9AD67EAC3539}"/>
              </a:ext>
            </a:extLst>
          </p:cNvPr>
          <p:cNvPicPr>
            <a:picLocks noChangeAspect="1"/>
          </p:cNvPicPr>
          <p:nvPr/>
        </p:nvPicPr>
        <p:blipFill>
          <a:blip r:embed="rId3"/>
          <a:stretch>
            <a:fillRect/>
          </a:stretch>
        </p:blipFill>
        <p:spPr>
          <a:xfrm>
            <a:off x="680889" y="2358839"/>
            <a:ext cx="4288657" cy="2189952"/>
          </a:xfrm>
          <a:prstGeom prst="rect">
            <a:avLst/>
          </a:prstGeom>
        </p:spPr>
      </p:pic>
      <p:pic>
        <p:nvPicPr>
          <p:cNvPr id="11" name="Picture 10">
            <a:extLst>
              <a:ext uri="{FF2B5EF4-FFF2-40B4-BE49-F238E27FC236}">
                <a16:creationId xmlns:a16="http://schemas.microsoft.com/office/drawing/2014/main" id="{A6F7F573-1081-2887-7C90-C8AFD2AC8355}"/>
              </a:ext>
            </a:extLst>
          </p:cNvPr>
          <p:cNvPicPr>
            <a:picLocks noChangeAspect="1"/>
          </p:cNvPicPr>
          <p:nvPr/>
        </p:nvPicPr>
        <p:blipFill>
          <a:blip r:embed="rId4"/>
          <a:stretch>
            <a:fillRect/>
          </a:stretch>
        </p:blipFill>
        <p:spPr>
          <a:xfrm>
            <a:off x="827224" y="1104356"/>
            <a:ext cx="7291431" cy="714560"/>
          </a:xfrm>
          <a:prstGeom prst="rect">
            <a:avLst/>
          </a:prstGeom>
        </p:spPr>
      </p:pic>
    </p:spTree>
    <p:extLst>
      <p:ext uri="{BB962C8B-B14F-4D97-AF65-F5344CB8AC3E}">
        <p14:creationId xmlns:p14="http://schemas.microsoft.com/office/powerpoint/2010/main" val="2979524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30CC5-BDAE-A87B-73B4-10BDC8AD67C2}"/>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91F56196-C053-924D-A6CC-C7216CB98C86}"/>
              </a:ext>
            </a:extLst>
          </p:cNvPr>
          <p:cNvSpPr/>
          <p:nvPr/>
        </p:nvSpPr>
        <p:spPr>
          <a:xfrm>
            <a:off x="-67948" y="3882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27051E74-C2C0-2875-1AEA-77E3F9096C4F}"/>
              </a:ext>
            </a:extLst>
          </p:cNvPr>
          <p:cNvSpPr/>
          <p:nvPr/>
        </p:nvSpPr>
        <p:spPr>
          <a:xfrm>
            <a:off x="548640" y="135708"/>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C2B69717-20E8-5544-C791-37F7C95D3A65}"/>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5A147157-C64C-AB48-57F9-5D51233AABFC}"/>
              </a:ext>
            </a:extLst>
          </p:cNvPr>
          <p:cNvSpPr/>
          <p:nvPr/>
        </p:nvSpPr>
        <p:spPr>
          <a:xfrm>
            <a:off x="133246" y="4754886"/>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70E22C30-F061-0691-9AE0-40093C65CE5B}"/>
              </a:ext>
            </a:extLst>
          </p:cNvPr>
          <p:cNvSpPr/>
          <p:nvPr/>
        </p:nvSpPr>
        <p:spPr>
          <a:xfrm>
            <a:off x="415435" y="4791703"/>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1FF3E7F0-B7A8-9456-2769-2F177E0F534F}"/>
              </a:ext>
            </a:extLst>
          </p:cNvPr>
          <p:cNvSpPr/>
          <p:nvPr/>
        </p:nvSpPr>
        <p:spPr>
          <a:xfrm>
            <a:off x="367330" y="5228024"/>
            <a:ext cx="11367164" cy="1171388"/>
          </a:xfrm>
          <a:prstGeom prst="rect">
            <a:avLst/>
          </a:prstGeom>
          <a:noFill/>
          <a:ln/>
        </p:spPr>
        <p:txBody>
          <a:bodyPr wrap="square" rtlCol="0" anchor="t"/>
          <a:lstStyle/>
          <a:p>
            <a:r>
              <a:rPr lang="sv-SE" sz="2000" dirty="0">
                <a:solidFill>
                  <a:srgbClr val="444444"/>
                </a:solidFill>
                <a:latin typeface="Calibri" pitchFamily="34" charset="0"/>
                <a:ea typeface="Calibri" pitchFamily="34" charset="-122"/>
                <a:cs typeface="Calibri" pitchFamily="34" charset="-120"/>
              </a:rPr>
              <a:t>Berdasarkan perhitungan IQR (batas atas 4,5), terdeteksi 746 transaksi outlier (≥ 5 barang). Disarankan data ini tetap dipertahankan karena jumlah barang yang banyak pada suatu transaksi dapat diartikan sebagai pelanggan membeli barang yang banyak. Selanjutnya, menambahkan kolom basket_size, Day_Name, Month, dan Basket_Category untuk mendukung fitur filter interaktif (slicer) pada dashboard, sehingga perbandingan pola belanja pelanggan dapat dianalisis lebih mendalam.</a:t>
            </a: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0C75A458-2075-C727-BA5F-104F4CD32C19}"/>
              </a:ext>
            </a:extLst>
          </p:cNvPr>
          <p:cNvSpPr/>
          <p:nvPr/>
        </p:nvSpPr>
        <p:spPr>
          <a:xfrm>
            <a:off x="548641" y="564433"/>
            <a:ext cx="4181524"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11. Cek Outlier</a:t>
            </a:r>
            <a:endParaRPr lang="en-US" sz="1600" dirty="0"/>
          </a:p>
        </p:txBody>
      </p:sp>
      <p:pic>
        <p:nvPicPr>
          <p:cNvPr id="12" name="Picture 11">
            <a:extLst>
              <a:ext uri="{FF2B5EF4-FFF2-40B4-BE49-F238E27FC236}">
                <a16:creationId xmlns:a16="http://schemas.microsoft.com/office/drawing/2014/main" id="{974ED632-CE2F-FE93-032C-20B49C264483}"/>
              </a:ext>
            </a:extLst>
          </p:cNvPr>
          <p:cNvPicPr>
            <a:picLocks noChangeAspect="1"/>
          </p:cNvPicPr>
          <p:nvPr/>
        </p:nvPicPr>
        <p:blipFill>
          <a:blip r:embed="rId3"/>
          <a:stretch>
            <a:fillRect/>
          </a:stretch>
        </p:blipFill>
        <p:spPr>
          <a:xfrm>
            <a:off x="548641" y="951646"/>
            <a:ext cx="9553302" cy="3661455"/>
          </a:xfrm>
          <a:prstGeom prst="rect">
            <a:avLst/>
          </a:prstGeom>
        </p:spPr>
      </p:pic>
    </p:spTree>
    <p:extLst>
      <p:ext uri="{BB962C8B-B14F-4D97-AF65-F5344CB8AC3E}">
        <p14:creationId xmlns:p14="http://schemas.microsoft.com/office/powerpoint/2010/main" val="1161003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4DCE2-F700-5BEC-B9EE-ACDB1FE7D484}"/>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EC8865FD-33CE-D7E6-71C4-A29C3578E069}"/>
              </a:ext>
            </a:extLst>
          </p:cNvPr>
          <p:cNvSpPr/>
          <p:nvPr/>
        </p:nvSpPr>
        <p:spPr>
          <a:xfrm>
            <a:off x="-67948" y="3882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527BA7C4-2BF8-9E87-B7B4-5DDB447027B9}"/>
              </a:ext>
            </a:extLst>
          </p:cNvPr>
          <p:cNvSpPr/>
          <p:nvPr/>
        </p:nvSpPr>
        <p:spPr>
          <a:xfrm>
            <a:off x="548640" y="135708"/>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02993609-8BBE-520F-8A58-788D948D422D}"/>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9EBF9212-5A43-213E-0359-F9914392A21D}"/>
              </a:ext>
            </a:extLst>
          </p:cNvPr>
          <p:cNvSpPr/>
          <p:nvPr/>
        </p:nvSpPr>
        <p:spPr>
          <a:xfrm>
            <a:off x="133246" y="4754886"/>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54E44269-19F3-F2E1-1C81-EC4FA67625B1}"/>
              </a:ext>
            </a:extLst>
          </p:cNvPr>
          <p:cNvSpPr/>
          <p:nvPr/>
        </p:nvSpPr>
        <p:spPr>
          <a:xfrm>
            <a:off x="415435" y="4791703"/>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4D490422-A3A7-EDE1-8036-CD331352AAC0}"/>
              </a:ext>
            </a:extLst>
          </p:cNvPr>
          <p:cNvSpPr/>
          <p:nvPr/>
        </p:nvSpPr>
        <p:spPr>
          <a:xfrm>
            <a:off x="367330" y="5228024"/>
            <a:ext cx="11367164" cy="1171388"/>
          </a:xfrm>
          <a:prstGeom prst="rect">
            <a:avLst/>
          </a:prstGeom>
          <a:noFill/>
          <a:ln/>
        </p:spPr>
        <p:txBody>
          <a:bodyPr wrap="square" rtlCol="0" anchor="t"/>
          <a:lstStyle/>
          <a:p>
            <a:r>
              <a:rPr lang="sv-SE" sz="2000" dirty="0">
                <a:solidFill>
                  <a:srgbClr val="444444"/>
                </a:solidFill>
                <a:latin typeface="Calibri" pitchFamily="34" charset="0"/>
                <a:ea typeface="Calibri" pitchFamily="34" charset="-122"/>
                <a:cs typeface="Calibri" pitchFamily="34" charset="-120"/>
              </a:rPr>
              <a:t>Pembuatan kolom basket_size dan Basket_Category dilakukan untuk mengelompokkan kapasitas belanja pelanggan (Small, Medium, Large), sementara penambahan Day_Name dan Month mengekstrak dimensi waktu transaksi. Seluruh fitur ini dibutuhkan sebagai variabel slicer interaktif di  untuk membandingkan pola asosiasi produk berdasarkan ukuran keranjang serta tren belanja harian dan bulanan.</a:t>
            </a: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A1549977-9056-6F86-3EC1-238195DE412A}"/>
              </a:ext>
            </a:extLst>
          </p:cNvPr>
          <p:cNvSpPr/>
          <p:nvPr/>
        </p:nvSpPr>
        <p:spPr>
          <a:xfrm>
            <a:off x="548640" y="564433"/>
            <a:ext cx="5257073"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11. </a:t>
            </a:r>
            <a:r>
              <a:rPr lang="fi-FI" sz="1600" b="1" dirty="0">
                <a:solidFill>
                  <a:srgbClr val="F2545B"/>
                </a:solidFill>
                <a:latin typeface="Cambria" pitchFamily="34" charset="0"/>
                <a:ea typeface="Cambria" pitchFamily="34" charset="-122"/>
                <a:cs typeface="Cambria" pitchFamily="34" charset="-120"/>
              </a:rPr>
              <a:t>Buat kolom baru untuk keutuhan analisis</a:t>
            </a:r>
            <a:endParaRPr lang="en-US" sz="1600" dirty="0"/>
          </a:p>
        </p:txBody>
      </p:sp>
      <p:pic>
        <p:nvPicPr>
          <p:cNvPr id="4" name="Picture 3">
            <a:extLst>
              <a:ext uri="{FF2B5EF4-FFF2-40B4-BE49-F238E27FC236}">
                <a16:creationId xmlns:a16="http://schemas.microsoft.com/office/drawing/2014/main" id="{8C8D474D-7654-8431-2E4A-539470191E17}"/>
              </a:ext>
            </a:extLst>
          </p:cNvPr>
          <p:cNvPicPr>
            <a:picLocks noChangeAspect="1"/>
          </p:cNvPicPr>
          <p:nvPr/>
        </p:nvPicPr>
        <p:blipFill>
          <a:blip r:embed="rId3"/>
          <a:stretch>
            <a:fillRect/>
          </a:stretch>
        </p:blipFill>
        <p:spPr>
          <a:xfrm>
            <a:off x="695566" y="1037571"/>
            <a:ext cx="7530577" cy="2746276"/>
          </a:xfrm>
          <a:prstGeom prst="rect">
            <a:avLst/>
          </a:prstGeom>
        </p:spPr>
      </p:pic>
    </p:spTree>
    <p:extLst>
      <p:ext uri="{BB962C8B-B14F-4D97-AF65-F5344CB8AC3E}">
        <p14:creationId xmlns:p14="http://schemas.microsoft.com/office/powerpoint/2010/main" val="1337957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E7883-0C4A-B808-3502-BB2E11F0E5F6}"/>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EB3CAE88-FCB4-C3A6-8FF2-BDDC64C45F33}"/>
              </a:ext>
            </a:extLst>
          </p:cNvPr>
          <p:cNvSpPr/>
          <p:nvPr/>
        </p:nvSpPr>
        <p:spPr>
          <a:xfrm>
            <a:off x="-67948" y="3882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521C91CC-C0BE-FF73-4F93-B1C1E037FFAA}"/>
              </a:ext>
            </a:extLst>
          </p:cNvPr>
          <p:cNvSpPr/>
          <p:nvPr/>
        </p:nvSpPr>
        <p:spPr>
          <a:xfrm>
            <a:off x="548640" y="135708"/>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B4E87E35-4B0A-58F8-E9B9-2EC64025DB0A}"/>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E7223242-5249-42D5-1E2F-24AD9C494C49}"/>
              </a:ext>
            </a:extLst>
          </p:cNvPr>
          <p:cNvSpPr/>
          <p:nvPr/>
        </p:nvSpPr>
        <p:spPr>
          <a:xfrm>
            <a:off x="133246" y="4203342"/>
            <a:ext cx="11835333" cy="2518949"/>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817308D6-E967-3B48-0275-3DF4096470F1}"/>
              </a:ext>
            </a:extLst>
          </p:cNvPr>
          <p:cNvSpPr/>
          <p:nvPr/>
        </p:nvSpPr>
        <p:spPr>
          <a:xfrm>
            <a:off x="415435" y="4240160"/>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5AC9E20E-B1DD-48E9-BF24-3BD18D4E1DAF}"/>
              </a:ext>
            </a:extLst>
          </p:cNvPr>
          <p:cNvSpPr/>
          <p:nvPr/>
        </p:nvSpPr>
        <p:spPr>
          <a:xfrm>
            <a:off x="367330" y="4676481"/>
            <a:ext cx="11367164" cy="1171388"/>
          </a:xfrm>
          <a:prstGeom prst="rect">
            <a:avLst/>
          </a:prstGeom>
          <a:noFill/>
          <a:ln/>
        </p:spPr>
        <p:txBody>
          <a:bodyPr wrap="square" rtlCol="0" anchor="t"/>
          <a:lstStyle/>
          <a:p>
            <a:r>
              <a:rPr lang="sv-SE" sz="2000" dirty="0">
                <a:solidFill>
                  <a:srgbClr val="444444"/>
                </a:solidFill>
                <a:latin typeface="Calibri" pitchFamily="34" charset="0"/>
                <a:ea typeface="Calibri" pitchFamily="34" charset="-122"/>
                <a:cs typeface="Calibri" pitchFamily="34" charset="-120"/>
              </a:rPr>
              <a:t>Mayoritas atribut berdistribusi merata, dengan Whole milk (6,22%) sebagai produk teratas, serta aktivitas transaksi tertinggi pada hari Kamis (14,50%) dan bulan Agustus (9,03%). Namun, terdapat dominasi kuat pada Basket_Category, di mana 53,23% pelanggan hanya membeli 1-2 barang (Small). Untuk meningkatkan pendapatan toko, disarankan untuk merancang strategi cross-selling berdasarkan hasil Apriori nanti.</a:t>
            </a: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38FD1C46-C54C-9900-5455-80DBA4D2CC6F}"/>
              </a:ext>
            </a:extLst>
          </p:cNvPr>
          <p:cNvSpPr/>
          <p:nvPr/>
        </p:nvSpPr>
        <p:spPr>
          <a:xfrm>
            <a:off x="548641" y="564433"/>
            <a:ext cx="4181524"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11. Cek Outlier per kolom</a:t>
            </a:r>
            <a:endParaRPr lang="en-US" sz="1600" dirty="0"/>
          </a:p>
        </p:txBody>
      </p:sp>
      <p:pic>
        <p:nvPicPr>
          <p:cNvPr id="4" name="Picture 3">
            <a:extLst>
              <a:ext uri="{FF2B5EF4-FFF2-40B4-BE49-F238E27FC236}">
                <a16:creationId xmlns:a16="http://schemas.microsoft.com/office/drawing/2014/main" id="{927F28C3-C5D0-0B47-BACC-FFC71FB60595}"/>
              </a:ext>
            </a:extLst>
          </p:cNvPr>
          <p:cNvPicPr>
            <a:picLocks noChangeAspect="1"/>
          </p:cNvPicPr>
          <p:nvPr/>
        </p:nvPicPr>
        <p:blipFill>
          <a:blip r:embed="rId3"/>
          <a:stretch>
            <a:fillRect/>
          </a:stretch>
        </p:blipFill>
        <p:spPr>
          <a:xfrm>
            <a:off x="576124" y="1037571"/>
            <a:ext cx="8463091" cy="3148333"/>
          </a:xfrm>
          <a:prstGeom prst="rect">
            <a:avLst/>
          </a:prstGeom>
        </p:spPr>
      </p:pic>
    </p:spTree>
    <p:extLst>
      <p:ext uri="{BB962C8B-B14F-4D97-AF65-F5344CB8AC3E}">
        <p14:creationId xmlns:p14="http://schemas.microsoft.com/office/powerpoint/2010/main" val="3719276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D842F-3796-DAAE-49C3-1F2BB6F26A26}"/>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31B13D35-AAC5-8321-F785-E14B4E274E9F}"/>
              </a:ext>
            </a:extLst>
          </p:cNvPr>
          <p:cNvSpPr/>
          <p:nvPr/>
        </p:nvSpPr>
        <p:spPr>
          <a:xfrm>
            <a:off x="-157547" y="-109603"/>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C6DCCFED-9E8A-8E6E-51F9-BDC6A0049194}"/>
              </a:ext>
            </a:extLst>
          </p:cNvPr>
          <p:cNvSpPr/>
          <p:nvPr/>
        </p:nvSpPr>
        <p:spPr>
          <a:xfrm>
            <a:off x="548640" y="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Analysis</a:t>
            </a:r>
            <a:endParaRPr lang="en-US" sz="2800" dirty="0"/>
          </a:p>
        </p:txBody>
      </p:sp>
      <p:sp>
        <p:nvSpPr>
          <p:cNvPr id="29" name="Text 26">
            <a:extLst>
              <a:ext uri="{FF2B5EF4-FFF2-40B4-BE49-F238E27FC236}">
                <a16:creationId xmlns:a16="http://schemas.microsoft.com/office/drawing/2014/main" id="{41AC8666-9A25-3005-F949-562DC2300569}"/>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B41F8D1C-011E-7DCF-DBE8-15B9156281B7}"/>
              </a:ext>
            </a:extLst>
          </p:cNvPr>
          <p:cNvSpPr/>
          <p:nvPr/>
        </p:nvSpPr>
        <p:spPr>
          <a:xfrm>
            <a:off x="548640" y="448320"/>
            <a:ext cx="715652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1. </a:t>
            </a:r>
            <a:r>
              <a:rPr lang="en-US" sz="1600" b="1" dirty="0" err="1">
                <a:solidFill>
                  <a:srgbClr val="F2545B"/>
                </a:solidFill>
                <a:latin typeface="Cambria" pitchFamily="34" charset="0"/>
                <a:ea typeface="Cambria" pitchFamily="34" charset="-122"/>
                <a:cs typeface="Cambria" pitchFamily="34" charset="-120"/>
              </a:rPr>
              <a:t>Analisis</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Univariat</a:t>
            </a:r>
            <a:r>
              <a:rPr lang="en-US" sz="1600" b="1" dirty="0">
                <a:solidFill>
                  <a:srgbClr val="F2545B"/>
                </a:solidFill>
                <a:latin typeface="Cambria" pitchFamily="34" charset="0"/>
                <a:ea typeface="Cambria" pitchFamily="34" charset="-122"/>
                <a:cs typeface="Cambria" pitchFamily="34" charset="-120"/>
              </a:rPr>
              <a:t> – </a:t>
            </a:r>
            <a:r>
              <a:rPr lang="en-US" sz="1600" b="1" dirty="0" err="1">
                <a:solidFill>
                  <a:srgbClr val="F2545B"/>
                </a:solidFill>
                <a:latin typeface="Cambria" pitchFamily="34" charset="0"/>
                <a:ea typeface="Cambria" pitchFamily="34" charset="-122"/>
                <a:cs typeface="Cambria" pitchFamily="34" charset="-120"/>
              </a:rPr>
              <a:t>Produk</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Terlaris</a:t>
            </a:r>
            <a:endParaRPr lang="en-US" sz="1600" dirty="0"/>
          </a:p>
        </p:txBody>
      </p:sp>
      <p:sp>
        <p:nvSpPr>
          <p:cNvPr id="17" name="Shape 5">
            <a:extLst>
              <a:ext uri="{FF2B5EF4-FFF2-40B4-BE49-F238E27FC236}">
                <a16:creationId xmlns:a16="http://schemas.microsoft.com/office/drawing/2014/main" id="{966E02A2-B10B-93EF-555A-0EEEF100DAFD}"/>
              </a:ext>
            </a:extLst>
          </p:cNvPr>
          <p:cNvSpPr/>
          <p:nvPr/>
        </p:nvSpPr>
        <p:spPr>
          <a:xfrm>
            <a:off x="0" y="4658942"/>
            <a:ext cx="12080173" cy="2064076"/>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D8C30515-0770-A662-4226-6901F43CE668}"/>
              </a:ext>
            </a:extLst>
          </p:cNvPr>
          <p:cNvSpPr/>
          <p:nvPr/>
        </p:nvSpPr>
        <p:spPr>
          <a:xfrm>
            <a:off x="232850" y="4648119"/>
            <a:ext cx="5174955" cy="43632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2C999D8D-1B03-07A1-05B2-0AFC2BCC1EB8}"/>
              </a:ext>
            </a:extLst>
          </p:cNvPr>
          <p:cNvSpPr/>
          <p:nvPr/>
        </p:nvSpPr>
        <p:spPr>
          <a:xfrm>
            <a:off x="111827" y="5084440"/>
            <a:ext cx="11622668" cy="1128563"/>
          </a:xfrm>
          <a:prstGeom prst="rect">
            <a:avLst/>
          </a:prstGeom>
          <a:noFill/>
          <a:ln/>
        </p:spPr>
        <p:txBody>
          <a:bodyPr wrap="square" rtlCol="0" anchor="t"/>
          <a:lstStyle/>
          <a:p>
            <a:pPr marL="0" indent="0">
              <a:buNone/>
            </a:pPr>
            <a:r>
              <a:rPr lang="en-US" sz="2000" dirty="0">
                <a:solidFill>
                  <a:srgbClr val="444444"/>
                </a:solidFill>
                <a:latin typeface="Calibri" pitchFamily="34" charset="0"/>
                <a:ea typeface="Calibri" pitchFamily="34" charset="-122"/>
                <a:cs typeface="Calibri" pitchFamily="34" charset="-120"/>
              </a:rPr>
              <a:t>Whole milk </a:t>
            </a:r>
            <a:r>
              <a:rPr lang="en-US" sz="2000" dirty="0" err="1">
                <a:solidFill>
                  <a:srgbClr val="444444"/>
                </a:solidFill>
                <a:latin typeface="Calibri" pitchFamily="34" charset="0"/>
                <a:ea typeface="Calibri" pitchFamily="34" charset="-122"/>
                <a:cs typeface="Calibri" pitchFamily="34" charset="-120"/>
              </a:rPr>
              <a:t>menjadi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terlaris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total </a:t>
            </a:r>
            <a:r>
              <a:rPr lang="en-US" sz="2000" dirty="0" err="1">
                <a:solidFill>
                  <a:srgbClr val="444444"/>
                </a:solidFill>
                <a:latin typeface="Calibri" pitchFamily="34" charset="0"/>
                <a:ea typeface="Calibri" pitchFamily="34" charset="-122"/>
                <a:cs typeface="Calibri" pitchFamily="34" charset="-120"/>
              </a:rPr>
              <a:t>penjualan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mencapai</a:t>
            </a:r>
            <a:r>
              <a:rPr lang="en-US" sz="2000" dirty="0">
                <a:solidFill>
                  <a:srgbClr val="444444"/>
                </a:solidFill>
                <a:latin typeface="Calibri" pitchFamily="34" charset="0"/>
                <a:ea typeface="Calibri" pitchFamily="34" charset="-122"/>
                <a:cs typeface="Calibri" pitchFamily="34" charset="-120"/>
              </a:rPr>
              <a:t> 2.363 unit, </a:t>
            </a:r>
            <a:r>
              <a:rPr lang="en-US" sz="2000" dirty="0" err="1">
                <a:solidFill>
                  <a:srgbClr val="444444"/>
                </a:solidFill>
                <a:latin typeface="Calibri" pitchFamily="34" charset="0"/>
                <a:ea typeface="Calibri" pitchFamily="34" charset="-122"/>
                <a:cs typeface="Calibri" pitchFamily="34" charset="-120"/>
              </a:rPr>
              <a:t>unggul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signifikan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dibandingkan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lainnya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seperti</a:t>
            </a:r>
            <a:r>
              <a:rPr lang="en-US" sz="2000" dirty="0">
                <a:solidFill>
                  <a:srgbClr val="444444"/>
                </a:solidFill>
                <a:latin typeface="Calibri" pitchFamily="34" charset="0"/>
                <a:ea typeface="Calibri" pitchFamily="34" charset="-122"/>
                <a:cs typeface="Calibri" pitchFamily="34" charset="-120"/>
              </a:rPr>
              <a:t> other vegetables (1.827 unit) dan rolls/buns (1.646 unit). </a:t>
            </a:r>
            <a:r>
              <a:rPr lang="en-US" sz="2000" dirty="0" err="1">
                <a:solidFill>
                  <a:srgbClr val="444444"/>
                </a:solidFill>
                <a:latin typeface="Calibri" pitchFamily="34" charset="0"/>
                <a:ea typeface="Calibri" pitchFamily="34" charset="-122"/>
                <a:cs typeface="Calibri" pitchFamily="34" charset="-120"/>
              </a:rPr>
              <a:t>Melihat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dominasi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kebutuhan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pokok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disarankan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memposisikan</a:t>
            </a:r>
            <a:r>
              <a:rPr lang="en-US" sz="2000" dirty="0">
                <a:solidFill>
                  <a:srgbClr val="444444"/>
                </a:solidFill>
                <a:latin typeface="Calibri" pitchFamily="34" charset="0"/>
                <a:ea typeface="Calibri" pitchFamily="34" charset="-122"/>
                <a:cs typeface="Calibri" pitchFamily="34" charset="-120"/>
              </a:rPr>
              <a:t> Whole milk di </a:t>
            </a:r>
            <a:r>
              <a:rPr lang="en-US" sz="2000" dirty="0" err="1">
                <a:solidFill>
                  <a:srgbClr val="444444"/>
                </a:solidFill>
                <a:latin typeface="Calibri" pitchFamily="34" charset="0"/>
                <a:ea typeface="Calibri" pitchFamily="34" charset="-122"/>
                <a:cs typeface="Calibri" pitchFamily="34" charset="-120"/>
              </a:rPr>
              <a:t>bagian</a:t>
            </a:r>
            <a:r>
              <a:rPr lang="en-US" sz="2000" dirty="0">
                <a:solidFill>
                  <a:srgbClr val="444444"/>
                </a:solidFill>
                <a:latin typeface="Calibri" pitchFamily="34" charset="0"/>
                <a:ea typeface="Calibri" pitchFamily="34" charset="-122"/>
                <a:cs typeface="Calibri" pitchFamily="34" charset="-120"/>
              </a:rPr>
              <a:t> area </a:t>
            </a:r>
            <a:r>
              <a:rPr lang="en-US" sz="2000" dirty="0" err="1">
                <a:solidFill>
                  <a:srgbClr val="444444"/>
                </a:solidFill>
                <a:latin typeface="Calibri" pitchFamily="34" charset="0"/>
                <a:ea typeface="Calibri" pitchFamily="34" charset="-122"/>
                <a:cs typeface="Calibri" pitchFamily="34" charset="-120"/>
              </a:rPr>
              <a:t>belakang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toko</a:t>
            </a:r>
            <a:r>
              <a:rPr lang="en-US" sz="2000" dirty="0">
                <a:solidFill>
                  <a:srgbClr val="444444"/>
                </a:solidFill>
                <a:latin typeface="Calibri" pitchFamily="34" charset="0"/>
                <a:ea typeface="Calibri" pitchFamily="34" charset="-122"/>
                <a:cs typeface="Calibri" pitchFamily="34" charset="-120"/>
              </a:rPr>
              <a:t> (traffic driver) guna </a:t>
            </a:r>
            <a:r>
              <a:rPr lang="en-US" sz="2000" dirty="0" err="1">
                <a:solidFill>
                  <a:srgbClr val="444444"/>
                </a:solidFill>
                <a:latin typeface="Calibri" pitchFamily="34" charset="0"/>
                <a:ea typeface="Calibri" pitchFamily="34" charset="-122"/>
                <a:cs typeface="Calibri" pitchFamily="34" charset="-120"/>
              </a:rPr>
              <a:t>memancing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aliran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pengunjung</a:t>
            </a:r>
            <a:r>
              <a:rPr lang="en-US" sz="2000" dirty="0">
                <a:solidFill>
                  <a:srgbClr val="444444"/>
                </a:solidFill>
                <a:latin typeface="Calibri" pitchFamily="34" charset="0"/>
                <a:ea typeface="Calibri" pitchFamily="34" charset="-122"/>
                <a:cs typeface="Calibri" pitchFamily="34" charset="-120"/>
              </a:rPr>
              <a:t> agar </a:t>
            </a:r>
            <a:r>
              <a:rPr lang="en-US" sz="2000" dirty="0" err="1">
                <a:solidFill>
                  <a:srgbClr val="444444"/>
                </a:solidFill>
                <a:latin typeface="Calibri" pitchFamily="34" charset="0"/>
                <a:ea typeface="Calibri" pitchFamily="34" charset="-122"/>
                <a:cs typeface="Calibri" pitchFamily="34" charset="-120"/>
              </a:rPr>
              <a:t>melewati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lorong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sekunder</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sebelum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melakukan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pembayaran</a:t>
            </a:r>
            <a:r>
              <a:rPr lang="en-US" sz="2000" dirty="0">
                <a:solidFill>
                  <a:srgbClr val="444444"/>
                </a:solidFill>
                <a:latin typeface="Calibri" pitchFamily="34" charset="0"/>
                <a:ea typeface="Calibri" pitchFamily="34" charset="-122"/>
                <a:cs typeface="Calibri" pitchFamily="34" charset="-120"/>
              </a:rPr>
              <a:t>.</a:t>
            </a:r>
          </a:p>
        </p:txBody>
      </p:sp>
      <p:pic>
        <p:nvPicPr>
          <p:cNvPr id="4" name="Picture 3">
            <a:extLst>
              <a:ext uri="{FF2B5EF4-FFF2-40B4-BE49-F238E27FC236}">
                <a16:creationId xmlns:a16="http://schemas.microsoft.com/office/drawing/2014/main" id="{5FF2E57F-9D99-4BE5-F8BB-BBB28C176A2E}"/>
              </a:ext>
            </a:extLst>
          </p:cNvPr>
          <p:cNvPicPr>
            <a:picLocks noChangeAspect="1"/>
          </p:cNvPicPr>
          <p:nvPr/>
        </p:nvPicPr>
        <p:blipFill>
          <a:blip r:embed="rId3"/>
          <a:stretch>
            <a:fillRect/>
          </a:stretch>
        </p:blipFill>
        <p:spPr>
          <a:xfrm>
            <a:off x="2107251" y="993086"/>
            <a:ext cx="7106642" cy="3600953"/>
          </a:xfrm>
          <a:prstGeom prst="rect">
            <a:avLst/>
          </a:prstGeom>
        </p:spPr>
      </p:pic>
    </p:spTree>
    <p:extLst>
      <p:ext uri="{BB962C8B-B14F-4D97-AF65-F5344CB8AC3E}">
        <p14:creationId xmlns:p14="http://schemas.microsoft.com/office/powerpoint/2010/main" val="2751235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423E3-0170-511A-DA07-3CEBD4DAA7BB}"/>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E93B9BB2-1EA9-7559-97C1-D8E590FABF14}"/>
              </a:ext>
            </a:extLst>
          </p:cNvPr>
          <p:cNvSpPr/>
          <p:nvPr/>
        </p:nvSpPr>
        <p:spPr>
          <a:xfrm>
            <a:off x="-157547" y="-109603"/>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59EC20B0-E6C4-F41B-A8DF-D91A592A9497}"/>
              </a:ext>
            </a:extLst>
          </p:cNvPr>
          <p:cNvSpPr/>
          <p:nvPr/>
        </p:nvSpPr>
        <p:spPr>
          <a:xfrm>
            <a:off x="548640" y="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Analysis</a:t>
            </a:r>
            <a:endParaRPr lang="en-US" sz="2800" dirty="0"/>
          </a:p>
        </p:txBody>
      </p:sp>
      <p:sp>
        <p:nvSpPr>
          <p:cNvPr id="29" name="Text 26">
            <a:extLst>
              <a:ext uri="{FF2B5EF4-FFF2-40B4-BE49-F238E27FC236}">
                <a16:creationId xmlns:a16="http://schemas.microsoft.com/office/drawing/2014/main" id="{12258EDB-78C1-A03E-14E1-949B201EDCC3}"/>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1E3A8EC4-82E0-0F9D-B8F1-735951C24477}"/>
              </a:ext>
            </a:extLst>
          </p:cNvPr>
          <p:cNvSpPr/>
          <p:nvPr/>
        </p:nvSpPr>
        <p:spPr>
          <a:xfrm>
            <a:off x="548640" y="448320"/>
            <a:ext cx="715652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2. </a:t>
            </a:r>
            <a:r>
              <a:rPr lang="en-US" sz="1600" b="1" dirty="0" err="1">
                <a:solidFill>
                  <a:srgbClr val="F2545B"/>
                </a:solidFill>
                <a:latin typeface="Cambria" pitchFamily="34" charset="0"/>
                <a:ea typeface="Cambria" pitchFamily="34" charset="-122"/>
                <a:cs typeface="Cambria" pitchFamily="34" charset="-120"/>
              </a:rPr>
              <a:t>Analisis</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Bivariat</a:t>
            </a:r>
            <a:r>
              <a:rPr lang="en-US" sz="1600" b="1" dirty="0">
                <a:solidFill>
                  <a:srgbClr val="F2545B"/>
                </a:solidFill>
                <a:latin typeface="Cambria" pitchFamily="34" charset="0"/>
                <a:ea typeface="Cambria" pitchFamily="34" charset="-122"/>
                <a:cs typeface="Cambria" pitchFamily="34" charset="-120"/>
              </a:rPr>
              <a:t> – Tren total </a:t>
            </a:r>
            <a:r>
              <a:rPr lang="en-US" sz="1600" b="1" dirty="0" err="1">
                <a:solidFill>
                  <a:srgbClr val="F2545B"/>
                </a:solidFill>
                <a:latin typeface="Cambria" pitchFamily="34" charset="0"/>
                <a:ea typeface="Cambria" pitchFamily="34" charset="-122"/>
                <a:cs typeface="Cambria" pitchFamily="34" charset="-120"/>
              </a:rPr>
              <a:t>transaksi</a:t>
            </a:r>
            <a:r>
              <a:rPr lang="en-US" sz="1600" b="1" dirty="0">
                <a:solidFill>
                  <a:srgbClr val="F2545B"/>
                </a:solidFill>
                <a:latin typeface="Cambria" pitchFamily="34" charset="0"/>
                <a:ea typeface="Cambria" pitchFamily="34" charset="-122"/>
                <a:cs typeface="Cambria" pitchFamily="34" charset="-120"/>
              </a:rPr>
              <a:t> per </a:t>
            </a:r>
            <a:r>
              <a:rPr lang="en-US" sz="1600" b="1" dirty="0" err="1">
                <a:solidFill>
                  <a:srgbClr val="F2545B"/>
                </a:solidFill>
                <a:latin typeface="Cambria" pitchFamily="34" charset="0"/>
                <a:ea typeface="Cambria" pitchFamily="34" charset="-122"/>
                <a:cs typeface="Cambria" pitchFamily="34" charset="-120"/>
              </a:rPr>
              <a:t>hari</a:t>
            </a:r>
            <a:endParaRPr lang="en-US" sz="1600" dirty="0"/>
          </a:p>
        </p:txBody>
      </p:sp>
      <p:sp>
        <p:nvSpPr>
          <p:cNvPr id="17" name="Shape 5">
            <a:extLst>
              <a:ext uri="{FF2B5EF4-FFF2-40B4-BE49-F238E27FC236}">
                <a16:creationId xmlns:a16="http://schemas.microsoft.com/office/drawing/2014/main" id="{916A62C6-9215-A257-20DC-B0EC743A9E45}"/>
              </a:ext>
            </a:extLst>
          </p:cNvPr>
          <p:cNvSpPr/>
          <p:nvPr/>
        </p:nvSpPr>
        <p:spPr>
          <a:xfrm>
            <a:off x="-157546" y="4702483"/>
            <a:ext cx="12237720" cy="1997572"/>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4ADFAD0F-7DAD-48F5-50DE-5840FE0FB8E5}"/>
              </a:ext>
            </a:extLst>
          </p:cNvPr>
          <p:cNvSpPr/>
          <p:nvPr/>
        </p:nvSpPr>
        <p:spPr>
          <a:xfrm>
            <a:off x="232850" y="4836802"/>
            <a:ext cx="5174955" cy="43632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90981B87-C0CC-3952-1B36-E53D680840BC}"/>
              </a:ext>
            </a:extLst>
          </p:cNvPr>
          <p:cNvSpPr/>
          <p:nvPr/>
        </p:nvSpPr>
        <p:spPr>
          <a:xfrm>
            <a:off x="111827" y="5273123"/>
            <a:ext cx="11622668" cy="1128563"/>
          </a:xfrm>
          <a:prstGeom prst="rect">
            <a:avLst/>
          </a:prstGeom>
          <a:noFill/>
          <a:ln/>
        </p:spPr>
        <p:txBody>
          <a:bodyPr wrap="square" rtlCol="0" anchor="t"/>
          <a:lstStyle/>
          <a:p>
            <a:pPr marL="0" indent="0">
              <a:buNone/>
            </a:pPr>
            <a:r>
              <a:rPr lang="en-US" sz="2000" dirty="0">
                <a:solidFill>
                  <a:srgbClr val="444444"/>
                </a:solidFill>
                <a:latin typeface="Calibri" pitchFamily="34" charset="0"/>
                <a:ea typeface="Calibri" pitchFamily="34" charset="-122"/>
                <a:cs typeface="Calibri" pitchFamily="34" charset="-120"/>
              </a:rPr>
              <a:t>Volume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harian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cenderung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relatif</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stabil</a:t>
            </a:r>
            <a:r>
              <a:rPr lang="en-US" sz="2000" dirty="0">
                <a:solidFill>
                  <a:srgbClr val="444444"/>
                </a:solidFill>
                <a:latin typeface="Calibri" pitchFamily="34" charset="0"/>
                <a:ea typeface="Calibri" pitchFamily="34" charset="-122"/>
                <a:cs typeface="Calibri" pitchFamily="34" charset="-120"/>
              </a:rPr>
              <a:t> di </a:t>
            </a:r>
            <a:r>
              <a:rPr lang="en-US" sz="2000" dirty="0" err="1">
                <a:solidFill>
                  <a:srgbClr val="444444"/>
                </a:solidFill>
                <a:latin typeface="Calibri" pitchFamily="34" charset="0"/>
                <a:ea typeface="Calibri" pitchFamily="34" charset="-122"/>
                <a:cs typeface="Calibri" pitchFamily="34" charset="-120"/>
              </a:rPr>
              <a:t>kisaran</a:t>
            </a:r>
            <a:r>
              <a:rPr lang="en-US" sz="2000" dirty="0">
                <a:solidFill>
                  <a:srgbClr val="444444"/>
                </a:solidFill>
                <a:latin typeface="Calibri" pitchFamily="34" charset="0"/>
                <a:ea typeface="Calibri" pitchFamily="34" charset="-122"/>
                <a:cs typeface="Calibri" pitchFamily="34" charset="-120"/>
              </a:rPr>
              <a:t> 2.000–2.100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per </a:t>
            </a:r>
            <a:r>
              <a:rPr lang="en-US" sz="2000" dirty="0" err="1">
                <a:solidFill>
                  <a:srgbClr val="444444"/>
                </a:solidFill>
                <a:latin typeface="Calibri" pitchFamily="34" charset="0"/>
                <a:ea typeface="Calibri" pitchFamily="34" charset="-122"/>
                <a:cs typeface="Calibri" pitchFamily="34" charset="-120"/>
              </a:rPr>
              <a:t>hari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puncaknya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terjadi</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hari</a:t>
            </a:r>
            <a:r>
              <a:rPr lang="en-US" sz="2000" dirty="0">
                <a:solidFill>
                  <a:srgbClr val="444444"/>
                </a:solidFill>
                <a:latin typeface="Calibri" pitchFamily="34" charset="0"/>
                <a:ea typeface="Calibri" pitchFamily="34" charset="-122"/>
                <a:cs typeface="Calibri" pitchFamily="34" charset="-120"/>
              </a:rPr>
              <a:t> Kamis (2.188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dan </a:t>
            </a:r>
            <a:r>
              <a:rPr lang="en-US" sz="2000" dirty="0" err="1">
                <a:solidFill>
                  <a:srgbClr val="444444"/>
                </a:solidFill>
                <a:latin typeface="Calibri" pitchFamily="34" charset="0"/>
                <a:ea typeface="Calibri" pitchFamily="34" charset="-122"/>
                <a:cs typeface="Calibri" pitchFamily="34" charset="-120"/>
              </a:rPr>
              <a:t>titik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terendah</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hari</a:t>
            </a:r>
            <a:r>
              <a:rPr lang="en-US" sz="2000" dirty="0">
                <a:solidFill>
                  <a:srgbClr val="444444"/>
                </a:solidFill>
                <a:latin typeface="Calibri" pitchFamily="34" charset="0"/>
                <a:ea typeface="Calibri" pitchFamily="34" charset="-122"/>
                <a:cs typeface="Calibri" pitchFamily="34" charset="-120"/>
              </a:rPr>
              <a:t> Senin (2.067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a:t>
            </a:r>
          </a:p>
        </p:txBody>
      </p:sp>
      <p:pic>
        <p:nvPicPr>
          <p:cNvPr id="5" name="Picture 4">
            <a:extLst>
              <a:ext uri="{FF2B5EF4-FFF2-40B4-BE49-F238E27FC236}">
                <a16:creationId xmlns:a16="http://schemas.microsoft.com/office/drawing/2014/main" id="{F07A0F81-7345-21B9-5FF8-2749AC59C586}"/>
              </a:ext>
            </a:extLst>
          </p:cNvPr>
          <p:cNvPicPr>
            <a:picLocks noChangeAspect="1"/>
          </p:cNvPicPr>
          <p:nvPr/>
        </p:nvPicPr>
        <p:blipFill>
          <a:blip r:embed="rId3"/>
          <a:stretch>
            <a:fillRect/>
          </a:stretch>
        </p:blipFill>
        <p:spPr>
          <a:xfrm>
            <a:off x="1983089" y="893371"/>
            <a:ext cx="6849431" cy="3658111"/>
          </a:xfrm>
          <a:prstGeom prst="rect">
            <a:avLst/>
          </a:prstGeom>
        </p:spPr>
      </p:pic>
    </p:spTree>
    <p:extLst>
      <p:ext uri="{BB962C8B-B14F-4D97-AF65-F5344CB8AC3E}">
        <p14:creationId xmlns:p14="http://schemas.microsoft.com/office/powerpoint/2010/main" val="816173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B89C6-3E7B-FBC5-2249-6A5541651A02}"/>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DE24E663-ACBA-1C93-6C98-7CBF3C85637A}"/>
              </a:ext>
            </a:extLst>
          </p:cNvPr>
          <p:cNvSpPr/>
          <p:nvPr/>
        </p:nvSpPr>
        <p:spPr>
          <a:xfrm>
            <a:off x="-109448" y="-109603"/>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BBF26863-F2E5-2769-5026-8F9B54CACF78}"/>
              </a:ext>
            </a:extLst>
          </p:cNvPr>
          <p:cNvSpPr/>
          <p:nvPr/>
        </p:nvSpPr>
        <p:spPr>
          <a:xfrm>
            <a:off x="548640" y="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Analysis</a:t>
            </a:r>
            <a:endParaRPr lang="en-US" sz="2800" dirty="0"/>
          </a:p>
        </p:txBody>
      </p:sp>
      <p:sp>
        <p:nvSpPr>
          <p:cNvPr id="29" name="Text 26">
            <a:extLst>
              <a:ext uri="{FF2B5EF4-FFF2-40B4-BE49-F238E27FC236}">
                <a16:creationId xmlns:a16="http://schemas.microsoft.com/office/drawing/2014/main" id="{9DC3344D-8BA4-BC61-0EAF-96C2B4704A52}"/>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D95F6EA2-3967-C8B1-27FA-EC796070E66B}"/>
              </a:ext>
            </a:extLst>
          </p:cNvPr>
          <p:cNvSpPr/>
          <p:nvPr/>
        </p:nvSpPr>
        <p:spPr>
          <a:xfrm>
            <a:off x="548640" y="448320"/>
            <a:ext cx="715652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3. Encoding </a:t>
            </a:r>
            <a:r>
              <a:rPr lang="en-US" sz="1600" b="1" dirty="0" err="1">
                <a:solidFill>
                  <a:srgbClr val="F2545B"/>
                </a:solidFill>
                <a:latin typeface="Cambria" pitchFamily="34" charset="0"/>
                <a:ea typeface="Cambria" pitchFamily="34" charset="-122"/>
                <a:cs typeface="Cambria" pitchFamily="34" charset="-120"/>
              </a:rPr>
              <a:t>kolom</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itemDescription</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untuk</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analisa</a:t>
            </a:r>
            <a:endParaRPr lang="en-US" sz="1600" dirty="0"/>
          </a:p>
        </p:txBody>
      </p:sp>
      <p:sp>
        <p:nvSpPr>
          <p:cNvPr id="17" name="Shape 5">
            <a:extLst>
              <a:ext uri="{FF2B5EF4-FFF2-40B4-BE49-F238E27FC236}">
                <a16:creationId xmlns:a16="http://schemas.microsoft.com/office/drawing/2014/main" id="{06FA59C1-29CF-ADC0-6103-900F9FF00632}"/>
              </a:ext>
            </a:extLst>
          </p:cNvPr>
          <p:cNvSpPr/>
          <p:nvPr/>
        </p:nvSpPr>
        <p:spPr>
          <a:xfrm>
            <a:off x="-143032" y="4920202"/>
            <a:ext cx="12237720" cy="169920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06FDD8BC-16D3-8563-9EE4-72D9C70A595E}"/>
              </a:ext>
            </a:extLst>
          </p:cNvPr>
          <p:cNvSpPr/>
          <p:nvPr/>
        </p:nvSpPr>
        <p:spPr>
          <a:xfrm>
            <a:off x="247364" y="5054521"/>
            <a:ext cx="5174955" cy="43632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574DDB7B-0E6D-6171-09AF-972FD567DE07}"/>
              </a:ext>
            </a:extLst>
          </p:cNvPr>
          <p:cNvSpPr/>
          <p:nvPr/>
        </p:nvSpPr>
        <p:spPr>
          <a:xfrm>
            <a:off x="126341" y="5490842"/>
            <a:ext cx="11622668" cy="1128563"/>
          </a:xfrm>
          <a:prstGeom prst="rect">
            <a:avLst/>
          </a:prstGeom>
          <a:noFill/>
          <a:ln/>
        </p:spPr>
        <p:txBody>
          <a:bodyPr wrap="square" rtlCol="0" anchor="t"/>
          <a:lstStyle/>
          <a:p>
            <a:pPr marL="0" indent="0">
              <a:buNone/>
            </a:pPr>
            <a:r>
              <a:rPr lang="en-US" sz="2000" dirty="0">
                <a:solidFill>
                  <a:srgbClr val="444444"/>
                </a:solidFill>
                <a:latin typeface="Calibri" pitchFamily="34" charset="0"/>
                <a:ea typeface="Calibri" pitchFamily="34" charset="-122"/>
                <a:cs typeface="Calibri" pitchFamily="34" charset="-120"/>
              </a:rPr>
              <a:t>roses One-Hot Encoding </a:t>
            </a:r>
            <a:r>
              <a:rPr lang="en-US" sz="2000" dirty="0" err="1">
                <a:solidFill>
                  <a:srgbClr val="444444"/>
                </a:solidFill>
                <a:latin typeface="Calibri" pitchFamily="34" charset="0"/>
                <a:ea typeface="Calibri" pitchFamily="34" charset="-122"/>
                <a:cs typeface="Calibri" pitchFamily="34" charset="-120"/>
              </a:rPr>
              <a:t>berhasil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mengubah</a:t>
            </a:r>
            <a:r>
              <a:rPr lang="en-US" sz="2000" dirty="0">
                <a:solidFill>
                  <a:srgbClr val="444444"/>
                </a:solidFill>
                <a:latin typeface="Calibri" pitchFamily="34" charset="0"/>
                <a:ea typeface="Calibri" pitchFamily="34" charset="-122"/>
                <a:cs typeface="Calibri" pitchFamily="34" charset="-120"/>
              </a:rPr>
              <a:t> data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menjadi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matriks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keranjang</a:t>
            </a:r>
            <a:r>
              <a:rPr lang="en-US" sz="2000" dirty="0">
                <a:solidFill>
                  <a:srgbClr val="444444"/>
                </a:solidFill>
                <a:latin typeface="Calibri" pitchFamily="34" charset="0"/>
                <a:ea typeface="Calibri" pitchFamily="34" charset="-122"/>
                <a:cs typeface="Calibri" pitchFamily="34" charset="-120"/>
              </a:rPr>
              <a:t> (basket matrix) biner (0 dan 1)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Transaction_ID</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sebagai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indeks</a:t>
            </a:r>
            <a:r>
              <a:rPr lang="en-US" sz="2000" dirty="0">
                <a:solidFill>
                  <a:srgbClr val="444444"/>
                </a:solidFill>
                <a:latin typeface="Calibri" pitchFamily="34" charset="0"/>
                <a:ea typeface="Calibri" pitchFamily="34" charset="-122"/>
                <a:cs typeface="Calibri" pitchFamily="34" charset="-120"/>
              </a:rPr>
              <a:t> baris. </a:t>
            </a:r>
            <a:r>
              <a:rPr lang="en-US" sz="2000" dirty="0" err="1">
                <a:solidFill>
                  <a:srgbClr val="444444"/>
                </a:solidFill>
                <a:latin typeface="Calibri" pitchFamily="34" charset="0"/>
                <a:ea typeface="Calibri" pitchFamily="34" charset="-122"/>
                <a:cs typeface="Calibri" pitchFamily="34" charset="-120"/>
              </a:rPr>
              <a:t>Transformasi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mengelompokkan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barang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belanjaan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dalam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satu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identitas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utuh</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siap</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diproses</a:t>
            </a:r>
            <a:r>
              <a:rPr lang="en-US" sz="2000" dirty="0">
                <a:solidFill>
                  <a:srgbClr val="444444"/>
                </a:solidFill>
                <a:latin typeface="Calibri" pitchFamily="34" charset="0"/>
                <a:ea typeface="Calibri" pitchFamily="34" charset="-122"/>
                <a:cs typeface="Calibri" pitchFamily="34" charset="-120"/>
              </a:rPr>
              <a:t> oleh </a:t>
            </a:r>
            <a:r>
              <a:rPr lang="en-US" sz="2000" dirty="0" err="1">
                <a:solidFill>
                  <a:srgbClr val="444444"/>
                </a:solidFill>
                <a:latin typeface="Calibri" pitchFamily="34" charset="0"/>
                <a:ea typeface="Calibri" pitchFamily="34" charset="-122"/>
                <a:cs typeface="Calibri" pitchFamily="34" charset="-120"/>
              </a:rPr>
              <a:t>algoritma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Apriori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menghitung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pola</a:t>
            </a:r>
            <a:r>
              <a:rPr lang="en-US" sz="2000" dirty="0">
                <a:solidFill>
                  <a:srgbClr val="444444"/>
                </a:solidFill>
                <a:latin typeface="Calibri" pitchFamily="34" charset="0"/>
                <a:ea typeface="Calibri" pitchFamily="34" charset="-122"/>
                <a:cs typeface="Calibri" pitchFamily="34" charset="-120"/>
              </a:rPr>
              <a:t> association rules.</a:t>
            </a:r>
          </a:p>
        </p:txBody>
      </p:sp>
      <p:pic>
        <p:nvPicPr>
          <p:cNvPr id="4" name="Picture 3">
            <a:extLst>
              <a:ext uri="{FF2B5EF4-FFF2-40B4-BE49-F238E27FC236}">
                <a16:creationId xmlns:a16="http://schemas.microsoft.com/office/drawing/2014/main" id="{B7683CF4-9431-B2CC-0434-1A1BBEC30159}"/>
              </a:ext>
            </a:extLst>
          </p:cNvPr>
          <p:cNvPicPr>
            <a:picLocks noChangeAspect="1"/>
          </p:cNvPicPr>
          <p:nvPr/>
        </p:nvPicPr>
        <p:blipFill>
          <a:blip r:embed="rId3"/>
          <a:stretch>
            <a:fillRect/>
          </a:stretch>
        </p:blipFill>
        <p:spPr>
          <a:xfrm>
            <a:off x="548640" y="997373"/>
            <a:ext cx="6042422" cy="888592"/>
          </a:xfrm>
          <a:prstGeom prst="rect">
            <a:avLst/>
          </a:prstGeom>
        </p:spPr>
      </p:pic>
      <p:pic>
        <p:nvPicPr>
          <p:cNvPr id="6" name="Picture 5">
            <a:extLst>
              <a:ext uri="{FF2B5EF4-FFF2-40B4-BE49-F238E27FC236}">
                <a16:creationId xmlns:a16="http://schemas.microsoft.com/office/drawing/2014/main" id="{38A3E231-C39F-E546-E385-9E50D81BB619}"/>
              </a:ext>
            </a:extLst>
          </p:cNvPr>
          <p:cNvPicPr>
            <a:picLocks noChangeAspect="1"/>
          </p:cNvPicPr>
          <p:nvPr/>
        </p:nvPicPr>
        <p:blipFill>
          <a:blip r:embed="rId4"/>
          <a:stretch>
            <a:fillRect/>
          </a:stretch>
        </p:blipFill>
        <p:spPr>
          <a:xfrm>
            <a:off x="1435550" y="1937798"/>
            <a:ext cx="7973538" cy="2896004"/>
          </a:xfrm>
          <a:prstGeom prst="rect">
            <a:avLst/>
          </a:prstGeom>
        </p:spPr>
      </p:pic>
    </p:spTree>
    <p:extLst>
      <p:ext uri="{BB962C8B-B14F-4D97-AF65-F5344CB8AC3E}">
        <p14:creationId xmlns:p14="http://schemas.microsoft.com/office/powerpoint/2010/main" val="156057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D83B5-E825-AF24-7C40-8423759ED968}"/>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D4B09D65-D738-0CDD-8422-FFF776BF54E1}"/>
              </a:ext>
            </a:extLst>
          </p:cNvPr>
          <p:cNvSpPr/>
          <p:nvPr/>
        </p:nvSpPr>
        <p:spPr>
          <a:xfrm>
            <a:off x="-109448" y="-109603"/>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CB58EDA4-BD77-0557-9F5A-188E2C26CC7A}"/>
              </a:ext>
            </a:extLst>
          </p:cNvPr>
          <p:cNvSpPr/>
          <p:nvPr/>
        </p:nvSpPr>
        <p:spPr>
          <a:xfrm>
            <a:off x="548640" y="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Analysis</a:t>
            </a:r>
            <a:endParaRPr lang="en-US" sz="2800" dirty="0"/>
          </a:p>
        </p:txBody>
      </p:sp>
      <p:sp>
        <p:nvSpPr>
          <p:cNvPr id="29" name="Text 26">
            <a:extLst>
              <a:ext uri="{FF2B5EF4-FFF2-40B4-BE49-F238E27FC236}">
                <a16:creationId xmlns:a16="http://schemas.microsoft.com/office/drawing/2014/main" id="{DA3B0D3B-4D05-9776-0661-290B8F9BCC4F}"/>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7C916D9C-19E7-6659-22F8-C736C544A638}"/>
              </a:ext>
            </a:extLst>
          </p:cNvPr>
          <p:cNvSpPr/>
          <p:nvPr/>
        </p:nvSpPr>
        <p:spPr>
          <a:xfrm>
            <a:off x="548640" y="448320"/>
            <a:ext cx="715652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4. Encoding </a:t>
            </a:r>
            <a:r>
              <a:rPr lang="en-US" sz="1600" b="1" dirty="0" err="1">
                <a:solidFill>
                  <a:srgbClr val="F2545B"/>
                </a:solidFill>
                <a:latin typeface="Cambria" pitchFamily="34" charset="0"/>
                <a:ea typeface="Cambria" pitchFamily="34" charset="-122"/>
                <a:cs typeface="Cambria" pitchFamily="34" charset="-120"/>
              </a:rPr>
              <a:t>kolom</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itemDescription</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untuk</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analisa</a:t>
            </a:r>
            <a:endParaRPr lang="en-US" sz="1600" dirty="0"/>
          </a:p>
        </p:txBody>
      </p:sp>
      <p:sp>
        <p:nvSpPr>
          <p:cNvPr id="17" name="Shape 5">
            <a:extLst>
              <a:ext uri="{FF2B5EF4-FFF2-40B4-BE49-F238E27FC236}">
                <a16:creationId xmlns:a16="http://schemas.microsoft.com/office/drawing/2014/main" id="{FDC50E77-91AB-58B8-17F5-6360B231297B}"/>
              </a:ext>
            </a:extLst>
          </p:cNvPr>
          <p:cNvSpPr/>
          <p:nvPr/>
        </p:nvSpPr>
        <p:spPr>
          <a:xfrm>
            <a:off x="-143032" y="4920202"/>
            <a:ext cx="12237720" cy="169920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1B001431-4A87-3641-8DD8-89295244BF7A}"/>
              </a:ext>
            </a:extLst>
          </p:cNvPr>
          <p:cNvSpPr/>
          <p:nvPr/>
        </p:nvSpPr>
        <p:spPr>
          <a:xfrm>
            <a:off x="247364" y="4894866"/>
            <a:ext cx="5174955" cy="43632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E504AB49-985D-C734-B291-434342D331F7}"/>
              </a:ext>
            </a:extLst>
          </p:cNvPr>
          <p:cNvSpPr/>
          <p:nvPr/>
        </p:nvSpPr>
        <p:spPr>
          <a:xfrm>
            <a:off x="126341" y="5331187"/>
            <a:ext cx="11622668" cy="1128563"/>
          </a:xfrm>
          <a:prstGeom prst="rect">
            <a:avLst/>
          </a:prstGeom>
          <a:noFill/>
          <a:ln/>
        </p:spPr>
        <p:txBody>
          <a:bodyPr wrap="square" rtlCol="0" anchor="t"/>
          <a:lstStyle/>
          <a:p>
            <a:pPr marL="0" indent="0">
              <a:buNone/>
            </a:pPr>
            <a:r>
              <a:rPr lang="en-US" sz="2000" dirty="0">
                <a:solidFill>
                  <a:srgbClr val="444444"/>
                </a:solidFill>
                <a:latin typeface="Calibri" pitchFamily="34" charset="0"/>
                <a:ea typeface="Calibri" pitchFamily="34" charset="-122"/>
                <a:cs typeface="Calibri" pitchFamily="34" charset="-120"/>
              </a:rPr>
              <a:t>Proses One-Hot Encoding </a:t>
            </a:r>
            <a:r>
              <a:rPr lang="en-US" sz="2000" dirty="0" err="1">
                <a:solidFill>
                  <a:srgbClr val="444444"/>
                </a:solidFill>
                <a:latin typeface="Calibri" pitchFamily="34" charset="0"/>
                <a:ea typeface="Calibri" pitchFamily="34" charset="-122"/>
                <a:cs typeface="Calibri" pitchFamily="34" charset="-120"/>
              </a:rPr>
              <a:t>berhasil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mengubah</a:t>
            </a:r>
            <a:r>
              <a:rPr lang="en-US" sz="2000" dirty="0">
                <a:solidFill>
                  <a:srgbClr val="444444"/>
                </a:solidFill>
                <a:latin typeface="Calibri" pitchFamily="34" charset="0"/>
                <a:ea typeface="Calibri" pitchFamily="34" charset="-122"/>
                <a:cs typeface="Calibri" pitchFamily="34" charset="-120"/>
              </a:rPr>
              <a:t> data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menjadi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matriks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keranjang</a:t>
            </a:r>
            <a:r>
              <a:rPr lang="en-US" sz="2000" dirty="0">
                <a:solidFill>
                  <a:srgbClr val="444444"/>
                </a:solidFill>
                <a:latin typeface="Calibri" pitchFamily="34" charset="0"/>
                <a:ea typeface="Calibri" pitchFamily="34" charset="-122"/>
                <a:cs typeface="Calibri" pitchFamily="34" charset="-120"/>
              </a:rPr>
              <a:t> (basket matrix) biner (0 dan 1)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Transaction_ID</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sebagai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indeks</a:t>
            </a:r>
            <a:r>
              <a:rPr lang="en-US" sz="2000" dirty="0">
                <a:solidFill>
                  <a:srgbClr val="444444"/>
                </a:solidFill>
                <a:latin typeface="Calibri" pitchFamily="34" charset="0"/>
                <a:ea typeface="Calibri" pitchFamily="34" charset="-122"/>
                <a:cs typeface="Calibri" pitchFamily="34" charset="-120"/>
              </a:rPr>
              <a:t> baris. </a:t>
            </a:r>
            <a:r>
              <a:rPr lang="en-US" sz="2000" dirty="0" err="1">
                <a:solidFill>
                  <a:srgbClr val="444444"/>
                </a:solidFill>
                <a:latin typeface="Calibri" pitchFamily="34" charset="0"/>
                <a:ea typeface="Calibri" pitchFamily="34" charset="-122"/>
                <a:cs typeface="Calibri" pitchFamily="34" charset="-120"/>
              </a:rPr>
              <a:t>Transformasi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mengelompokkan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barang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belanjaan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dalam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satu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identitas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utuh</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siap</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diproses</a:t>
            </a:r>
            <a:r>
              <a:rPr lang="en-US" sz="2000" dirty="0">
                <a:solidFill>
                  <a:srgbClr val="444444"/>
                </a:solidFill>
                <a:latin typeface="Calibri" pitchFamily="34" charset="0"/>
                <a:ea typeface="Calibri" pitchFamily="34" charset="-122"/>
                <a:cs typeface="Calibri" pitchFamily="34" charset="-120"/>
              </a:rPr>
              <a:t> oleh </a:t>
            </a:r>
            <a:r>
              <a:rPr lang="en-US" sz="2000" dirty="0" err="1">
                <a:solidFill>
                  <a:srgbClr val="444444"/>
                </a:solidFill>
                <a:latin typeface="Calibri" pitchFamily="34" charset="0"/>
                <a:ea typeface="Calibri" pitchFamily="34" charset="-122"/>
                <a:cs typeface="Calibri" pitchFamily="34" charset="-120"/>
              </a:rPr>
              <a:t>algoritma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Apriori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menghitung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pola</a:t>
            </a:r>
            <a:r>
              <a:rPr lang="en-US" sz="2000" dirty="0">
                <a:solidFill>
                  <a:srgbClr val="444444"/>
                </a:solidFill>
                <a:latin typeface="Calibri" pitchFamily="34" charset="0"/>
                <a:ea typeface="Calibri" pitchFamily="34" charset="-122"/>
                <a:cs typeface="Calibri" pitchFamily="34" charset="-120"/>
              </a:rPr>
              <a:t> association rules.</a:t>
            </a:r>
          </a:p>
        </p:txBody>
      </p:sp>
      <p:pic>
        <p:nvPicPr>
          <p:cNvPr id="4" name="Picture 3">
            <a:extLst>
              <a:ext uri="{FF2B5EF4-FFF2-40B4-BE49-F238E27FC236}">
                <a16:creationId xmlns:a16="http://schemas.microsoft.com/office/drawing/2014/main" id="{33A9B52D-FE3E-EE2C-28E8-008E914919A7}"/>
              </a:ext>
            </a:extLst>
          </p:cNvPr>
          <p:cNvPicPr>
            <a:picLocks noChangeAspect="1"/>
          </p:cNvPicPr>
          <p:nvPr/>
        </p:nvPicPr>
        <p:blipFill>
          <a:blip r:embed="rId3"/>
          <a:stretch>
            <a:fillRect/>
          </a:stretch>
        </p:blipFill>
        <p:spPr>
          <a:xfrm>
            <a:off x="548640" y="997373"/>
            <a:ext cx="6042422" cy="888592"/>
          </a:xfrm>
          <a:prstGeom prst="rect">
            <a:avLst/>
          </a:prstGeom>
        </p:spPr>
      </p:pic>
      <p:pic>
        <p:nvPicPr>
          <p:cNvPr id="6" name="Picture 5">
            <a:extLst>
              <a:ext uri="{FF2B5EF4-FFF2-40B4-BE49-F238E27FC236}">
                <a16:creationId xmlns:a16="http://schemas.microsoft.com/office/drawing/2014/main" id="{B4F9569D-4A7B-20C8-4270-C75B9BE8D822}"/>
              </a:ext>
            </a:extLst>
          </p:cNvPr>
          <p:cNvPicPr>
            <a:picLocks noChangeAspect="1"/>
          </p:cNvPicPr>
          <p:nvPr/>
        </p:nvPicPr>
        <p:blipFill>
          <a:blip r:embed="rId4"/>
          <a:stretch>
            <a:fillRect/>
          </a:stretch>
        </p:blipFill>
        <p:spPr>
          <a:xfrm>
            <a:off x="1435550" y="1937798"/>
            <a:ext cx="7973538" cy="2896004"/>
          </a:xfrm>
          <a:prstGeom prst="rect">
            <a:avLst/>
          </a:prstGeom>
        </p:spPr>
      </p:pic>
    </p:spTree>
    <p:extLst>
      <p:ext uri="{BB962C8B-B14F-4D97-AF65-F5344CB8AC3E}">
        <p14:creationId xmlns:p14="http://schemas.microsoft.com/office/powerpoint/2010/main" val="4255565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7B01B-60C5-E0D0-5FF4-787953FF1435}"/>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4D783658-8D38-A596-C998-9C4531D44474}"/>
              </a:ext>
            </a:extLst>
          </p:cNvPr>
          <p:cNvSpPr/>
          <p:nvPr/>
        </p:nvSpPr>
        <p:spPr>
          <a:xfrm>
            <a:off x="-109448" y="-109603"/>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7F7A303E-5398-17EA-2BB9-4DFE76A70148}"/>
              </a:ext>
            </a:extLst>
          </p:cNvPr>
          <p:cNvSpPr/>
          <p:nvPr/>
        </p:nvSpPr>
        <p:spPr>
          <a:xfrm>
            <a:off x="548640" y="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Analysis</a:t>
            </a:r>
            <a:endParaRPr lang="en-US" sz="2800" dirty="0"/>
          </a:p>
        </p:txBody>
      </p:sp>
      <p:sp>
        <p:nvSpPr>
          <p:cNvPr id="29" name="Text 26">
            <a:extLst>
              <a:ext uri="{FF2B5EF4-FFF2-40B4-BE49-F238E27FC236}">
                <a16:creationId xmlns:a16="http://schemas.microsoft.com/office/drawing/2014/main" id="{6D26E486-A37F-5A61-9054-635A5A670C84}"/>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E0082A4E-1410-A9FE-3296-7384C2EC5305}"/>
              </a:ext>
            </a:extLst>
          </p:cNvPr>
          <p:cNvSpPr/>
          <p:nvPr/>
        </p:nvSpPr>
        <p:spPr>
          <a:xfrm>
            <a:off x="548640" y="448320"/>
            <a:ext cx="715652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5. </a:t>
            </a:r>
            <a:r>
              <a:rPr lang="it-IT" sz="1600" b="1" dirty="0">
                <a:solidFill>
                  <a:srgbClr val="F2545B"/>
                </a:solidFill>
                <a:latin typeface="Cambria" pitchFamily="34" charset="0"/>
                <a:ea typeface="Cambria" pitchFamily="34" charset="-122"/>
                <a:cs typeface="Cambria" pitchFamily="34" charset="-120"/>
              </a:rPr>
              <a:t>Pemodelan Algoritma Apriori dan Association Rules</a:t>
            </a:r>
            <a:endParaRPr lang="en-US" sz="1600" dirty="0"/>
          </a:p>
        </p:txBody>
      </p:sp>
      <p:sp>
        <p:nvSpPr>
          <p:cNvPr id="17" name="Shape 5">
            <a:extLst>
              <a:ext uri="{FF2B5EF4-FFF2-40B4-BE49-F238E27FC236}">
                <a16:creationId xmlns:a16="http://schemas.microsoft.com/office/drawing/2014/main" id="{DB931A3B-7D89-8592-4704-14FEE0A05B88}"/>
              </a:ext>
            </a:extLst>
          </p:cNvPr>
          <p:cNvSpPr/>
          <p:nvPr/>
        </p:nvSpPr>
        <p:spPr>
          <a:xfrm>
            <a:off x="-45720" y="4584201"/>
            <a:ext cx="12237720" cy="169920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00F890BF-091E-05B6-9EC6-B56F3903F9EF}"/>
              </a:ext>
            </a:extLst>
          </p:cNvPr>
          <p:cNvSpPr/>
          <p:nvPr/>
        </p:nvSpPr>
        <p:spPr>
          <a:xfrm>
            <a:off x="247364" y="4575552"/>
            <a:ext cx="5174955" cy="43632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50D24975-1D9E-956D-4576-E0BBB19E645C}"/>
              </a:ext>
            </a:extLst>
          </p:cNvPr>
          <p:cNvSpPr/>
          <p:nvPr/>
        </p:nvSpPr>
        <p:spPr>
          <a:xfrm>
            <a:off x="126341" y="5011873"/>
            <a:ext cx="11622668" cy="1128563"/>
          </a:xfrm>
          <a:prstGeom prst="rect">
            <a:avLst/>
          </a:prstGeom>
          <a:noFill/>
          <a:ln/>
        </p:spPr>
        <p:txBody>
          <a:bodyPr wrap="square" rtlCol="0" anchor="t"/>
          <a:lstStyle/>
          <a:p>
            <a:pPr marL="0" indent="0">
              <a:buNone/>
            </a:pPr>
            <a:r>
              <a:rPr lang="en-US" sz="2000" dirty="0" err="1">
                <a:solidFill>
                  <a:srgbClr val="444444"/>
                </a:solidFill>
                <a:latin typeface="Calibri" pitchFamily="34" charset="0"/>
                <a:ea typeface="Calibri" pitchFamily="34" charset="-122"/>
                <a:cs typeface="Calibri" pitchFamily="34" charset="-120"/>
              </a:rPr>
              <a:t>Pemodelan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Apriori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menunjukkan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keterikatan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tertinggi</a:t>
            </a:r>
            <a:r>
              <a:rPr lang="en-US" sz="2000" dirty="0">
                <a:solidFill>
                  <a:srgbClr val="444444"/>
                </a:solidFill>
                <a:latin typeface="Calibri" pitchFamily="34" charset="0"/>
                <a:ea typeface="Calibri" pitchFamily="34" charset="-122"/>
                <a:cs typeface="Calibri" pitchFamily="34" charset="-120"/>
              </a:rPr>
              <a:t> pada {sausage}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{yogurt, whole milk} (Lift 2,18). </a:t>
            </a:r>
            <a:r>
              <a:rPr lang="en-US" sz="2000" dirty="0" err="1">
                <a:solidFill>
                  <a:srgbClr val="444444"/>
                </a:solidFill>
                <a:latin typeface="Calibri" pitchFamily="34" charset="0"/>
                <a:ea typeface="Calibri" pitchFamily="34" charset="-122"/>
                <a:cs typeface="Calibri" pitchFamily="34" charset="-120"/>
              </a:rPr>
              <a:t>Meski</a:t>
            </a:r>
            <a:r>
              <a:rPr lang="en-US" sz="2000" dirty="0">
                <a:solidFill>
                  <a:srgbClr val="444444"/>
                </a:solidFill>
                <a:latin typeface="Calibri" pitchFamily="34" charset="0"/>
                <a:ea typeface="Calibri" pitchFamily="34" charset="-122"/>
                <a:cs typeface="Calibri" pitchFamily="34" charset="-120"/>
              </a:rPr>
              <a:t> confidence </a:t>
            </a:r>
            <a:r>
              <a:rPr lang="en-US" sz="2000" dirty="0" err="1">
                <a:solidFill>
                  <a:srgbClr val="444444"/>
                </a:solidFill>
                <a:latin typeface="Calibri" pitchFamily="34" charset="0"/>
                <a:ea typeface="Calibri" pitchFamily="34" charset="-122"/>
                <a:cs typeface="Calibri" pitchFamily="34" charset="-120"/>
              </a:rPr>
              <a:t>kombinasi</a:t>
            </a:r>
            <a:r>
              <a:rPr lang="en-US" sz="2000" dirty="0">
                <a:solidFill>
                  <a:srgbClr val="444444"/>
                </a:solidFill>
                <a:latin typeface="Calibri" pitchFamily="34" charset="0"/>
                <a:ea typeface="Calibri" pitchFamily="34" charset="-122"/>
                <a:cs typeface="Calibri" pitchFamily="34" charset="-120"/>
              </a:rPr>
              <a:t> 3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cenderung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kecil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seluruh</a:t>
            </a:r>
            <a:r>
              <a:rPr lang="en-US" sz="2000" dirty="0">
                <a:solidFill>
                  <a:srgbClr val="444444"/>
                </a:solidFill>
                <a:latin typeface="Calibri" pitchFamily="34" charset="0"/>
                <a:ea typeface="Calibri" pitchFamily="34" charset="-122"/>
                <a:cs typeface="Calibri" pitchFamily="34" charset="-120"/>
              </a:rPr>
              <a:t> 5 </a:t>
            </a:r>
            <a:r>
              <a:rPr lang="en-US" sz="2000" dirty="0" err="1">
                <a:solidFill>
                  <a:srgbClr val="444444"/>
                </a:solidFill>
                <a:latin typeface="Calibri" pitchFamily="34" charset="0"/>
                <a:ea typeface="Calibri" pitchFamily="34" charset="-122"/>
                <a:cs typeface="Calibri" pitchFamily="34" charset="-120"/>
              </a:rPr>
              <a:t>kombinasi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teratas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memiliki</a:t>
            </a:r>
            <a:r>
              <a:rPr lang="en-US" sz="2000" dirty="0">
                <a:solidFill>
                  <a:srgbClr val="444444"/>
                </a:solidFill>
                <a:latin typeface="Calibri" pitchFamily="34" charset="0"/>
                <a:ea typeface="Calibri" pitchFamily="34" charset="-122"/>
                <a:cs typeface="Calibri" pitchFamily="34" charset="-120"/>
              </a:rPr>
              <a:t> Lift &gt; 1,5 </a:t>
            </a:r>
            <a:r>
              <a:rPr lang="en-US" sz="2000" dirty="0" err="1">
                <a:solidFill>
                  <a:srgbClr val="444444"/>
                </a:solidFill>
                <a:latin typeface="Calibri" pitchFamily="34" charset="0"/>
                <a:ea typeface="Calibri" pitchFamily="34" charset="-122"/>
                <a:cs typeface="Calibri" pitchFamily="34" charset="-120"/>
              </a:rPr>
              <a:t>termasuk</a:t>
            </a:r>
            <a:r>
              <a:rPr lang="en-US" sz="2000" dirty="0">
                <a:solidFill>
                  <a:srgbClr val="444444"/>
                </a:solidFill>
                <a:latin typeface="Calibri" pitchFamily="34" charset="0"/>
                <a:ea typeface="Calibri" pitchFamily="34" charset="-122"/>
                <a:cs typeface="Calibri" pitchFamily="34" charset="-120"/>
              </a:rPr>
              <a:t> {beverages}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{sausage} (Confidence 9,27%). </a:t>
            </a:r>
            <a:r>
              <a:rPr lang="en-US" sz="2000" dirty="0" err="1">
                <a:solidFill>
                  <a:srgbClr val="444444"/>
                </a:solidFill>
                <a:latin typeface="Calibri" pitchFamily="34" charset="0"/>
                <a:ea typeface="Calibri" pitchFamily="34" charset="-122"/>
                <a:cs typeface="Calibri" pitchFamily="34" charset="-120"/>
              </a:rPr>
              <a:t>Disarankan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mempertimbangkan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penataan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sosis</a:t>
            </a:r>
            <a:r>
              <a:rPr lang="en-US" sz="2000" dirty="0">
                <a:solidFill>
                  <a:srgbClr val="444444"/>
                </a:solidFill>
                <a:latin typeface="Calibri" pitchFamily="34" charset="0"/>
                <a:ea typeface="Calibri" pitchFamily="34" charset="-122"/>
                <a:cs typeface="Calibri" pitchFamily="34" charset="-120"/>
              </a:rPr>
              <a:t> di </a:t>
            </a:r>
            <a:r>
              <a:rPr lang="en-US" sz="2000" dirty="0" err="1">
                <a:solidFill>
                  <a:srgbClr val="444444"/>
                </a:solidFill>
                <a:latin typeface="Calibri" pitchFamily="34" charset="0"/>
                <a:ea typeface="Calibri" pitchFamily="34" charset="-122"/>
                <a:cs typeface="Calibri" pitchFamily="34" charset="-120"/>
              </a:rPr>
              <a:t>dekat</a:t>
            </a:r>
            <a:r>
              <a:rPr lang="en-US" sz="2000" dirty="0">
                <a:solidFill>
                  <a:srgbClr val="444444"/>
                </a:solidFill>
                <a:latin typeface="Calibri" pitchFamily="34" charset="0"/>
                <a:ea typeface="Calibri" pitchFamily="34" charset="-122"/>
                <a:cs typeface="Calibri" pitchFamily="34" charset="-120"/>
              </a:rPr>
              <a:t> area </a:t>
            </a:r>
            <a:r>
              <a:rPr lang="en-US" sz="2000" dirty="0" err="1">
                <a:solidFill>
                  <a:srgbClr val="444444"/>
                </a:solidFill>
                <a:latin typeface="Calibri" pitchFamily="34" charset="0"/>
                <a:ea typeface="Calibri" pitchFamily="34" charset="-122"/>
                <a:cs typeface="Calibri" pitchFamily="34" charset="-120"/>
              </a:rPr>
              <a:t>minuman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serta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membuat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paket</a:t>
            </a:r>
            <a:r>
              <a:rPr lang="en-US" sz="2000" dirty="0">
                <a:solidFill>
                  <a:srgbClr val="444444"/>
                </a:solidFill>
                <a:latin typeface="Calibri" pitchFamily="34" charset="0"/>
                <a:ea typeface="Calibri" pitchFamily="34" charset="-122"/>
                <a:cs typeface="Calibri" pitchFamily="34" charset="-120"/>
              </a:rPr>
              <a:t> bundling </a:t>
            </a:r>
            <a:r>
              <a:rPr lang="en-US" sz="2000" dirty="0" err="1">
                <a:solidFill>
                  <a:srgbClr val="444444"/>
                </a:solidFill>
                <a:latin typeface="Calibri" pitchFamily="34" charset="0"/>
                <a:ea typeface="Calibri" pitchFamily="34" charset="-122"/>
                <a:cs typeface="Calibri" pitchFamily="34" charset="-120"/>
              </a:rPr>
              <a:t>sarapan</a:t>
            </a:r>
            <a:r>
              <a:rPr lang="en-US" sz="2000" dirty="0">
                <a:solidFill>
                  <a:srgbClr val="444444"/>
                </a:solidFill>
                <a:latin typeface="Calibri" pitchFamily="34" charset="0"/>
                <a:ea typeface="Calibri" pitchFamily="34" charset="-122"/>
                <a:cs typeface="Calibri" pitchFamily="34" charset="-120"/>
              </a:rPr>
              <a:t>/snack (</a:t>
            </a:r>
            <a:r>
              <a:rPr lang="en-US" sz="2000" dirty="0" err="1">
                <a:solidFill>
                  <a:srgbClr val="444444"/>
                </a:solidFill>
                <a:latin typeface="Calibri" pitchFamily="34" charset="0"/>
                <a:ea typeface="Calibri" pitchFamily="34" charset="-122"/>
                <a:cs typeface="Calibri" pitchFamily="34" charset="-120"/>
              </a:rPr>
              <a:t>Sosis</a:t>
            </a:r>
            <a:r>
              <a:rPr lang="en-US" sz="2000" dirty="0">
                <a:solidFill>
                  <a:srgbClr val="444444"/>
                </a:solidFill>
                <a:latin typeface="Calibri" pitchFamily="34" charset="0"/>
                <a:ea typeface="Calibri" pitchFamily="34" charset="-122"/>
                <a:cs typeface="Calibri" pitchFamily="34" charset="-120"/>
              </a:rPr>
              <a:t> + Yoghurt/Susu)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mendorong</a:t>
            </a:r>
            <a:r>
              <a:rPr lang="en-US" sz="2000" dirty="0">
                <a:solidFill>
                  <a:srgbClr val="444444"/>
                </a:solidFill>
                <a:latin typeface="Calibri" pitchFamily="34" charset="0"/>
                <a:ea typeface="Calibri" pitchFamily="34" charset="-122"/>
                <a:cs typeface="Calibri" pitchFamily="34" charset="-120"/>
              </a:rPr>
              <a:t> cross-selling.</a:t>
            </a:r>
          </a:p>
        </p:txBody>
      </p:sp>
      <p:pic>
        <p:nvPicPr>
          <p:cNvPr id="5" name="Picture 4">
            <a:extLst>
              <a:ext uri="{FF2B5EF4-FFF2-40B4-BE49-F238E27FC236}">
                <a16:creationId xmlns:a16="http://schemas.microsoft.com/office/drawing/2014/main" id="{B8E44446-A0ED-6AF4-4398-14DFF3A92C5F}"/>
              </a:ext>
            </a:extLst>
          </p:cNvPr>
          <p:cNvPicPr>
            <a:picLocks noChangeAspect="1"/>
          </p:cNvPicPr>
          <p:nvPr/>
        </p:nvPicPr>
        <p:blipFill>
          <a:blip r:embed="rId3"/>
          <a:stretch>
            <a:fillRect/>
          </a:stretch>
        </p:blipFill>
        <p:spPr>
          <a:xfrm>
            <a:off x="3054531" y="858973"/>
            <a:ext cx="6082938" cy="2213587"/>
          </a:xfrm>
          <a:prstGeom prst="rect">
            <a:avLst/>
          </a:prstGeom>
        </p:spPr>
      </p:pic>
      <p:pic>
        <p:nvPicPr>
          <p:cNvPr id="8" name="Picture 7">
            <a:extLst>
              <a:ext uri="{FF2B5EF4-FFF2-40B4-BE49-F238E27FC236}">
                <a16:creationId xmlns:a16="http://schemas.microsoft.com/office/drawing/2014/main" id="{B495904C-6072-356E-8F0C-8B4AA3ECC407}"/>
              </a:ext>
            </a:extLst>
          </p:cNvPr>
          <p:cNvPicPr>
            <a:picLocks noChangeAspect="1"/>
          </p:cNvPicPr>
          <p:nvPr/>
        </p:nvPicPr>
        <p:blipFill>
          <a:blip r:embed="rId4"/>
          <a:stretch>
            <a:fillRect/>
          </a:stretch>
        </p:blipFill>
        <p:spPr>
          <a:xfrm>
            <a:off x="3773130" y="3032125"/>
            <a:ext cx="4645740" cy="1552076"/>
          </a:xfrm>
          <a:prstGeom prst="rect">
            <a:avLst/>
          </a:prstGeom>
        </p:spPr>
      </p:pic>
    </p:spTree>
    <p:extLst>
      <p:ext uri="{BB962C8B-B14F-4D97-AF65-F5344CB8AC3E}">
        <p14:creationId xmlns:p14="http://schemas.microsoft.com/office/powerpoint/2010/main" val="2151651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48D24-5931-B6C7-10B8-0ACA361691BF}"/>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7E4044BC-4D3E-B0D7-398C-3B70C97B9856}"/>
              </a:ext>
            </a:extLst>
          </p:cNvPr>
          <p:cNvSpPr/>
          <p:nvPr/>
        </p:nvSpPr>
        <p:spPr>
          <a:xfrm>
            <a:off x="-109448" y="-109603"/>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D5C264AF-DA94-E3DD-0B1B-D81639F5603C}"/>
              </a:ext>
            </a:extLst>
          </p:cNvPr>
          <p:cNvSpPr/>
          <p:nvPr/>
        </p:nvSpPr>
        <p:spPr>
          <a:xfrm>
            <a:off x="548640" y="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Analysis</a:t>
            </a:r>
            <a:endParaRPr lang="en-US" sz="2800" dirty="0"/>
          </a:p>
        </p:txBody>
      </p:sp>
      <p:sp>
        <p:nvSpPr>
          <p:cNvPr id="29" name="Text 26">
            <a:extLst>
              <a:ext uri="{FF2B5EF4-FFF2-40B4-BE49-F238E27FC236}">
                <a16:creationId xmlns:a16="http://schemas.microsoft.com/office/drawing/2014/main" id="{6834F343-C60F-D0DC-4FAB-B0939CC0A421}"/>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BEDBD07A-21CA-6027-79E4-CAB87D026A0B}"/>
              </a:ext>
            </a:extLst>
          </p:cNvPr>
          <p:cNvSpPr/>
          <p:nvPr/>
        </p:nvSpPr>
        <p:spPr>
          <a:xfrm>
            <a:off x="548640" y="448320"/>
            <a:ext cx="715652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6. </a:t>
            </a:r>
            <a:r>
              <a:rPr lang="it-IT" sz="1600" b="1" dirty="0">
                <a:solidFill>
                  <a:srgbClr val="F2545B"/>
                </a:solidFill>
                <a:latin typeface="Cambria" pitchFamily="34" charset="0"/>
                <a:ea typeface="Cambria" pitchFamily="34" charset="-122"/>
                <a:cs typeface="Cambria" pitchFamily="34" charset="-120"/>
              </a:rPr>
              <a:t>Pemodelan Algoritma Apriori dan Association Rules</a:t>
            </a:r>
            <a:endParaRPr lang="en-US" sz="1600" dirty="0"/>
          </a:p>
        </p:txBody>
      </p:sp>
      <p:sp>
        <p:nvSpPr>
          <p:cNvPr id="17" name="Shape 5">
            <a:extLst>
              <a:ext uri="{FF2B5EF4-FFF2-40B4-BE49-F238E27FC236}">
                <a16:creationId xmlns:a16="http://schemas.microsoft.com/office/drawing/2014/main" id="{0E622D8B-E46B-0419-CEF0-45A0F7CBFEAC}"/>
              </a:ext>
            </a:extLst>
          </p:cNvPr>
          <p:cNvSpPr/>
          <p:nvPr/>
        </p:nvSpPr>
        <p:spPr>
          <a:xfrm>
            <a:off x="-34422" y="4746680"/>
            <a:ext cx="12087668" cy="169920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D31041B4-0F83-868B-D9DF-3A4D50E4F1ED}"/>
              </a:ext>
            </a:extLst>
          </p:cNvPr>
          <p:cNvSpPr/>
          <p:nvPr/>
        </p:nvSpPr>
        <p:spPr>
          <a:xfrm>
            <a:off x="247364" y="4575552"/>
            <a:ext cx="5174955" cy="43632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D68954FB-577E-8FAD-E85F-FB33C197FF26}"/>
              </a:ext>
            </a:extLst>
          </p:cNvPr>
          <p:cNvSpPr/>
          <p:nvPr/>
        </p:nvSpPr>
        <p:spPr>
          <a:xfrm>
            <a:off x="126341" y="5011873"/>
            <a:ext cx="11622668" cy="1128563"/>
          </a:xfrm>
          <a:prstGeom prst="rect">
            <a:avLst/>
          </a:prstGeom>
          <a:noFill/>
          <a:ln/>
        </p:spPr>
        <p:txBody>
          <a:bodyPr wrap="square" rtlCol="0" anchor="t"/>
          <a:lstStyle/>
          <a:p>
            <a:pPr marL="0" indent="0">
              <a:buNone/>
            </a:pPr>
            <a:r>
              <a:rPr lang="en-US" sz="2000" dirty="0" err="1">
                <a:solidFill>
                  <a:srgbClr val="444444"/>
                </a:solidFill>
                <a:latin typeface="Calibri" pitchFamily="34" charset="0"/>
                <a:ea typeface="Calibri" pitchFamily="34" charset="-122"/>
                <a:cs typeface="Calibri" pitchFamily="34" charset="-120"/>
              </a:rPr>
              <a:t>Visualisasi</a:t>
            </a:r>
            <a:r>
              <a:rPr lang="en-US" sz="2000" dirty="0">
                <a:solidFill>
                  <a:srgbClr val="444444"/>
                </a:solidFill>
                <a:latin typeface="Calibri" pitchFamily="34" charset="0"/>
                <a:ea typeface="Calibri" pitchFamily="34" charset="-122"/>
                <a:cs typeface="Calibri" pitchFamily="34" charset="-120"/>
              </a:rPr>
              <a:t> scatter plot </a:t>
            </a:r>
            <a:r>
              <a:rPr lang="en-US" sz="2000" dirty="0" err="1">
                <a:solidFill>
                  <a:srgbClr val="444444"/>
                </a:solidFill>
                <a:latin typeface="Calibri" pitchFamily="34" charset="0"/>
                <a:ea typeface="Calibri" pitchFamily="34" charset="-122"/>
                <a:cs typeface="Calibri" pitchFamily="34" charset="-120"/>
              </a:rPr>
              <a:t>menunjukkan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bahwa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aturan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asosiasi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terdistribusi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dominan</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rentang</a:t>
            </a:r>
            <a:r>
              <a:rPr lang="en-US" sz="2000" dirty="0">
                <a:solidFill>
                  <a:srgbClr val="444444"/>
                </a:solidFill>
                <a:latin typeface="Calibri" pitchFamily="34" charset="0"/>
                <a:ea typeface="Calibri" pitchFamily="34" charset="-122"/>
                <a:cs typeface="Calibri" pitchFamily="34" charset="-120"/>
              </a:rPr>
              <a:t> Support 0,001–0,002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Confidence </a:t>
            </a:r>
            <a:r>
              <a:rPr lang="en-US" sz="2000" dirty="0" err="1">
                <a:solidFill>
                  <a:srgbClr val="444444"/>
                </a:solidFill>
                <a:latin typeface="Calibri" pitchFamily="34" charset="0"/>
                <a:ea typeface="Calibri" pitchFamily="34" charset="-122"/>
                <a:cs typeface="Calibri" pitchFamily="34" charset="-120"/>
              </a:rPr>
              <a:t>hingga</a:t>
            </a:r>
            <a:r>
              <a:rPr lang="en-US" sz="2000" dirty="0">
                <a:solidFill>
                  <a:srgbClr val="444444"/>
                </a:solidFill>
                <a:latin typeface="Calibri" pitchFamily="34" charset="0"/>
                <a:ea typeface="Calibri" pitchFamily="34" charset="-122"/>
                <a:cs typeface="Calibri" pitchFamily="34" charset="-120"/>
              </a:rPr>
              <a:t> 0,16. </a:t>
            </a:r>
            <a:r>
              <a:rPr lang="en-US" sz="2000" dirty="0" err="1">
                <a:solidFill>
                  <a:srgbClr val="444444"/>
                </a:solidFill>
                <a:latin typeface="Calibri" pitchFamily="34" charset="0"/>
                <a:ea typeface="Calibri" pitchFamily="34" charset="-122"/>
                <a:cs typeface="Calibri" pitchFamily="34" charset="-120"/>
              </a:rPr>
              <a:t>Keberadaan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titik-titik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nilai</a:t>
            </a:r>
            <a:r>
              <a:rPr lang="en-US" sz="2000" dirty="0">
                <a:solidFill>
                  <a:srgbClr val="444444"/>
                </a:solidFill>
                <a:latin typeface="Calibri" pitchFamily="34" charset="0"/>
                <a:ea typeface="Calibri" pitchFamily="34" charset="-122"/>
                <a:cs typeface="Calibri" pitchFamily="34" charset="-120"/>
              </a:rPr>
              <a:t> Lift &gt; 1,5 yang </a:t>
            </a:r>
            <a:r>
              <a:rPr lang="en-US" sz="2000" dirty="0" err="1">
                <a:solidFill>
                  <a:srgbClr val="444444"/>
                </a:solidFill>
                <a:latin typeface="Calibri" pitchFamily="34" charset="0"/>
                <a:ea typeface="Calibri" pitchFamily="34" charset="-122"/>
                <a:cs typeface="Calibri" pitchFamily="34" charset="-120"/>
              </a:rPr>
              <a:t>menyebar</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tajam</a:t>
            </a:r>
            <a:r>
              <a:rPr lang="en-US" sz="2000" dirty="0">
                <a:solidFill>
                  <a:srgbClr val="444444"/>
                </a:solidFill>
                <a:latin typeface="Calibri" pitchFamily="34" charset="0"/>
                <a:ea typeface="Calibri" pitchFamily="34" charset="-122"/>
                <a:cs typeface="Calibri" pitchFamily="34" charset="-120"/>
              </a:rPr>
              <a:t> di area Confidence </a:t>
            </a:r>
            <a:r>
              <a:rPr lang="en-US" sz="2000" dirty="0" err="1">
                <a:solidFill>
                  <a:srgbClr val="444444"/>
                </a:solidFill>
                <a:latin typeface="Calibri" pitchFamily="34" charset="0"/>
                <a:ea typeface="Calibri" pitchFamily="34" charset="-122"/>
                <a:cs typeface="Calibri" pitchFamily="34" charset="-120"/>
              </a:rPr>
              <a:t>tinggi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mengonfirmasi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bahwa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pola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keterikatan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antarproduk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dalam</a:t>
            </a:r>
            <a:r>
              <a:rPr lang="en-US" sz="2000" dirty="0">
                <a:solidFill>
                  <a:srgbClr val="444444"/>
                </a:solidFill>
                <a:latin typeface="Calibri" pitchFamily="34" charset="0"/>
                <a:ea typeface="Calibri" pitchFamily="34" charset="-122"/>
                <a:cs typeface="Calibri" pitchFamily="34" charset="-120"/>
              </a:rPr>
              <a:t> dataset </a:t>
            </a:r>
            <a:r>
              <a:rPr lang="en-US" sz="2000" dirty="0" err="1">
                <a:solidFill>
                  <a:srgbClr val="444444"/>
                </a:solidFill>
                <a:latin typeface="Calibri" pitchFamily="34" charset="0"/>
                <a:ea typeface="Calibri" pitchFamily="34" charset="-122"/>
                <a:cs typeface="Calibri" pitchFamily="34" charset="-120"/>
              </a:rPr>
              <a:t>bersifat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stabil</a:t>
            </a:r>
            <a:r>
              <a:rPr lang="en-US" sz="2000" dirty="0">
                <a:solidFill>
                  <a:srgbClr val="444444"/>
                </a:solidFill>
                <a:latin typeface="Calibri" pitchFamily="34" charset="0"/>
                <a:ea typeface="Calibri" pitchFamily="34" charset="-122"/>
                <a:cs typeface="Calibri" pitchFamily="34" charset="-120"/>
              </a:rPr>
              <a:t> dan </a:t>
            </a:r>
            <a:r>
              <a:rPr lang="en-US" sz="2000" dirty="0" err="1">
                <a:solidFill>
                  <a:srgbClr val="444444"/>
                </a:solidFill>
                <a:latin typeface="Calibri" pitchFamily="34" charset="0"/>
                <a:ea typeface="Calibri" pitchFamily="34" charset="-122"/>
                <a:cs typeface="Calibri" pitchFamily="34" charset="-120"/>
              </a:rPr>
              <a:t>konsisten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sehingga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seluruh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aturan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terfilter</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valid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diimpor</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dalam</a:t>
            </a:r>
            <a:r>
              <a:rPr lang="en-US" sz="2000" dirty="0">
                <a:solidFill>
                  <a:srgbClr val="444444"/>
                </a:solidFill>
                <a:latin typeface="Calibri" pitchFamily="34" charset="0"/>
                <a:ea typeface="Calibri" pitchFamily="34" charset="-122"/>
                <a:cs typeface="Calibri" pitchFamily="34" charset="-120"/>
              </a:rPr>
              <a:t> dashboard </a:t>
            </a:r>
            <a:r>
              <a:rPr lang="en-US" sz="2000" dirty="0" err="1">
                <a:solidFill>
                  <a:srgbClr val="444444"/>
                </a:solidFill>
                <a:latin typeface="Calibri" pitchFamily="34" charset="0"/>
                <a:ea typeface="Calibri" pitchFamily="34" charset="-122"/>
                <a:cs typeface="Calibri" pitchFamily="34" charset="-120"/>
              </a:rPr>
              <a:t>interaktif</a:t>
            </a:r>
            <a:r>
              <a:rPr lang="en-US" sz="2000" dirty="0">
                <a:solidFill>
                  <a:srgbClr val="444444"/>
                </a:solidFill>
                <a:latin typeface="Calibri" pitchFamily="34" charset="0"/>
                <a:ea typeface="Calibri" pitchFamily="34" charset="-122"/>
                <a:cs typeface="Calibri" pitchFamily="34" charset="-120"/>
              </a:rPr>
              <a:t> Power BI.</a:t>
            </a:r>
          </a:p>
        </p:txBody>
      </p:sp>
      <p:pic>
        <p:nvPicPr>
          <p:cNvPr id="4" name="Picture 3">
            <a:extLst>
              <a:ext uri="{FF2B5EF4-FFF2-40B4-BE49-F238E27FC236}">
                <a16:creationId xmlns:a16="http://schemas.microsoft.com/office/drawing/2014/main" id="{945BD313-DA98-7E55-47D4-8E1F7AA9FF2C}"/>
              </a:ext>
            </a:extLst>
          </p:cNvPr>
          <p:cNvPicPr>
            <a:picLocks noChangeAspect="1"/>
          </p:cNvPicPr>
          <p:nvPr/>
        </p:nvPicPr>
        <p:blipFill>
          <a:blip r:embed="rId3"/>
          <a:stretch>
            <a:fillRect/>
          </a:stretch>
        </p:blipFill>
        <p:spPr>
          <a:xfrm>
            <a:off x="2751118" y="983175"/>
            <a:ext cx="6373114" cy="3458058"/>
          </a:xfrm>
          <a:prstGeom prst="rect">
            <a:avLst/>
          </a:prstGeom>
        </p:spPr>
      </p:pic>
    </p:spTree>
    <p:extLst>
      <p:ext uri="{BB962C8B-B14F-4D97-AF65-F5344CB8AC3E}">
        <p14:creationId xmlns:p14="http://schemas.microsoft.com/office/powerpoint/2010/main" val="4016562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DF7FC-4545-C61B-7EC7-F110E46108EA}"/>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669FA100-779A-8DDA-7ABE-E153AC7F9AD1}"/>
              </a:ext>
            </a:extLst>
          </p:cNvPr>
          <p:cNvSpPr/>
          <p:nvPr/>
        </p:nvSpPr>
        <p:spPr>
          <a:xfrm>
            <a:off x="-45720" y="2417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93222842-8738-7CC8-16FA-00D98B63ADEA}"/>
              </a:ext>
            </a:extLst>
          </p:cNvPr>
          <p:cNvSpPr/>
          <p:nvPr/>
        </p:nvSpPr>
        <p:spPr>
          <a:xfrm>
            <a:off x="548640" y="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Analysis</a:t>
            </a:r>
            <a:endParaRPr lang="en-US" sz="2800" dirty="0"/>
          </a:p>
        </p:txBody>
      </p:sp>
      <p:sp>
        <p:nvSpPr>
          <p:cNvPr id="29" name="Text 26">
            <a:extLst>
              <a:ext uri="{FF2B5EF4-FFF2-40B4-BE49-F238E27FC236}">
                <a16:creationId xmlns:a16="http://schemas.microsoft.com/office/drawing/2014/main" id="{9D6753B2-DA69-3929-278A-52EA6FD92507}"/>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41A010A0-A633-DFFD-D80A-3C68DD30045E}"/>
              </a:ext>
            </a:extLst>
          </p:cNvPr>
          <p:cNvSpPr/>
          <p:nvPr/>
        </p:nvSpPr>
        <p:spPr>
          <a:xfrm>
            <a:off x="548640" y="448320"/>
            <a:ext cx="715652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7. </a:t>
            </a:r>
            <a:r>
              <a:rPr lang="it-IT" sz="1600" b="1" dirty="0">
                <a:solidFill>
                  <a:srgbClr val="F2545B"/>
                </a:solidFill>
                <a:latin typeface="Cambria" pitchFamily="34" charset="0"/>
                <a:ea typeface="Cambria" pitchFamily="34" charset="-122"/>
                <a:cs typeface="Cambria" pitchFamily="34" charset="-120"/>
              </a:rPr>
              <a:t>Ekspor data yang sudah bersih dan hasil apriori</a:t>
            </a:r>
            <a:endParaRPr lang="en-US" sz="1600" dirty="0"/>
          </a:p>
        </p:txBody>
      </p:sp>
      <p:sp>
        <p:nvSpPr>
          <p:cNvPr id="17" name="Shape 5">
            <a:extLst>
              <a:ext uri="{FF2B5EF4-FFF2-40B4-BE49-F238E27FC236}">
                <a16:creationId xmlns:a16="http://schemas.microsoft.com/office/drawing/2014/main" id="{C8AB107B-EF00-667E-4A61-3603180D4559}"/>
              </a:ext>
            </a:extLst>
          </p:cNvPr>
          <p:cNvSpPr/>
          <p:nvPr/>
        </p:nvSpPr>
        <p:spPr>
          <a:xfrm>
            <a:off x="0" y="4571859"/>
            <a:ext cx="12094688" cy="169920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E4BF3E54-FD11-03B5-1387-EA3DF3F6103C}"/>
              </a:ext>
            </a:extLst>
          </p:cNvPr>
          <p:cNvSpPr/>
          <p:nvPr/>
        </p:nvSpPr>
        <p:spPr>
          <a:xfrm>
            <a:off x="247364" y="4575552"/>
            <a:ext cx="5174955" cy="43632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2162B182-46D5-31C0-86F9-72E09471FEFC}"/>
              </a:ext>
            </a:extLst>
          </p:cNvPr>
          <p:cNvSpPr/>
          <p:nvPr/>
        </p:nvSpPr>
        <p:spPr>
          <a:xfrm>
            <a:off x="126341" y="5011873"/>
            <a:ext cx="11622668" cy="1128563"/>
          </a:xfrm>
          <a:prstGeom prst="rect">
            <a:avLst/>
          </a:prstGeom>
          <a:noFill/>
          <a:ln/>
        </p:spPr>
        <p:txBody>
          <a:bodyPr wrap="square" rtlCol="0" anchor="t"/>
          <a:lstStyle/>
          <a:p>
            <a:pPr marL="0" indent="0">
              <a:buNone/>
            </a:pPr>
            <a:r>
              <a:rPr lang="en-US" sz="2000" dirty="0">
                <a:solidFill>
                  <a:srgbClr val="444444"/>
                </a:solidFill>
                <a:latin typeface="Calibri" pitchFamily="34" charset="0"/>
                <a:ea typeface="Calibri" pitchFamily="34" charset="-122"/>
                <a:cs typeface="Calibri" pitchFamily="34" charset="-120"/>
              </a:rPr>
              <a:t>Proses </a:t>
            </a:r>
            <a:r>
              <a:rPr lang="en-US" sz="2000" dirty="0" err="1">
                <a:solidFill>
                  <a:srgbClr val="444444"/>
                </a:solidFill>
                <a:latin typeface="Calibri" pitchFamily="34" charset="0"/>
                <a:ea typeface="Calibri" pitchFamily="34" charset="-122"/>
                <a:cs typeface="Calibri" pitchFamily="34" charset="-120"/>
              </a:rPr>
              <a:t>persiapan</a:t>
            </a:r>
            <a:r>
              <a:rPr lang="en-US" sz="2000" dirty="0">
                <a:solidFill>
                  <a:srgbClr val="444444"/>
                </a:solidFill>
                <a:latin typeface="Calibri" pitchFamily="34" charset="0"/>
                <a:ea typeface="Calibri" pitchFamily="34" charset="-122"/>
                <a:cs typeface="Calibri" pitchFamily="34" charset="-120"/>
              </a:rPr>
              <a:t> data </a:t>
            </a:r>
            <a:r>
              <a:rPr lang="en-US" sz="2000" dirty="0" err="1">
                <a:solidFill>
                  <a:srgbClr val="444444"/>
                </a:solidFill>
                <a:latin typeface="Calibri" pitchFamily="34" charset="0"/>
                <a:ea typeface="Calibri" pitchFamily="34" charset="-122"/>
                <a:cs typeface="Calibri" pitchFamily="34" charset="-120"/>
              </a:rPr>
              <a:t>diakhiri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mengekspor</a:t>
            </a:r>
            <a:r>
              <a:rPr lang="en-US" sz="2000" dirty="0">
                <a:solidFill>
                  <a:srgbClr val="444444"/>
                </a:solidFill>
                <a:latin typeface="Calibri" pitchFamily="34" charset="0"/>
                <a:ea typeface="Calibri" pitchFamily="34" charset="-122"/>
                <a:cs typeface="Calibri" pitchFamily="34" charset="-120"/>
              </a:rPr>
              <a:t> dataset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bersih</a:t>
            </a:r>
            <a:r>
              <a:rPr lang="en-US" sz="2000" dirty="0">
                <a:solidFill>
                  <a:srgbClr val="444444"/>
                </a:solidFill>
                <a:latin typeface="Calibri" pitchFamily="34" charset="0"/>
                <a:ea typeface="Calibri" pitchFamily="34" charset="-122"/>
                <a:cs typeface="Calibri" pitchFamily="34" charset="-120"/>
              </a:rPr>
              <a:t> dan </a:t>
            </a:r>
            <a:r>
              <a:rPr lang="en-US" sz="2000" dirty="0" err="1">
                <a:solidFill>
                  <a:srgbClr val="444444"/>
                </a:solidFill>
                <a:latin typeface="Calibri" pitchFamily="34" charset="0"/>
                <a:ea typeface="Calibri" pitchFamily="34" charset="-122"/>
                <a:cs typeface="Calibri" pitchFamily="34" charset="-120"/>
              </a:rPr>
              <a:t>tabel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aturan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asosiasi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a:t>
            </a:r>
            <a:r>
              <a:rPr lang="en-US" sz="2000" dirty="0">
                <a:solidFill>
                  <a:srgbClr val="444444"/>
                </a:solidFill>
                <a:latin typeface="Calibri" pitchFamily="34" charset="0"/>
                <a:ea typeface="Calibri" pitchFamily="34" charset="-122"/>
                <a:cs typeface="Calibri" pitchFamily="34" charset="-120"/>
              </a:rPr>
              <a:t> format CSV. </a:t>
            </a:r>
            <a:r>
              <a:rPr lang="en-US" sz="2000" dirty="0" err="1">
                <a:solidFill>
                  <a:srgbClr val="444444"/>
                </a:solidFill>
                <a:latin typeface="Calibri" pitchFamily="34" charset="0"/>
                <a:ea typeface="Calibri" pitchFamily="34" charset="-122"/>
                <a:cs typeface="Calibri" pitchFamily="34" charset="-120"/>
              </a:rPr>
              <a:t>Penyesuaian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tipe</a:t>
            </a:r>
            <a:r>
              <a:rPr lang="en-US" sz="2000" dirty="0">
                <a:solidFill>
                  <a:srgbClr val="444444"/>
                </a:solidFill>
                <a:latin typeface="Calibri" pitchFamily="34" charset="0"/>
                <a:ea typeface="Calibri" pitchFamily="34" charset="-122"/>
                <a:cs typeface="Calibri" pitchFamily="34" charset="-120"/>
              </a:rPr>
              <a:t> data </a:t>
            </a:r>
            <a:r>
              <a:rPr lang="en-US" sz="2000" dirty="0" err="1">
                <a:solidFill>
                  <a:srgbClr val="444444"/>
                </a:solidFill>
                <a:latin typeface="Calibri" pitchFamily="34" charset="0"/>
                <a:ea typeface="Calibri" pitchFamily="34" charset="-122"/>
                <a:cs typeface="Calibri" pitchFamily="34" charset="-120"/>
              </a:rPr>
              <a:t>dilakukan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menghilangkan</a:t>
            </a:r>
            <a:r>
              <a:rPr lang="en-US" sz="2000" dirty="0">
                <a:solidFill>
                  <a:srgbClr val="444444"/>
                </a:solidFill>
                <a:latin typeface="Calibri" pitchFamily="34" charset="0"/>
                <a:ea typeface="Calibri" pitchFamily="34" charset="-122"/>
                <a:cs typeface="Calibri" pitchFamily="34" charset="-120"/>
              </a:rPr>
              <a:t> format </a:t>
            </a:r>
            <a:r>
              <a:rPr lang="en-US" sz="2000" dirty="0" err="1">
                <a:solidFill>
                  <a:srgbClr val="444444"/>
                </a:solidFill>
                <a:latin typeface="Calibri" pitchFamily="34" charset="0"/>
                <a:ea typeface="Calibri" pitchFamily="34" charset="-122"/>
                <a:cs typeface="Calibri" pitchFamily="34" charset="-120"/>
              </a:rPr>
              <a:t>frozenset</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antecedents dan consequents agar nama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terbaca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sebagai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teks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rapi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saat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diimpor</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sehingga</a:t>
            </a:r>
            <a:r>
              <a:rPr lang="en-US" sz="2000" dirty="0">
                <a:solidFill>
                  <a:srgbClr val="444444"/>
                </a:solidFill>
                <a:latin typeface="Calibri" pitchFamily="34" charset="0"/>
                <a:ea typeface="Calibri" pitchFamily="34" charset="-122"/>
                <a:cs typeface="Calibri" pitchFamily="34" charset="-120"/>
              </a:rPr>
              <a:t> data </a:t>
            </a:r>
            <a:r>
              <a:rPr lang="en-US" sz="2000" dirty="0" err="1">
                <a:solidFill>
                  <a:srgbClr val="444444"/>
                </a:solidFill>
                <a:latin typeface="Calibri" pitchFamily="34" charset="0"/>
                <a:ea typeface="Calibri" pitchFamily="34" charset="-122"/>
                <a:cs typeface="Calibri" pitchFamily="34" charset="-120"/>
              </a:rPr>
              <a:t>siap</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digunakan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secara</a:t>
            </a:r>
            <a:r>
              <a:rPr lang="en-US" sz="2000" dirty="0">
                <a:solidFill>
                  <a:srgbClr val="444444"/>
                </a:solidFill>
                <a:latin typeface="Calibri" pitchFamily="34" charset="0"/>
                <a:ea typeface="Calibri" pitchFamily="34" charset="-122"/>
                <a:cs typeface="Calibri" pitchFamily="34" charset="-120"/>
              </a:rPr>
              <a:t> optimal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perancangan</a:t>
            </a:r>
            <a:r>
              <a:rPr lang="en-US" sz="2000" dirty="0">
                <a:solidFill>
                  <a:srgbClr val="444444"/>
                </a:solidFill>
                <a:latin typeface="Calibri" pitchFamily="34" charset="0"/>
                <a:ea typeface="Calibri" pitchFamily="34" charset="-122"/>
                <a:cs typeface="Calibri" pitchFamily="34" charset="-120"/>
              </a:rPr>
              <a:t> dashboard </a:t>
            </a:r>
            <a:r>
              <a:rPr lang="en-US" sz="2000" dirty="0" err="1">
                <a:solidFill>
                  <a:srgbClr val="444444"/>
                </a:solidFill>
                <a:latin typeface="Calibri" pitchFamily="34" charset="0"/>
                <a:ea typeface="Calibri" pitchFamily="34" charset="-122"/>
                <a:cs typeface="Calibri" pitchFamily="34" charset="-120"/>
              </a:rPr>
              <a:t>interaktif</a:t>
            </a:r>
            <a:r>
              <a:rPr lang="en-US" sz="2000" dirty="0">
                <a:solidFill>
                  <a:srgbClr val="444444"/>
                </a:solidFill>
                <a:latin typeface="Calibri" pitchFamily="34" charset="0"/>
                <a:ea typeface="Calibri" pitchFamily="34" charset="-122"/>
                <a:cs typeface="Calibri" pitchFamily="34" charset="-120"/>
              </a:rPr>
              <a:t> di Power BI.</a:t>
            </a:r>
          </a:p>
        </p:txBody>
      </p:sp>
      <p:pic>
        <p:nvPicPr>
          <p:cNvPr id="5" name="Picture 4">
            <a:extLst>
              <a:ext uri="{FF2B5EF4-FFF2-40B4-BE49-F238E27FC236}">
                <a16:creationId xmlns:a16="http://schemas.microsoft.com/office/drawing/2014/main" id="{CA10066E-6A1A-3140-1266-C54FB6AD23E1}"/>
              </a:ext>
            </a:extLst>
          </p:cNvPr>
          <p:cNvPicPr>
            <a:picLocks noChangeAspect="1"/>
          </p:cNvPicPr>
          <p:nvPr/>
        </p:nvPicPr>
        <p:blipFill>
          <a:blip r:embed="rId3"/>
          <a:stretch>
            <a:fillRect/>
          </a:stretch>
        </p:blipFill>
        <p:spPr>
          <a:xfrm>
            <a:off x="2334188" y="946327"/>
            <a:ext cx="7022724" cy="2496969"/>
          </a:xfrm>
          <a:prstGeom prst="rect">
            <a:avLst/>
          </a:prstGeom>
        </p:spPr>
      </p:pic>
    </p:spTree>
    <p:extLst>
      <p:ext uri="{BB962C8B-B14F-4D97-AF65-F5344CB8AC3E}">
        <p14:creationId xmlns:p14="http://schemas.microsoft.com/office/powerpoint/2010/main" val="470343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89908-E94D-CE54-0A49-3211A0B74449}"/>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24BF7ED4-A3D1-7195-E93F-79420CFB4369}"/>
              </a:ext>
            </a:extLst>
          </p:cNvPr>
          <p:cNvSpPr/>
          <p:nvPr/>
        </p:nvSpPr>
        <p:spPr>
          <a:xfrm>
            <a:off x="1" y="-109603"/>
            <a:ext cx="12192000" cy="696760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C2EB6ADF-6871-0F7B-4B76-D7A5FD911F55}"/>
              </a:ext>
            </a:extLst>
          </p:cNvPr>
          <p:cNvSpPr/>
          <p:nvPr/>
        </p:nvSpPr>
        <p:spPr>
          <a:xfrm>
            <a:off x="548640" y="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Analysis</a:t>
            </a:r>
            <a:endParaRPr lang="en-US" sz="2800" dirty="0"/>
          </a:p>
        </p:txBody>
      </p:sp>
      <p:sp>
        <p:nvSpPr>
          <p:cNvPr id="29" name="Text 26">
            <a:extLst>
              <a:ext uri="{FF2B5EF4-FFF2-40B4-BE49-F238E27FC236}">
                <a16:creationId xmlns:a16="http://schemas.microsoft.com/office/drawing/2014/main" id="{D653CAA8-69E3-B2BC-4D0D-73B4FA15F3F1}"/>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9CD908C8-EB00-12FF-EA15-354DE28820A7}"/>
              </a:ext>
            </a:extLst>
          </p:cNvPr>
          <p:cNvSpPr/>
          <p:nvPr/>
        </p:nvSpPr>
        <p:spPr>
          <a:xfrm>
            <a:off x="548640" y="448320"/>
            <a:ext cx="715652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8. </a:t>
            </a:r>
            <a:r>
              <a:rPr lang="fi-FI" sz="1600" b="1" dirty="0">
                <a:solidFill>
                  <a:srgbClr val="F2545B"/>
                </a:solidFill>
                <a:latin typeface="Cambria" pitchFamily="34" charset="0"/>
                <a:ea typeface="Cambria" pitchFamily="34" charset="-122"/>
                <a:cs typeface="Cambria" pitchFamily="34" charset="-120"/>
              </a:rPr>
              <a:t>Kondisi Bisnis Saat Ini - Ringkasan KPI Utama</a:t>
            </a:r>
            <a:endParaRPr lang="en-US" sz="1600" dirty="0"/>
          </a:p>
        </p:txBody>
      </p:sp>
      <p:sp>
        <p:nvSpPr>
          <p:cNvPr id="17" name="Shape 5">
            <a:extLst>
              <a:ext uri="{FF2B5EF4-FFF2-40B4-BE49-F238E27FC236}">
                <a16:creationId xmlns:a16="http://schemas.microsoft.com/office/drawing/2014/main" id="{0B5D30CF-5B1E-A30C-9B76-97B20C93922A}"/>
              </a:ext>
            </a:extLst>
          </p:cNvPr>
          <p:cNvSpPr/>
          <p:nvPr/>
        </p:nvSpPr>
        <p:spPr>
          <a:xfrm>
            <a:off x="0" y="3236542"/>
            <a:ext cx="11835333" cy="325569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1DEC1489-7B8E-8878-78A6-93B56966E0AA}"/>
              </a:ext>
            </a:extLst>
          </p:cNvPr>
          <p:cNvSpPr/>
          <p:nvPr/>
        </p:nvSpPr>
        <p:spPr>
          <a:xfrm>
            <a:off x="232850" y="3370861"/>
            <a:ext cx="5174955" cy="43632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7F7BC84B-4E04-DE44-BEE2-DC5C95EBDF87}"/>
              </a:ext>
            </a:extLst>
          </p:cNvPr>
          <p:cNvSpPr/>
          <p:nvPr/>
        </p:nvSpPr>
        <p:spPr>
          <a:xfrm>
            <a:off x="111827" y="3807182"/>
            <a:ext cx="11622668" cy="2477243"/>
          </a:xfrm>
          <a:prstGeom prst="rect">
            <a:avLst/>
          </a:prstGeom>
          <a:noFill/>
          <a:ln/>
        </p:spPr>
        <p:txBody>
          <a:bodyPr wrap="square" rtlCol="0" anchor="t"/>
          <a:lstStyle/>
          <a:p>
            <a:pPr marL="0" indent="0">
              <a:buNone/>
            </a:pPr>
            <a:r>
              <a:rPr lang="en-US" sz="2000" dirty="0">
                <a:solidFill>
                  <a:srgbClr val="444444"/>
                </a:solidFill>
                <a:latin typeface="Calibri" pitchFamily="34" charset="0"/>
                <a:ea typeface="Calibri" pitchFamily="34" charset="-122"/>
                <a:cs typeface="Calibri" pitchFamily="34" charset="-120"/>
              </a:rPr>
              <a:t>Dari 14.963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rata-rata </a:t>
            </a:r>
            <a:r>
              <a:rPr lang="en-US" sz="2000" dirty="0" err="1">
                <a:solidFill>
                  <a:srgbClr val="444444"/>
                </a:solidFill>
                <a:latin typeface="Calibri" pitchFamily="34" charset="0"/>
                <a:ea typeface="Calibri" pitchFamily="34" charset="-122"/>
                <a:cs typeface="Calibri" pitchFamily="34" charset="-120"/>
              </a:rPr>
              <a:t>belanja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pelanggan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tergolong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ringkas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yakni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mendekati</a:t>
            </a:r>
            <a:r>
              <a:rPr lang="en-US" sz="2000" dirty="0">
                <a:solidFill>
                  <a:srgbClr val="444444"/>
                </a:solidFill>
                <a:latin typeface="Calibri" pitchFamily="34" charset="0"/>
                <a:ea typeface="Calibri" pitchFamily="34" charset="-122"/>
                <a:cs typeface="Calibri" pitchFamily="34" charset="-120"/>
              </a:rPr>
              <a:t> 3 </a:t>
            </a:r>
            <a:r>
              <a:rPr lang="en-US" sz="2000" dirty="0" err="1">
                <a:solidFill>
                  <a:srgbClr val="444444"/>
                </a:solidFill>
                <a:latin typeface="Calibri" pitchFamily="34" charset="0"/>
                <a:ea typeface="Calibri" pitchFamily="34" charset="-122"/>
                <a:cs typeface="Calibri" pitchFamily="34" charset="-120"/>
              </a:rPr>
              <a:t>barang</a:t>
            </a:r>
            <a:r>
              <a:rPr lang="en-US" sz="2000" dirty="0">
                <a:solidFill>
                  <a:srgbClr val="444444"/>
                </a:solidFill>
                <a:latin typeface="Calibri" pitchFamily="34" charset="0"/>
                <a:ea typeface="Calibri" pitchFamily="34" charset="-122"/>
                <a:cs typeface="Calibri" pitchFamily="34" charset="-120"/>
              </a:rPr>
              <a:t> per nota.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meningkatkan</a:t>
            </a:r>
            <a:r>
              <a:rPr lang="en-US" sz="2000" dirty="0">
                <a:solidFill>
                  <a:srgbClr val="444444"/>
                </a:solidFill>
                <a:latin typeface="Calibri" pitchFamily="34" charset="0"/>
                <a:ea typeface="Calibri" pitchFamily="34" charset="-122"/>
                <a:cs typeface="Calibri" pitchFamily="34" charset="-120"/>
              </a:rPr>
              <a:t> volume </a:t>
            </a:r>
            <a:r>
              <a:rPr lang="en-US" sz="2000" dirty="0" err="1">
                <a:solidFill>
                  <a:srgbClr val="444444"/>
                </a:solidFill>
                <a:latin typeface="Calibri" pitchFamily="34" charset="0"/>
                <a:ea typeface="Calibri" pitchFamily="34" charset="-122"/>
                <a:cs typeface="Calibri" pitchFamily="34" charset="-120"/>
              </a:rPr>
              <a:t>keranjang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disarankan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pemanfaatan</a:t>
            </a:r>
            <a:r>
              <a:rPr lang="en-US" sz="2000" dirty="0">
                <a:solidFill>
                  <a:srgbClr val="444444"/>
                </a:solidFill>
                <a:latin typeface="Calibri" pitchFamily="34" charset="0"/>
                <a:ea typeface="Calibri" pitchFamily="34" charset="-122"/>
                <a:cs typeface="Calibri" pitchFamily="34" charset="-120"/>
              </a:rPr>
              <a:t> 110 </a:t>
            </a:r>
            <a:r>
              <a:rPr lang="en-US" sz="2000" dirty="0" err="1">
                <a:solidFill>
                  <a:srgbClr val="444444"/>
                </a:solidFill>
                <a:latin typeface="Calibri" pitchFamily="34" charset="0"/>
                <a:ea typeface="Calibri" pitchFamily="34" charset="-122"/>
                <a:cs typeface="Calibri" pitchFamily="34" charset="-120"/>
              </a:rPr>
              <a:t>aturan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asosiasi</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ditemukan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melalui</a:t>
            </a:r>
            <a:r>
              <a:rPr lang="en-US" sz="2000" dirty="0">
                <a:solidFill>
                  <a:srgbClr val="444444"/>
                </a:solidFill>
                <a:latin typeface="Calibri" pitchFamily="34" charset="0"/>
                <a:ea typeface="Calibri" pitchFamily="34" charset="-122"/>
                <a:cs typeface="Calibri" pitchFamily="34" charset="-120"/>
              </a:rPr>
              <a:t> dua </a:t>
            </a:r>
            <a:r>
              <a:rPr lang="en-US" sz="2000" dirty="0" err="1">
                <a:solidFill>
                  <a:srgbClr val="444444"/>
                </a:solidFill>
                <a:latin typeface="Calibri" pitchFamily="34" charset="0"/>
                <a:ea typeface="Calibri" pitchFamily="34" charset="-122"/>
                <a:cs typeface="Calibri" pitchFamily="34" charset="-120"/>
              </a:rPr>
              <a:t>pendekatan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taktis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Pertama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tim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operasional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dapat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merapatkan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penempatan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rak</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pasangan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bernilai</a:t>
            </a:r>
            <a:r>
              <a:rPr lang="en-US" sz="2000" dirty="0">
                <a:solidFill>
                  <a:srgbClr val="444444"/>
                </a:solidFill>
                <a:latin typeface="Calibri" pitchFamily="34" charset="0"/>
                <a:ea typeface="Calibri" pitchFamily="34" charset="-122"/>
                <a:cs typeface="Calibri" pitchFamily="34" charset="-120"/>
              </a:rPr>
              <a:t> Confidence </a:t>
            </a:r>
            <a:r>
              <a:rPr lang="en-US" sz="2000" dirty="0" err="1">
                <a:solidFill>
                  <a:srgbClr val="444444"/>
                </a:solidFill>
                <a:latin typeface="Calibri" pitchFamily="34" charset="0"/>
                <a:ea typeface="Calibri" pitchFamily="34" charset="-122"/>
                <a:cs typeface="Calibri" pitchFamily="34" charset="-120"/>
              </a:rPr>
              <a:t>tertinggi</a:t>
            </a:r>
            <a:r>
              <a:rPr lang="en-US" sz="2000" dirty="0">
                <a:solidFill>
                  <a:srgbClr val="444444"/>
                </a:solidFill>
                <a:latin typeface="Calibri" pitchFamily="34" charset="0"/>
                <a:ea typeface="Calibri" pitchFamily="34" charset="-122"/>
                <a:cs typeface="Calibri" pitchFamily="34" charset="-120"/>
              </a:rPr>
              <a:t> guna </a:t>
            </a:r>
            <a:r>
              <a:rPr lang="en-US" sz="2000" dirty="0" err="1">
                <a:solidFill>
                  <a:srgbClr val="444444"/>
                </a:solidFill>
                <a:latin typeface="Calibri" pitchFamily="34" charset="0"/>
                <a:ea typeface="Calibri" pitchFamily="34" charset="-122"/>
                <a:cs typeface="Calibri" pitchFamily="34" charset="-120"/>
              </a:rPr>
              <a:t>memicu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pembelian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impulsif</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Kedua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tim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pemasaran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disarankan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merancang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paket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promosi</a:t>
            </a:r>
            <a:r>
              <a:rPr lang="en-US" sz="2000" dirty="0">
                <a:solidFill>
                  <a:srgbClr val="444444"/>
                </a:solidFill>
                <a:latin typeface="Calibri" pitchFamily="34" charset="0"/>
                <a:ea typeface="Calibri" pitchFamily="34" charset="-122"/>
                <a:cs typeface="Calibri" pitchFamily="34" charset="-120"/>
              </a:rPr>
              <a:t> (bundling) </a:t>
            </a:r>
            <a:r>
              <a:rPr lang="en-US" sz="2000" dirty="0" err="1">
                <a:solidFill>
                  <a:srgbClr val="444444"/>
                </a:solidFill>
                <a:latin typeface="Calibri" pitchFamily="34" charset="0"/>
                <a:ea typeface="Calibri" pitchFamily="34" charset="-122"/>
                <a:cs typeface="Calibri" pitchFamily="34" charset="-120"/>
              </a:rPr>
              <a:t>berpedoman</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kombinasi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nilai</a:t>
            </a:r>
            <a:r>
              <a:rPr lang="en-US" sz="2000" dirty="0">
                <a:solidFill>
                  <a:srgbClr val="444444"/>
                </a:solidFill>
                <a:latin typeface="Calibri" pitchFamily="34" charset="0"/>
                <a:ea typeface="Calibri" pitchFamily="34" charset="-122"/>
                <a:cs typeface="Calibri" pitchFamily="34" charset="-120"/>
              </a:rPr>
              <a:t> Lift </a:t>
            </a:r>
            <a:r>
              <a:rPr lang="en-US" sz="2000" dirty="0" err="1">
                <a:solidFill>
                  <a:srgbClr val="444444"/>
                </a:solidFill>
                <a:latin typeface="Calibri" pitchFamily="34" charset="0"/>
                <a:ea typeface="Calibri" pitchFamily="34" charset="-122"/>
                <a:cs typeface="Calibri" pitchFamily="34" charset="-120"/>
              </a:rPr>
              <a:t>tinggi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hingga</a:t>
            </a:r>
            <a:r>
              <a:rPr lang="en-US" sz="2000" dirty="0">
                <a:solidFill>
                  <a:srgbClr val="444444"/>
                </a:solidFill>
                <a:latin typeface="Calibri" pitchFamily="34" charset="0"/>
                <a:ea typeface="Calibri" pitchFamily="34" charset="-122"/>
                <a:cs typeface="Calibri" pitchFamily="34" charset="-120"/>
              </a:rPr>
              <a:t> 2,18) agar </a:t>
            </a:r>
            <a:r>
              <a:rPr lang="en-US" sz="2000" dirty="0" err="1">
                <a:solidFill>
                  <a:srgbClr val="444444"/>
                </a:solidFill>
                <a:latin typeface="Calibri" pitchFamily="34" charset="0"/>
                <a:ea typeface="Calibri" pitchFamily="34" charset="-122"/>
                <a:cs typeface="Calibri" pitchFamily="34" charset="-120"/>
              </a:rPr>
              <a:t>penawaran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lebih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tepat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sasaran</a:t>
            </a:r>
            <a:r>
              <a:rPr lang="en-US" sz="2000" dirty="0">
                <a:solidFill>
                  <a:srgbClr val="444444"/>
                </a:solidFill>
                <a:latin typeface="Calibri" pitchFamily="34" charset="0"/>
                <a:ea typeface="Calibri" pitchFamily="34" charset="-122"/>
                <a:cs typeface="Calibri" pitchFamily="34" charset="-120"/>
              </a:rPr>
              <a:t>.</a:t>
            </a:r>
          </a:p>
        </p:txBody>
      </p:sp>
      <p:pic>
        <p:nvPicPr>
          <p:cNvPr id="4" name="Picture 3">
            <a:extLst>
              <a:ext uri="{FF2B5EF4-FFF2-40B4-BE49-F238E27FC236}">
                <a16:creationId xmlns:a16="http://schemas.microsoft.com/office/drawing/2014/main" id="{35CD5F8B-D4D4-3CFC-D82B-E1BE84AF10D1}"/>
              </a:ext>
            </a:extLst>
          </p:cNvPr>
          <p:cNvPicPr>
            <a:picLocks noChangeAspect="1"/>
          </p:cNvPicPr>
          <p:nvPr/>
        </p:nvPicPr>
        <p:blipFill>
          <a:blip r:embed="rId3"/>
          <a:stretch>
            <a:fillRect/>
          </a:stretch>
        </p:blipFill>
        <p:spPr>
          <a:xfrm>
            <a:off x="232849" y="1079366"/>
            <a:ext cx="11602483" cy="1764966"/>
          </a:xfrm>
          <a:prstGeom prst="rect">
            <a:avLst/>
          </a:prstGeom>
        </p:spPr>
      </p:pic>
    </p:spTree>
    <p:extLst>
      <p:ext uri="{BB962C8B-B14F-4D97-AF65-F5344CB8AC3E}">
        <p14:creationId xmlns:p14="http://schemas.microsoft.com/office/powerpoint/2010/main" val="343556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D4291-D59E-879D-D614-B239CAA960CA}"/>
            </a:ext>
          </a:extLst>
        </p:cNvPr>
        <p:cNvGrpSpPr/>
        <p:nvPr/>
      </p:nvGrpSpPr>
      <p:grpSpPr>
        <a:xfrm>
          <a:off x="0" y="0"/>
          <a:ext cx="0" cy="0"/>
          <a:chOff x="0" y="0"/>
          <a:chExt cx="0" cy="0"/>
        </a:xfrm>
      </p:grpSpPr>
      <p:sp>
        <p:nvSpPr>
          <p:cNvPr id="4" name="Shape 3">
            <a:extLst>
              <a:ext uri="{FF2B5EF4-FFF2-40B4-BE49-F238E27FC236}">
                <a16:creationId xmlns:a16="http://schemas.microsoft.com/office/drawing/2014/main" id="{9EC7EB5A-B1BD-43A3-8318-1DDF917A76CF}"/>
              </a:ext>
            </a:extLst>
          </p:cNvPr>
          <p:cNvSpPr/>
          <p:nvPr/>
        </p:nvSpPr>
        <p:spPr>
          <a:xfrm>
            <a:off x="-134555" y="0"/>
            <a:ext cx="12670971" cy="6858000"/>
          </a:xfrm>
          <a:prstGeom prst="roundRect">
            <a:avLst>
              <a:gd name="adj" fmla="val 6250"/>
            </a:avLst>
          </a:prstGeom>
          <a:solidFill>
            <a:srgbClr val="1E2761"/>
          </a:solidFill>
          <a:ln/>
        </p:spPr>
      </p:sp>
      <p:sp>
        <p:nvSpPr>
          <p:cNvPr id="21" name="Text 18">
            <a:extLst>
              <a:ext uri="{FF2B5EF4-FFF2-40B4-BE49-F238E27FC236}">
                <a16:creationId xmlns:a16="http://schemas.microsoft.com/office/drawing/2014/main" id="{E9816846-435E-23AF-DF36-78E49EC05301}"/>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7</a:t>
            </a:r>
            <a:endParaRPr lang="en-US" sz="850" dirty="0"/>
          </a:p>
        </p:txBody>
      </p:sp>
      <p:sp>
        <p:nvSpPr>
          <p:cNvPr id="12" name="Text 0">
            <a:extLst>
              <a:ext uri="{FF2B5EF4-FFF2-40B4-BE49-F238E27FC236}">
                <a16:creationId xmlns:a16="http://schemas.microsoft.com/office/drawing/2014/main" id="{3C68D0DA-42A3-8699-F9FB-6EC7D9F5666B}"/>
              </a:ext>
            </a:extLst>
          </p:cNvPr>
          <p:cNvSpPr/>
          <p:nvPr/>
        </p:nvSpPr>
        <p:spPr>
          <a:xfrm>
            <a:off x="4229099" y="350330"/>
            <a:ext cx="7276795" cy="4583620"/>
          </a:xfrm>
          <a:prstGeom prst="rect">
            <a:avLst/>
          </a:prstGeom>
          <a:noFill/>
          <a:ln/>
        </p:spPr>
        <p:txBody>
          <a:bodyPr wrap="square" rtlCol="0" anchor="ctr"/>
          <a:lstStyle/>
          <a:p>
            <a:pPr algn="ctr"/>
            <a:r>
              <a:rPr lang="en-ID" sz="2800" dirty="0"/>
              <a:t>"Karena rata-rata </a:t>
            </a:r>
            <a:r>
              <a:rPr lang="en-ID" sz="2800" dirty="0" err="1"/>
              <a:t>belanja</a:t>
            </a:r>
            <a:r>
              <a:rPr lang="en-ID" sz="2800" dirty="0"/>
              <a:t> </a:t>
            </a:r>
            <a:r>
              <a:rPr lang="en-ID" sz="2800" dirty="0" err="1"/>
              <a:t>saat</a:t>
            </a:r>
            <a:r>
              <a:rPr lang="en-ID" sz="2800" dirty="0"/>
              <a:t> </a:t>
            </a:r>
            <a:r>
              <a:rPr lang="en-ID" sz="2800" dirty="0" err="1"/>
              <a:t>ini</a:t>
            </a:r>
            <a:r>
              <a:rPr lang="en-ID" sz="2800" dirty="0"/>
              <a:t> </a:t>
            </a:r>
            <a:r>
              <a:rPr lang="en-ID" sz="2800" dirty="0" err="1"/>
              <a:t>tertahan</a:t>
            </a:r>
            <a:r>
              <a:rPr lang="en-ID" sz="2800" dirty="0"/>
              <a:t> di </a:t>
            </a:r>
            <a:r>
              <a:rPr lang="en-ID" sz="2800" b="1" dirty="0"/>
              <a:t>2,98 </a:t>
            </a:r>
            <a:r>
              <a:rPr lang="en-ID" sz="2800" b="1" dirty="0" err="1"/>
              <a:t>barang</a:t>
            </a:r>
            <a:r>
              <a:rPr lang="en-ID" sz="2800" dirty="0"/>
              <a:t>, </a:t>
            </a:r>
            <a:r>
              <a:rPr lang="en-ID" sz="2800" dirty="0" err="1"/>
              <a:t>mari</a:t>
            </a:r>
            <a:r>
              <a:rPr lang="en-ID" sz="2800" dirty="0"/>
              <a:t> </a:t>
            </a:r>
            <a:r>
              <a:rPr lang="en-ID" sz="2800" dirty="0" err="1"/>
              <a:t>kita</a:t>
            </a:r>
            <a:r>
              <a:rPr lang="en-ID" sz="2800" dirty="0"/>
              <a:t> </a:t>
            </a:r>
            <a:r>
              <a:rPr lang="en-ID" sz="2800" dirty="0" err="1"/>
              <a:t>lihat</a:t>
            </a:r>
            <a:r>
              <a:rPr lang="en-ID" sz="2800" dirty="0"/>
              <a:t> </a:t>
            </a:r>
            <a:r>
              <a:rPr lang="en-ID" sz="2800" dirty="0" err="1"/>
              <a:t>kombinasi</a:t>
            </a:r>
            <a:r>
              <a:rPr lang="en-ID" sz="2800" dirty="0"/>
              <a:t> </a:t>
            </a:r>
            <a:r>
              <a:rPr lang="en-ID" sz="2800" dirty="0" err="1"/>
              <a:t>produk</a:t>
            </a:r>
            <a:r>
              <a:rPr lang="en-ID" sz="2800" dirty="0"/>
              <a:t> mana yang paling </a:t>
            </a:r>
            <a:r>
              <a:rPr lang="en-ID" sz="2800" dirty="0" err="1"/>
              <a:t>potensial</a:t>
            </a:r>
            <a:r>
              <a:rPr lang="en-ID" sz="2800" dirty="0"/>
              <a:t> </a:t>
            </a:r>
            <a:r>
              <a:rPr lang="en-ID" sz="2800" dirty="0" err="1"/>
              <a:t>untuk</a:t>
            </a:r>
            <a:r>
              <a:rPr lang="en-ID" sz="2800" dirty="0"/>
              <a:t> </a:t>
            </a:r>
            <a:r>
              <a:rPr lang="en-ID" sz="2800" dirty="0" err="1"/>
              <a:t>didorong</a:t>
            </a:r>
            <a:r>
              <a:rPr lang="en-ID" sz="2800" dirty="0"/>
              <a:t>."</a:t>
            </a:r>
            <a:endParaRPr lang="en-US" sz="2800" dirty="0">
              <a:solidFill>
                <a:schemeClr val="tx2">
                  <a:lumMod val="50000"/>
                </a:schemeClr>
              </a:solidFill>
            </a:endParaRPr>
          </a:p>
        </p:txBody>
      </p:sp>
      <p:pic>
        <p:nvPicPr>
          <p:cNvPr id="3" name="Picture 2" descr="shopping cart png PNG &amp; clipart images | Citypng">
            <a:extLst>
              <a:ext uri="{FF2B5EF4-FFF2-40B4-BE49-F238E27FC236}">
                <a16:creationId xmlns:a16="http://schemas.microsoft.com/office/drawing/2014/main" id="{53936F48-9053-B189-D780-EC494A036D7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134555" y="3326320"/>
            <a:ext cx="3867150" cy="3867150"/>
          </a:xfrm>
          <a:prstGeom prst="rect">
            <a:avLst/>
          </a:prstGeom>
        </p:spPr>
      </p:pic>
    </p:spTree>
    <p:extLst>
      <p:ext uri="{BB962C8B-B14F-4D97-AF65-F5344CB8AC3E}">
        <p14:creationId xmlns:p14="http://schemas.microsoft.com/office/powerpoint/2010/main" val="2435481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36B34-54FA-B7D7-21EB-AE3655143931}"/>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E7794C30-5DCD-9B25-9E31-21953E775D02}"/>
              </a:ext>
            </a:extLst>
          </p:cNvPr>
          <p:cNvSpPr/>
          <p:nvPr/>
        </p:nvSpPr>
        <p:spPr>
          <a:xfrm>
            <a:off x="-157547" y="-109603"/>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80A5A43A-81E3-0B69-D94A-F8FD03B5EB60}"/>
              </a:ext>
            </a:extLst>
          </p:cNvPr>
          <p:cNvSpPr/>
          <p:nvPr/>
        </p:nvSpPr>
        <p:spPr>
          <a:xfrm>
            <a:off x="548640" y="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Analysis</a:t>
            </a:r>
            <a:endParaRPr lang="en-US" sz="2800" dirty="0"/>
          </a:p>
        </p:txBody>
      </p:sp>
      <p:sp>
        <p:nvSpPr>
          <p:cNvPr id="29" name="Text 26">
            <a:extLst>
              <a:ext uri="{FF2B5EF4-FFF2-40B4-BE49-F238E27FC236}">
                <a16:creationId xmlns:a16="http://schemas.microsoft.com/office/drawing/2014/main" id="{88DF78AD-3780-F285-DD61-1CDFFE977298}"/>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389AB2AD-2375-85D7-B4A2-919DCB9BADFB}"/>
              </a:ext>
            </a:extLst>
          </p:cNvPr>
          <p:cNvSpPr/>
          <p:nvPr/>
        </p:nvSpPr>
        <p:spPr>
          <a:xfrm>
            <a:off x="548640" y="448320"/>
            <a:ext cx="715652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9. Top 10 </a:t>
            </a:r>
            <a:r>
              <a:rPr lang="en-US" sz="1600" b="1" dirty="0" err="1">
                <a:solidFill>
                  <a:srgbClr val="F2545B"/>
                </a:solidFill>
                <a:latin typeface="Cambria" pitchFamily="34" charset="0"/>
                <a:ea typeface="Cambria" pitchFamily="34" charset="-122"/>
                <a:cs typeface="Cambria" pitchFamily="34" charset="-120"/>
              </a:rPr>
              <a:t>Kombinasi</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Produk</a:t>
            </a:r>
            <a:r>
              <a:rPr lang="en-US" sz="1600" b="1" dirty="0">
                <a:solidFill>
                  <a:srgbClr val="F2545B"/>
                </a:solidFill>
                <a:latin typeface="Cambria" pitchFamily="34" charset="0"/>
                <a:ea typeface="Cambria" pitchFamily="34" charset="-122"/>
                <a:cs typeface="Cambria" pitchFamily="34" charset="-120"/>
              </a:rPr>
              <a:t> Paling </a:t>
            </a:r>
            <a:r>
              <a:rPr lang="en-US" sz="1600" b="1" dirty="0" err="1">
                <a:solidFill>
                  <a:srgbClr val="F2545B"/>
                </a:solidFill>
                <a:latin typeface="Cambria" pitchFamily="34" charset="0"/>
                <a:ea typeface="Cambria" pitchFamily="34" charset="-122"/>
                <a:cs typeface="Cambria" pitchFamily="34" charset="-120"/>
              </a:rPr>
              <a:t>Menguntungkan</a:t>
            </a:r>
            <a:endParaRPr lang="en-US" sz="1600" dirty="0"/>
          </a:p>
        </p:txBody>
      </p:sp>
      <p:sp>
        <p:nvSpPr>
          <p:cNvPr id="17" name="Shape 5">
            <a:extLst>
              <a:ext uri="{FF2B5EF4-FFF2-40B4-BE49-F238E27FC236}">
                <a16:creationId xmlns:a16="http://schemas.microsoft.com/office/drawing/2014/main" id="{DE31D3A8-3D52-C950-B3C4-46EBF404DDCD}"/>
              </a:ext>
            </a:extLst>
          </p:cNvPr>
          <p:cNvSpPr/>
          <p:nvPr/>
        </p:nvSpPr>
        <p:spPr>
          <a:xfrm>
            <a:off x="0" y="4811242"/>
            <a:ext cx="11835333" cy="1772700"/>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4141AE67-B30F-A89E-9525-F356C18BAEFF}"/>
              </a:ext>
            </a:extLst>
          </p:cNvPr>
          <p:cNvSpPr/>
          <p:nvPr/>
        </p:nvSpPr>
        <p:spPr>
          <a:xfrm>
            <a:off x="232850" y="4720689"/>
            <a:ext cx="5174955" cy="43632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12B3A2B9-D8BF-22F7-2FA9-E9E041D973F7}"/>
              </a:ext>
            </a:extLst>
          </p:cNvPr>
          <p:cNvSpPr/>
          <p:nvPr/>
        </p:nvSpPr>
        <p:spPr>
          <a:xfrm>
            <a:off x="111827" y="5157010"/>
            <a:ext cx="11622668" cy="1128563"/>
          </a:xfrm>
          <a:prstGeom prst="rect">
            <a:avLst/>
          </a:prstGeom>
          <a:noFill/>
          <a:ln/>
        </p:spPr>
        <p:txBody>
          <a:bodyPr wrap="square" rtlCol="0" anchor="t"/>
          <a:lstStyle/>
          <a:p>
            <a:pPr marL="0" indent="0">
              <a:buNone/>
            </a:pPr>
            <a:r>
              <a:rPr lang="en-US" sz="2000" dirty="0" err="1">
                <a:solidFill>
                  <a:srgbClr val="444444"/>
                </a:solidFill>
                <a:latin typeface="Calibri" pitchFamily="34" charset="0"/>
                <a:ea typeface="Calibri" pitchFamily="34" charset="-122"/>
                <a:cs typeface="Calibri" pitchFamily="34" charset="-120"/>
              </a:rPr>
              <a:t>Kombinasi</a:t>
            </a:r>
            <a:r>
              <a:rPr lang="en-US" sz="2000" dirty="0">
                <a:solidFill>
                  <a:srgbClr val="444444"/>
                </a:solidFill>
                <a:latin typeface="Calibri" pitchFamily="34" charset="0"/>
                <a:ea typeface="Calibri" pitchFamily="34" charset="-122"/>
                <a:cs typeface="Calibri" pitchFamily="34" charset="-120"/>
              </a:rPr>
              <a:t> sausage + yogurt, whole milk </a:t>
            </a:r>
            <a:r>
              <a:rPr lang="en-US" sz="2000" dirty="0" err="1">
                <a:solidFill>
                  <a:srgbClr val="444444"/>
                </a:solidFill>
                <a:latin typeface="Calibri" pitchFamily="34" charset="0"/>
                <a:ea typeface="Calibri" pitchFamily="34" charset="-122"/>
                <a:cs typeface="Calibri" pitchFamily="34" charset="-120"/>
              </a:rPr>
              <a:t>mencatatkan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nilai</a:t>
            </a:r>
            <a:r>
              <a:rPr lang="en-US" sz="2000" dirty="0">
                <a:solidFill>
                  <a:srgbClr val="444444"/>
                </a:solidFill>
                <a:latin typeface="Calibri" pitchFamily="34" charset="0"/>
                <a:ea typeface="Calibri" pitchFamily="34" charset="-122"/>
                <a:cs typeface="Calibri" pitchFamily="34" charset="-120"/>
              </a:rPr>
              <a:t> Lift </a:t>
            </a:r>
            <a:r>
              <a:rPr lang="en-US" sz="2000" dirty="0" err="1">
                <a:solidFill>
                  <a:srgbClr val="444444"/>
                </a:solidFill>
                <a:latin typeface="Calibri" pitchFamily="34" charset="0"/>
                <a:ea typeface="Calibri" pitchFamily="34" charset="-122"/>
                <a:cs typeface="Calibri" pitchFamily="34" charset="-120"/>
              </a:rPr>
              <a:t>tertinggi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sebesar</a:t>
            </a:r>
            <a:r>
              <a:rPr lang="en-US" sz="2000" dirty="0">
                <a:solidFill>
                  <a:srgbClr val="444444"/>
                </a:solidFill>
                <a:latin typeface="Calibri" pitchFamily="34" charset="0"/>
                <a:ea typeface="Calibri" pitchFamily="34" charset="-122"/>
                <a:cs typeface="Calibri" pitchFamily="34" charset="-120"/>
              </a:rPr>
              <a:t> 2,18, yang </a:t>
            </a:r>
            <a:r>
              <a:rPr lang="en-US" sz="2000" dirty="0" err="1">
                <a:solidFill>
                  <a:srgbClr val="444444"/>
                </a:solidFill>
                <a:latin typeface="Calibri" pitchFamily="34" charset="0"/>
                <a:ea typeface="Calibri" pitchFamily="34" charset="-122"/>
                <a:cs typeface="Calibri" pitchFamily="34" charset="-120"/>
              </a:rPr>
              <a:t>menandakan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adanya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korelasi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pembelian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terkuat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dari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pelanggan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Berdasarkan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temuan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manajemen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dapat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mempertimbangkan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memfokuskan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alokasi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anggaran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promosi</a:t>
            </a:r>
            <a:r>
              <a:rPr lang="en-US" sz="2000" dirty="0">
                <a:solidFill>
                  <a:srgbClr val="444444"/>
                </a:solidFill>
                <a:latin typeface="Calibri" pitchFamily="34" charset="0"/>
                <a:ea typeface="Calibri" pitchFamily="34" charset="-122"/>
                <a:cs typeface="Calibri" pitchFamily="34" charset="-120"/>
              </a:rPr>
              <a:t> dan program bundling pada </a:t>
            </a:r>
            <a:r>
              <a:rPr lang="en-US" sz="2000" dirty="0" err="1">
                <a:solidFill>
                  <a:srgbClr val="444444"/>
                </a:solidFill>
                <a:latin typeface="Calibri" pitchFamily="34" charset="0"/>
                <a:ea typeface="Calibri" pitchFamily="34" charset="-122"/>
                <a:cs typeface="Calibri" pitchFamily="34" charset="-120"/>
              </a:rPr>
              <a:t>tiga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pasangan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teratas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tersebut</a:t>
            </a:r>
            <a:r>
              <a:rPr lang="en-US" sz="2000" dirty="0">
                <a:solidFill>
                  <a:srgbClr val="444444"/>
                </a:solidFill>
                <a:latin typeface="Calibri" pitchFamily="34" charset="0"/>
                <a:ea typeface="Calibri" pitchFamily="34" charset="-122"/>
                <a:cs typeface="Calibri" pitchFamily="34" charset="-120"/>
              </a:rPr>
              <a:t> guna </a:t>
            </a:r>
            <a:r>
              <a:rPr lang="en-US" sz="2000" dirty="0" err="1">
                <a:solidFill>
                  <a:srgbClr val="444444"/>
                </a:solidFill>
                <a:latin typeface="Calibri" pitchFamily="34" charset="0"/>
                <a:ea typeface="Calibri" pitchFamily="34" charset="-122"/>
                <a:cs typeface="Calibri" pitchFamily="34" charset="-120"/>
              </a:rPr>
              <a:t>mengoptimalkan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potensi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konversi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penjualan</a:t>
            </a:r>
            <a:r>
              <a:rPr lang="en-US" sz="2000" dirty="0">
                <a:solidFill>
                  <a:srgbClr val="444444"/>
                </a:solidFill>
                <a:latin typeface="Calibri" pitchFamily="34" charset="0"/>
                <a:ea typeface="Calibri" pitchFamily="34" charset="-122"/>
                <a:cs typeface="Calibri" pitchFamily="34" charset="-120"/>
              </a:rPr>
              <a:t>.</a:t>
            </a:r>
          </a:p>
        </p:txBody>
      </p:sp>
      <p:pic>
        <p:nvPicPr>
          <p:cNvPr id="5" name="Picture 4">
            <a:extLst>
              <a:ext uri="{FF2B5EF4-FFF2-40B4-BE49-F238E27FC236}">
                <a16:creationId xmlns:a16="http://schemas.microsoft.com/office/drawing/2014/main" id="{E449FDE4-F832-88E0-69AA-27831A13F9BA}"/>
              </a:ext>
            </a:extLst>
          </p:cNvPr>
          <p:cNvPicPr>
            <a:picLocks noChangeAspect="1"/>
          </p:cNvPicPr>
          <p:nvPr/>
        </p:nvPicPr>
        <p:blipFill>
          <a:blip r:embed="rId3"/>
          <a:stretch>
            <a:fillRect/>
          </a:stretch>
        </p:blipFill>
        <p:spPr>
          <a:xfrm>
            <a:off x="1610187" y="975193"/>
            <a:ext cx="8321080" cy="3500047"/>
          </a:xfrm>
          <a:prstGeom prst="rect">
            <a:avLst/>
          </a:prstGeom>
        </p:spPr>
      </p:pic>
    </p:spTree>
    <p:extLst>
      <p:ext uri="{BB962C8B-B14F-4D97-AF65-F5344CB8AC3E}">
        <p14:creationId xmlns:p14="http://schemas.microsoft.com/office/powerpoint/2010/main" val="3767873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427E9-C980-94DC-1AD1-2189388CE72E}"/>
            </a:ext>
          </a:extLst>
        </p:cNvPr>
        <p:cNvGrpSpPr/>
        <p:nvPr/>
      </p:nvGrpSpPr>
      <p:grpSpPr>
        <a:xfrm>
          <a:off x="0" y="0"/>
          <a:ext cx="0" cy="0"/>
          <a:chOff x="0" y="0"/>
          <a:chExt cx="0" cy="0"/>
        </a:xfrm>
      </p:grpSpPr>
      <p:sp>
        <p:nvSpPr>
          <p:cNvPr id="4" name="Shape 3">
            <a:extLst>
              <a:ext uri="{FF2B5EF4-FFF2-40B4-BE49-F238E27FC236}">
                <a16:creationId xmlns:a16="http://schemas.microsoft.com/office/drawing/2014/main" id="{AEE52D3C-C13D-772C-83A4-5686B1CCBBFC}"/>
              </a:ext>
            </a:extLst>
          </p:cNvPr>
          <p:cNvSpPr/>
          <p:nvPr/>
        </p:nvSpPr>
        <p:spPr>
          <a:xfrm>
            <a:off x="-134555" y="0"/>
            <a:ext cx="12670971" cy="6858000"/>
          </a:xfrm>
          <a:prstGeom prst="roundRect">
            <a:avLst>
              <a:gd name="adj" fmla="val 6250"/>
            </a:avLst>
          </a:prstGeom>
          <a:solidFill>
            <a:srgbClr val="1E2761"/>
          </a:solidFill>
          <a:ln/>
        </p:spPr>
      </p:sp>
      <p:sp>
        <p:nvSpPr>
          <p:cNvPr id="21" name="Text 18">
            <a:extLst>
              <a:ext uri="{FF2B5EF4-FFF2-40B4-BE49-F238E27FC236}">
                <a16:creationId xmlns:a16="http://schemas.microsoft.com/office/drawing/2014/main" id="{C802A863-39C8-B1F4-55DC-EC7DA7835247}"/>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7</a:t>
            </a:r>
            <a:endParaRPr lang="en-US" sz="850" dirty="0"/>
          </a:p>
        </p:txBody>
      </p:sp>
      <p:sp>
        <p:nvSpPr>
          <p:cNvPr id="12" name="Text 0">
            <a:extLst>
              <a:ext uri="{FF2B5EF4-FFF2-40B4-BE49-F238E27FC236}">
                <a16:creationId xmlns:a16="http://schemas.microsoft.com/office/drawing/2014/main" id="{03E6893C-A73C-E23D-06BF-180A45D6CBF2}"/>
              </a:ext>
            </a:extLst>
          </p:cNvPr>
          <p:cNvSpPr/>
          <p:nvPr/>
        </p:nvSpPr>
        <p:spPr>
          <a:xfrm>
            <a:off x="3798686" y="0"/>
            <a:ext cx="7831452" cy="5321045"/>
          </a:xfrm>
          <a:prstGeom prst="rect">
            <a:avLst/>
          </a:prstGeom>
          <a:noFill/>
          <a:ln/>
        </p:spPr>
        <p:txBody>
          <a:bodyPr wrap="square" rtlCol="0" anchor="ctr"/>
          <a:lstStyle/>
          <a:p>
            <a:pPr algn="ctr"/>
            <a:r>
              <a:rPr lang="en-ID" sz="2800" dirty="0"/>
              <a:t>"</a:t>
            </a:r>
            <a:r>
              <a:rPr lang="en-ID" sz="2800" dirty="0" err="1"/>
              <a:t>Kombinasi</a:t>
            </a:r>
            <a:r>
              <a:rPr lang="en-ID" sz="2800" dirty="0"/>
              <a:t> </a:t>
            </a:r>
            <a:r>
              <a:rPr lang="en-ID" sz="2800" dirty="0" err="1"/>
              <a:t>tersebut</a:t>
            </a:r>
            <a:r>
              <a:rPr lang="en-ID" sz="2800" dirty="0"/>
              <a:t> </a:t>
            </a:r>
            <a:r>
              <a:rPr lang="en-ID" sz="2800" dirty="0" err="1"/>
              <a:t>terbukti</a:t>
            </a:r>
            <a:r>
              <a:rPr lang="en-ID" sz="2800" dirty="0"/>
              <a:t> </a:t>
            </a:r>
            <a:r>
              <a:rPr lang="en-ID" sz="2800" dirty="0" err="1"/>
              <a:t>memiliki</a:t>
            </a:r>
            <a:r>
              <a:rPr lang="en-ID" sz="2800" dirty="0"/>
              <a:t> </a:t>
            </a:r>
            <a:r>
              <a:rPr lang="en-ID" sz="2800" dirty="0" err="1"/>
              <a:t>korelasi</a:t>
            </a:r>
            <a:r>
              <a:rPr lang="en-ID" sz="2800" dirty="0"/>
              <a:t> </a:t>
            </a:r>
            <a:r>
              <a:rPr lang="en-ID" sz="2800" dirty="0" err="1"/>
              <a:t>terkuat</a:t>
            </a:r>
            <a:r>
              <a:rPr lang="en-ID" sz="2800" dirty="0"/>
              <a:t>, </a:t>
            </a:r>
            <a:r>
              <a:rPr lang="en-ID" sz="2800" dirty="0" err="1"/>
              <a:t>namun</a:t>
            </a:r>
            <a:r>
              <a:rPr lang="en-ID" sz="2800" dirty="0"/>
              <a:t> </a:t>
            </a:r>
            <a:r>
              <a:rPr lang="en-ID" sz="2800" dirty="0" err="1"/>
              <a:t>seperti</a:t>
            </a:r>
            <a:r>
              <a:rPr lang="en-ID" sz="2800" dirty="0"/>
              <a:t> </a:t>
            </a:r>
            <a:r>
              <a:rPr lang="en-ID" sz="2800" dirty="0" err="1"/>
              <a:t>apa</a:t>
            </a:r>
            <a:r>
              <a:rPr lang="en-ID" sz="2800" dirty="0"/>
              <a:t> </a:t>
            </a:r>
            <a:r>
              <a:rPr lang="en-ID" sz="2800" dirty="0" err="1"/>
              <a:t>profil</a:t>
            </a:r>
            <a:r>
              <a:rPr lang="en-ID" sz="2800" dirty="0"/>
              <a:t> </a:t>
            </a:r>
            <a:r>
              <a:rPr lang="en-ID" sz="2800" dirty="0" err="1"/>
              <a:t>pelanggannya</a:t>
            </a:r>
            <a:r>
              <a:rPr lang="en-ID" sz="2800" dirty="0"/>
              <a:t>? Mari </a:t>
            </a:r>
            <a:r>
              <a:rPr lang="en-ID" sz="2800" dirty="0" err="1"/>
              <a:t>kita</a:t>
            </a:r>
            <a:r>
              <a:rPr lang="en-ID" sz="2800" dirty="0"/>
              <a:t> </a:t>
            </a:r>
            <a:r>
              <a:rPr lang="en-ID" sz="2800" dirty="0" err="1"/>
              <a:t>bedah</a:t>
            </a:r>
            <a:r>
              <a:rPr lang="en-ID" sz="2800" dirty="0"/>
              <a:t> </a:t>
            </a:r>
            <a:r>
              <a:rPr lang="en-ID" sz="2800" dirty="0" err="1"/>
              <a:t>ukuran</a:t>
            </a:r>
            <a:r>
              <a:rPr lang="en-ID" sz="2800" dirty="0"/>
              <a:t> </a:t>
            </a:r>
            <a:r>
              <a:rPr lang="en-ID" sz="2800" dirty="0" err="1"/>
              <a:t>keranjang</a:t>
            </a:r>
            <a:r>
              <a:rPr lang="en-ID" sz="2800" dirty="0"/>
              <a:t> </a:t>
            </a:r>
            <a:r>
              <a:rPr lang="en-ID" sz="2800" dirty="0" err="1"/>
              <a:t>mereka</a:t>
            </a:r>
            <a:r>
              <a:rPr lang="en-ID" sz="2800" dirty="0"/>
              <a:t>."</a:t>
            </a:r>
            <a:endParaRPr lang="en-US" sz="2800" dirty="0">
              <a:solidFill>
                <a:schemeClr val="tx2">
                  <a:lumMod val="50000"/>
                </a:schemeClr>
              </a:solidFill>
            </a:endParaRPr>
          </a:p>
        </p:txBody>
      </p:sp>
      <p:pic>
        <p:nvPicPr>
          <p:cNvPr id="2" name="Picture 1" descr="Shopping cart under magnifying glass symbolizing search for online retail  or purchase options 73401094 Vector Art at Vecteezy">
            <a:extLst>
              <a:ext uri="{FF2B5EF4-FFF2-40B4-BE49-F238E27FC236}">
                <a16:creationId xmlns:a16="http://schemas.microsoft.com/office/drawing/2014/main" id="{6AA635A7-5C0F-D2DC-3634-61A8D98B5973}"/>
              </a:ext>
            </a:extLst>
          </p:cNvPr>
          <p:cNvPicPr>
            <a:picLocks noChangeAspect="1"/>
          </p:cNvPicPr>
          <p:nvPr/>
        </p:nvPicPr>
        <p:blipFill>
          <a:blip r:embed="rId3"/>
          <a:stretch>
            <a:fillRect/>
          </a:stretch>
        </p:blipFill>
        <p:spPr>
          <a:xfrm>
            <a:off x="304800" y="3425190"/>
            <a:ext cx="3054531" cy="3067050"/>
          </a:xfrm>
          <a:prstGeom prst="rect">
            <a:avLst/>
          </a:prstGeom>
        </p:spPr>
      </p:pic>
    </p:spTree>
    <p:extLst>
      <p:ext uri="{BB962C8B-B14F-4D97-AF65-F5344CB8AC3E}">
        <p14:creationId xmlns:p14="http://schemas.microsoft.com/office/powerpoint/2010/main" val="723564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B508B-5D0E-9A93-7874-80851D36931F}"/>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9D6A6F32-A068-92E9-C9DB-373BB738DC2A}"/>
              </a:ext>
            </a:extLst>
          </p:cNvPr>
          <p:cNvSpPr/>
          <p:nvPr/>
        </p:nvSpPr>
        <p:spPr>
          <a:xfrm>
            <a:off x="-157547" y="-109603"/>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BD5809A3-1FB9-BCB5-6026-96CEADD5736C}"/>
              </a:ext>
            </a:extLst>
          </p:cNvPr>
          <p:cNvSpPr/>
          <p:nvPr/>
        </p:nvSpPr>
        <p:spPr>
          <a:xfrm>
            <a:off x="548640" y="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Analysis</a:t>
            </a:r>
            <a:endParaRPr lang="en-US" sz="2800" dirty="0"/>
          </a:p>
        </p:txBody>
      </p:sp>
      <p:sp>
        <p:nvSpPr>
          <p:cNvPr id="29" name="Text 26">
            <a:extLst>
              <a:ext uri="{FF2B5EF4-FFF2-40B4-BE49-F238E27FC236}">
                <a16:creationId xmlns:a16="http://schemas.microsoft.com/office/drawing/2014/main" id="{B4E16359-89F1-7B20-5ECB-13F014825AD2}"/>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D0B5EE61-EC13-96AE-8612-06B1AC6AC7EB}"/>
              </a:ext>
            </a:extLst>
          </p:cNvPr>
          <p:cNvSpPr/>
          <p:nvPr/>
        </p:nvSpPr>
        <p:spPr>
          <a:xfrm>
            <a:off x="548640" y="448320"/>
            <a:ext cx="715652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10. </a:t>
            </a:r>
            <a:r>
              <a:rPr lang="nn-NO" sz="1600" b="1" dirty="0">
                <a:solidFill>
                  <a:srgbClr val="F2545B"/>
                </a:solidFill>
                <a:latin typeface="Cambria" pitchFamily="34" charset="0"/>
                <a:ea typeface="Cambria" pitchFamily="34" charset="-122"/>
                <a:cs typeface="Cambria" pitchFamily="34" charset="-120"/>
              </a:rPr>
              <a:t>Proporsi Ukuran Keranjang Pelanggan pada Top 10 Kombinasi Produk</a:t>
            </a:r>
            <a:endParaRPr lang="en-US" sz="1600" dirty="0"/>
          </a:p>
        </p:txBody>
      </p:sp>
      <p:sp>
        <p:nvSpPr>
          <p:cNvPr id="17" name="Shape 5">
            <a:extLst>
              <a:ext uri="{FF2B5EF4-FFF2-40B4-BE49-F238E27FC236}">
                <a16:creationId xmlns:a16="http://schemas.microsoft.com/office/drawing/2014/main" id="{98BAE806-8B36-0D3D-5907-7C1E0CC5C4FF}"/>
              </a:ext>
            </a:extLst>
          </p:cNvPr>
          <p:cNvSpPr/>
          <p:nvPr/>
        </p:nvSpPr>
        <p:spPr>
          <a:xfrm>
            <a:off x="7672481" y="538872"/>
            <a:ext cx="4259689" cy="5724861"/>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1D5D489F-B5A5-49BF-3D69-4519DE3D33B1}"/>
              </a:ext>
            </a:extLst>
          </p:cNvPr>
          <p:cNvSpPr/>
          <p:nvPr/>
        </p:nvSpPr>
        <p:spPr>
          <a:xfrm>
            <a:off x="7826188" y="102550"/>
            <a:ext cx="3129164" cy="140908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78D1075B-0E1C-F27B-5D7D-E7C7BD38EC68}"/>
              </a:ext>
            </a:extLst>
          </p:cNvPr>
          <p:cNvSpPr/>
          <p:nvPr/>
        </p:nvSpPr>
        <p:spPr>
          <a:xfrm>
            <a:off x="7826188" y="1087512"/>
            <a:ext cx="4105982" cy="5176221"/>
          </a:xfrm>
          <a:prstGeom prst="rect">
            <a:avLst/>
          </a:prstGeom>
          <a:noFill/>
          <a:ln/>
        </p:spPr>
        <p:txBody>
          <a:bodyPr wrap="square" rtlCol="0" anchor="t"/>
          <a:lstStyle/>
          <a:p>
            <a:pPr marL="0" indent="0">
              <a:buNone/>
            </a:pPr>
            <a:r>
              <a:rPr lang="en-US" sz="2000" dirty="0" err="1">
                <a:solidFill>
                  <a:srgbClr val="444444"/>
                </a:solidFill>
                <a:latin typeface="Calibri" pitchFamily="34" charset="0"/>
                <a:ea typeface="Calibri" pitchFamily="34" charset="-122"/>
                <a:cs typeface="Calibri" pitchFamily="34" charset="-120"/>
              </a:rPr>
              <a:t>Mayoritas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kombinasi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teratas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didominasi</a:t>
            </a:r>
            <a:r>
              <a:rPr lang="en-US" sz="2000" dirty="0">
                <a:solidFill>
                  <a:srgbClr val="444444"/>
                </a:solidFill>
                <a:latin typeface="Calibri" pitchFamily="34" charset="0"/>
                <a:ea typeface="Calibri" pitchFamily="34" charset="-122"/>
                <a:cs typeface="Calibri" pitchFamily="34" charset="-120"/>
              </a:rPr>
              <a:t> oleh </a:t>
            </a:r>
            <a:r>
              <a:rPr lang="en-US" sz="2000" dirty="0" err="1">
                <a:solidFill>
                  <a:srgbClr val="444444"/>
                </a:solidFill>
                <a:latin typeface="Calibri" pitchFamily="34" charset="0"/>
                <a:ea typeface="Calibri" pitchFamily="34" charset="-122"/>
                <a:cs typeface="Calibri" pitchFamily="34" charset="-120"/>
              </a:rPr>
              <a:t>segmen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keranjang</a:t>
            </a:r>
            <a:r>
              <a:rPr lang="en-US" sz="2000" dirty="0">
                <a:solidFill>
                  <a:srgbClr val="444444"/>
                </a:solidFill>
                <a:latin typeface="Calibri" pitchFamily="34" charset="0"/>
                <a:ea typeface="Calibri" pitchFamily="34" charset="-122"/>
                <a:cs typeface="Calibri" pitchFamily="34" charset="-120"/>
              </a:rPr>
              <a:t> Small (1-2 item),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volume </a:t>
            </a:r>
            <a:r>
              <a:rPr lang="en-US" sz="2000" dirty="0" err="1">
                <a:solidFill>
                  <a:srgbClr val="444444"/>
                </a:solidFill>
                <a:latin typeface="Calibri" pitchFamily="34" charset="0"/>
                <a:ea typeface="Calibri" pitchFamily="34" charset="-122"/>
                <a:cs typeface="Calibri" pitchFamily="34" charset="-120"/>
              </a:rPr>
              <a:t>tertinggi</a:t>
            </a:r>
            <a:r>
              <a:rPr lang="en-US" sz="2000" dirty="0">
                <a:solidFill>
                  <a:srgbClr val="444444"/>
                </a:solidFill>
                <a:latin typeface="Calibri" pitchFamily="34" charset="0"/>
                <a:ea typeface="Calibri" pitchFamily="34" charset="-122"/>
                <a:cs typeface="Calibri" pitchFamily="34" charset="-120"/>
              </a:rPr>
              <a:t> pada yogurt + soft cheese dan root vegetables + processed cheese. </a:t>
            </a:r>
            <a:r>
              <a:rPr lang="en-US" sz="2000" dirty="0" err="1">
                <a:solidFill>
                  <a:srgbClr val="444444"/>
                </a:solidFill>
                <a:latin typeface="Calibri" pitchFamily="34" charset="0"/>
                <a:ea typeface="Calibri" pitchFamily="34" charset="-122"/>
                <a:cs typeface="Calibri" pitchFamily="34" charset="-120"/>
              </a:rPr>
              <a:t>Berdasarkan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pola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kami </a:t>
            </a:r>
            <a:r>
              <a:rPr lang="en-US" sz="2000" dirty="0" err="1">
                <a:solidFill>
                  <a:srgbClr val="444444"/>
                </a:solidFill>
                <a:latin typeface="Calibri" pitchFamily="34" charset="0"/>
                <a:ea typeface="Calibri" pitchFamily="34" charset="-122"/>
                <a:cs typeface="Calibri" pitchFamily="34" charset="-120"/>
              </a:rPr>
              <a:t>menyarankan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penempatan</a:t>
            </a:r>
            <a:r>
              <a:rPr lang="en-US" sz="2000" dirty="0">
                <a:solidFill>
                  <a:srgbClr val="444444"/>
                </a:solidFill>
                <a:latin typeface="Calibri" pitchFamily="34" charset="0"/>
                <a:ea typeface="Calibri" pitchFamily="34" charset="-122"/>
                <a:cs typeface="Calibri" pitchFamily="34" charset="-120"/>
              </a:rPr>
              <a:t> front-end chiller </a:t>
            </a:r>
            <a:r>
              <a:rPr lang="en-US" sz="2000" dirty="0" err="1">
                <a:solidFill>
                  <a:srgbClr val="444444"/>
                </a:solidFill>
                <a:latin typeface="Calibri" pitchFamily="34" charset="0"/>
                <a:ea typeface="Calibri" pitchFamily="34" charset="-122"/>
                <a:cs typeface="Calibri" pitchFamily="34" charset="-120"/>
              </a:rPr>
              <a:t>berisi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aneka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keju</a:t>
            </a:r>
            <a:r>
              <a:rPr lang="en-US" sz="2000" dirty="0">
                <a:solidFill>
                  <a:srgbClr val="444444"/>
                </a:solidFill>
                <a:latin typeface="Calibri" pitchFamily="34" charset="0"/>
                <a:ea typeface="Calibri" pitchFamily="34" charset="-122"/>
                <a:cs typeface="Calibri" pitchFamily="34" charset="-120"/>
              </a:rPr>
              <a:t> di area </a:t>
            </a:r>
            <a:r>
              <a:rPr lang="en-US" sz="2000" dirty="0" err="1">
                <a:solidFill>
                  <a:srgbClr val="444444"/>
                </a:solidFill>
                <a:latin typeface="Calibri" pitchFamily="34" charset="0"/>
                <a:ea typeface="Calibri" pitchFamily="34" charset="-122"/>
                <a:cs typeface="Calibri" pitchFamily="34" charset="-120"/>
              </a:rPr>
              <a:t>kasir</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memicu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pembelian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impulsif</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Manajemen</a:t>
            </a:r>
            <a:r>
              <a:rPr lang="en-US" sz="2000" dirty="0">
                <a:solidFill>
                  <a:srgbClr val="444444"/>
                </a:solidFill>
                <a:latin typeface="Calibri" pitchFamily="34" charset="0"/>
                <a:ea typeface="Calibri" pitchFamily="34" charset="-122"/>
                <a:cs typeface="Calibri" pitchFamily="34" charset="-120"/>
              </a:rPr>
              <a:t> juga </a:t>
            </a:r>
            <a:r>
              <a:rPr lang="en-US" sz="2000" dirty="0" err="1">
                <a:solidFill>
                  <a:srgbClr val="444444"/>
                </a:solidFill>
                <a:latin typeface="Calibri" pitchFamily="34" charset="0"/>
                <a:ea typeface="Calibri" pitchFamily="34" charset="-122"/>
                <a:cs typeface="Calibri" pitchFamily="34" charset="-120"/>
              </a:rPr>
              <a:t>dapat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mempertimbangkan</a:t>
            </a:r>
            <a:r>
              <a:rPr lang="en-US" sz="2000" dirty="0">
                <a:solidFill>
                  <a:srgbClr val="444444"/>
                </a:solidFill>
                <a:latin typeface="Calibri" pitchFamily="34" charset="0"/>
                <a:ea typeface="Calibri" pitchFamily="34" charset="-122"/>
                <a:cs typeface="Calibri" pitchFamily="34" charset="-120"/>
              </a:rPr>
              <a:t> strategi end-cap yang </a:t>
            </a:r>
            <a:r>
              <a:rPr lang="en-US" sz="2000" dirty="0" err="1">
                <a:solidFill>
                  <a:srgbClr val="444444"/>
                </a:solidFill>
                <a:latin typeface="Calibri" pitchFamily="34" charset="0"/>
                <a:ea typeface="Calibri" pitchFamily="34" charset="-122"/>
                <a:cs typeface="Calibri" pitchFamily="34" charset="-120"/>
              </a:rPr>
              <a:t>mendekatkan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pajangan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segar dan </a:t>
            </a:r>
            <a:r>
              <a:rPr lang="en-US" sz="2000" dirty="0" err="1">
                <a:solidFill>
                  <a:srgbClr val="444444"/>
                </a:solidFill>
                <a:latin typeface="Calibri" pitchFamily="34" charset="0"/>
                <a:ea typeface="Calibri" pitchFamily="34" charset="-122"/>
                <a:cs typeface="Calibri" pitchFamily="34" charset="-120"/>
              </a:rPr>
              <a:t>olahan</a:t>
            </a:r>
            <a:r>
              <a:rPr lang="en-US" sz="2000" dirty="0">
                <a:solidFill>
                  <a:srgbClr val="444444"/>
                </a:solidFill>
                <a:latin typeface="Calibri" pitchFamily="34" charset="0"/>
                <a:ea typeface="Calibri" pitchFamily="34" charset="-122"/>
                <a:cs typeface="Calibri" pitchFamily="34" charset="-120"/>
              </a:rPr>
              <a:t> susu guna </a:t>
            </a:r>
            <a:r>
              <a:rPr lang="en-US" sz="2000" dirty="0" err="1">
                <a:solidFill>
                  <a:srgbClr val="444444"/>
                </a:solidFill>
                <a:latin typeface="Calibri" pitchFamily="34" charset="0"/>
                <a:ea typeface="Calibri" pitchFamily="34" charset="-122"/>
                <a:cs typeface="Calibri" pitchFamily="34" charset="-120"/>
              </a:rPr>
              <a:t>memudahkan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pelanggan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mengambil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kedua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barang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tersebut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secara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bersamaan</a:t>
            </a:r>
            <a:r>
              <a:rPr lang="en-US" sz="2000" dirty="0">
                <a:solidFill>
                  <a:srgbClr val="444444"/>
                </a:solidFill>
                <a:latin typeface="Calibri" pitchFamily="34" charset="0"/>
                <a:ea typeface="Calibri" pitchFamily="34" charset="-122"/>
                <a:cs typeface="Calibri" pitchFamily="34" charset="-120"/>
              </a:rPr>
              <a:t>.</a:t>
            </a: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pic>
        <p:nvPicPr>
          <p:cNvPr id="7" name="Picture 6">
            <a:extLst>
              <a:ext uri="{FF2B5EF4-FFF2-40B4-BE49-F238E27FC236}">
                <a16:creationId xmlns:a16="http://schemas.microsoft.com/office/drawing/2014/main" id="{7B5B6B7D-5057-6DCE-8750-072409C63A0B}"/>
              </a:ext>
            </a:extLst>
          </p:cNvPr>
          <p:cNvPicPr>
            <a:picLocks noChangeAspect="1"/>
          </p:cNvPicPr>
          <p:nvPr/>
        </p:nvPicPr>
        <p:blipFill>
          <a:blip r:embed="rId3"/>
          <a:stretch>
            <a:fillRect/>
          </a:stretch>
        </p:blipFill>
        <p:spPr>
          <a:xfrm>
            <a:off x="0" y="996960"/>
            <a:ext cx="7551458" cy="5577915"/>
          </a:xfrm>
          <a:prstGeom prst="rect">
            <a:avLst/>
          </a:prstGeom>
        </p:spPr>
      </p:pic>
    </p:spTree>
    <p:extLst>
      <p:ext uri="{BB962C8B-B14F-4D97-AF65-F5344CB8AC3E}">
        <p14:creationId xmlns:p14="http://schemas.microsoft.com/office/powerpoint/2010/main" val="42359070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E2DF9-9744-EA42-B00C-12C62F67E35B}"/>
            </a:ext>
          </a:extLst>
        </p:cNvPr>
        <p:cNvGrpSpPr/>
        <p:nvPr/>
      </p:nvGrpSpPr>
      <p:grpSpPr>
        <a:xfrm>
          <a:off x="0" y="0"/>
          <a:ext cx="0" cy="0"/>
          <a:chOff x="0" y="0"/>
          <a:chExt cx="0" cy="0"/>
        </a:xfrm>
      </p:grpSpPr>
      <p:sp>
        <p:nvSpPr>
          <p:cNvPr id="4" name="Shape 3">
            <a:extLst>
              <a:ext uri="{FF2B5EF4-FFF2-40B4-BE49-F238E27FC236}">
                <a16:creationId xmlns:a16="http://schemas.microsoft.com/office/drawing/2014/main" id="{E36FD56C-AAE8-F72C-8EF4-EA17A546E0BB}"/>
              </a:ext>
            </a:extLst>
          </p:cNvPr>
          <p:cNvSpPr/>
          <p:nvPr/>
        </p:nvSpPr>
        <p:spPr>
          <a:xfrm>
            <a:off x="-134555" y="0"/>
            <a:ext cx="12670971" cy="6858000"/>
          </a:xfrm>
          <a:prstGeom prst="roundRect">
            <a:avLst>
              <a:gd name="adj" fmla="val 6250"/>
            </a:avLst>
          </a:prstGeom>
          <a:solidFill>
            <a:srgbClr val="1E2761"/>
          </a:solidFill>
          <a:ln/>
        </p:spPr>
      </p:sp>
      <p:sp>
        <p:nvSpPr>
          <p:cNvPr id="21" name="Text 18">
            <a:extLst>
              <a:ext uri="{FF2B5EF4-FFF2-40B4-BE49-F238E27FC236}">
                <a16:creationId xmlns:a16="http://schemas.microsoft.com/office/drawing/2014/main" id="{7500FDF1-6639-0C4C-1D0E-D2F0F7D980CF}"/>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7</a:t>
            </a:r>
            <a:endParaRPr lang="en-US" sz="850" dirty="0"/>
          </a:p>
        </p:txBody>
      </p:sp>
      <p:sp>
        <p:nvSpPr>
          <p:cNvPr id="12" name="Text 0">
            <a:extLst>
              <a:ext uri="{FF2B5EF4-FFF2-40B4-BE49-F238E27FC236}">
                <a16:creationId xmlns:a16="http://schemas.microsoft.com/office/drawing/2014/main" id="{6D54D9EA-AFF9-5744-B2E9-95638E061E95}"/>
              </a:ext>
            </a:extLst>
          </p:cNvPr>
          <p:cNvSpPr/>
          <p:nvPr/>
        </p:nvSpPr>
        <p:spPr>
          <a:xfrm>
            <a:off x="4171949" y="350330"/>
            <a:ext cx="7333945" cy="4583620"/>
          </a:xfrm>
          <a:prstGeom prst="rect">
            <a:avLst/>
          </a:prstGeom>
          <a:noFill/>
          <a:ln/>
        </p:spPr>
        <p:txBody>
          <a:bodyPr wrap="square" rtlCol="0" anchor="ctr"/>
          <a:lstStyle/>
          <a:p>
            <a:pPr algn="ctr"/>
            <a:r>
              <a:rPr lang="en-ID" sz="2800" dirty="0"/>
              <a:t>"Dengan </a:t>
            </a:r>
            <a:r>
              <a:rPr lang="en-ID" sz="2800" dirty="0" err="1"/>
              <a:t>dominasi</a:t>
            </a:r>
            <a:r>
              <a:rPr lang="en-ID" sz="2800" dirty="0"/>
              <a:t> </a:t>
            </a:r>
            <a:r>
              <a:rPr lang="en-ID" sz="2800" dirty="0" err="1"/>
              <a:t>keranjang</a:t>
            </a:r>
            <a:r>
              <a:rPr lang="en-ID" sz="2800" dirty="0"/>
              <a:t> </a:t>
            </a:r>
            <a:r>
              <a:rPr lang="en-ID" sz="2800" dirty="0" err="1"/>
              <a:t>kecil</a:t>
            </a:r>
            <a:r>
              <a:rPr lang="en-ID" sz="2800" dirty="0"/>
              <a:t> </a:t>
            </a:r>
            <a:r>
              <a:rPr lang="en-ID" sz="2800" dirty="0" err="1"/>
              <a:t>ini</a:t>
            </a:r>
            <a:r>
              <a:rPr lang="en-ID" sz="2800" dirty="0"/>
              <a:t>, </a:t>
            </a:r>
            <a:r>
              <a:rPr lang="en-ID" sz="2800" dirty="0" err="1"/>
              <a:t>kapankah</a:t>
            </a:r>
            <a:r>
              <a:rPr lang="en-ID" sz="2800" dirty="0"/>
              <a:t> </a:t>
            </a:r>
            <a:r>
              <a:rPr lang="en-ID" sz="2800" dirty="0" err="1"/>
              <a:t>waktu</a:t>
            </a:r>
            <a:r>
              <a:rPr lang="en-ID" sz="2800" dirty="0"/>
              <a:t> yang </a:t>
            </a:r>
            <a:r>
              <a:rPr lang="en-ID" sz="2800" b="1" dirty="0"/>
              <a:t>paling </a:t>
            </a:r>
            <a:r>
              <a:rPr lang="en-ID" sz="2800" b="1" dirty="0" err="1"/>
              <a:t>efektif</a:t>
            </a:r>
            <a:r>
              <a:rPr lang="en-ID" sz="2800" b="1" dirty="0"/>
              <a:t> </a:t>
            </a:r>
            <a:r>
              <a:rPr lang="en-ID" sz="2800" dirty="0" err="1"/>
              <a:t>untuk</a:t>
            </a:r>
            <a:r>
              <a:rPr lang="en-ID" sz="2800" dirty="0"/>
              <a:t> </a:t>
            </a:r>
            <a:r>
              <a:rPr lang="en-ID" sz="2800" dirty="0" err="1"/>
              <a:t>memicu</a:t>
            </a:r>
            <a:r>
              <a:rPr lang="en-ID" sz="2800" dirty="0"/>
              <a:t> </a:t>
            </a:r>
            <a:r>
              <a:rPr lang="en-ID" sz="2800" dirty="0" err="1"/>
              <a:t>pembeli</a:t>
            </a:r>
            <a:r>
              <a:rPr lang="en-ID" sz="2800" dirty="0"/>
              <a:t> agar </a:t>
            </a:r>
            <a:r>
              <a:rPr lang="en-ID" sz="2800" dirty="0" err="1"/>
              <a:t>menambah</a:t>
            </a:r>
            <a:r>
              <a:rPr lang="en-ID" sz="2800" dirty="0"/>
              <a:t> </a:t>
            </a:r>
            <a:r>
              <a:rPr lang="en-ID" sz="2800" dirty="0" err="1"/>
              <a:t>barang</a:t>
            </a:r>
            <a:r>
              <a:rPr lang="en-ID" sz="2800" dirty="0"/>
              <a:t> </a:t>
            </a:r>
            <a:r>
              <a:rPr lang="en-ID" sz="2800" dirty="0" err="1"/>
              <a:t>belanjaannya</a:t>
            </a:r>
            <a:r>
              <a:rPr lang="en-ID" sz="2800" dirty="0"/>
              <a:t>? Mari </a:t>
            </a:r>
            <a:r>
              <a:rPr lang="en-ID" sz="2800" dirty="0" err="1"/>
              <a:t>kita</a:t>
            </a:r>
            <a:r>
              <a:rPr lang="en-ID" sz="2800" dirty="0"/>
              <a:t> </a:t>
            </a:r>
            <a:r>
              <a:rPr lang="en-ID" sz="2800" dirty="0" err="1"/>
              <a:t>lihat</a:t>
            </a:r>
            <a:r>
              <a:rPr lang="en-ID" sz="2800" dirty="0"/>
              <a:t> </a:t>
            </a:r>
            <a:r>
              <a:rPr lang="en-ID" sz="2800" dirty="0" err="1"/>
              <a:t>tren</a:t>
            </a:r>
            <a:r>
              <a:rPr lang="en-ID" sz="2800" dirty="0"/>
              <a:t> </a:t>
            </a:r>
            <a:r>
              <a:rPr lang="en-ID" sz="2800" dirty="0" err="1"/>
              <a:t>hariannya</a:t>
            </a:r>
            <a:r>
              <a:rPr lang="en-ID" sz="2800" dirty="0"/>
              <a:t>.”</a:t>
            </a:r>
            <a:endParaRPr lang="en-US" sz="2800" dirty="0">
              <a:solidFill>
                <a:schemeClr val="tx2">
                  <a:lumMod val="50000"/>
                </a:schemeClr>
              </a:solidFill>
            </a:endParaRPr>
          </a:p>
        </p:txBody>
      </p:sp>
      <p:pic>
        <p:nvPicPr>
          <p:cNvPr id="5" name="Graphic 4" descr="Daily calendar with solid fill">
            <a:extLst>
              <a:ext uri="{FF2B5EF4-FFF2-40B4-BE49-F238E27FC236}">
                <a16:creationId xmlns:a16="http://schemas.microsoft.com/office/drawing/2014/main" id="{5161357E-9B77-E06D-C2A3-C2ADC6BEBE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6106" y="3335737"/>
            <a:ext cx="3430823" cy="3430823"/>
          </a:xfrm>
          <a:prstGeom prst="rect">
            <a:avLst/>
          </a:prstGeom>
        </p:spPr>
      </p:pic>
    </p:spTree>
    <p:extLst>
      <p:ext uri="{BB962C8B-B14F-4D97-AF65-F5344CB8AC3E}">
        <p14:creationId xmlns:p14="http://schemas.microsoft.com/office/powerpoint/2010/main" val="14154453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36D02-004F-6188-4E94-560BBB390CA8}"/>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25AEBD25-E747-01AC-E3A7-81F299E4D4BC}"/>
              </a:ext>
            </a:extLst>
          </p:cNvPr>
          <p:cNvSpPr/>
          <p:nvPr/>
        </p:nvSpPr>
        <p:spPr>
          <a:xfrm>
            <a:off x="-157547" y="-109603"/>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8482DA88-9238-6B46-9F98-062F46756299}"/>
              </a:ext>
            </a:extLst>
          </p:cNvPr>
          <p:cNvSpPr/>
          <p:nvPr/>
        </p:nvSpPr>
        <p:spPr>
          <a:xfrm>
            <a:off x="548640" y="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Analysis</a:t>
            </a:r>
            <a:endParaRPr lang="en-US" sz="2800" dirty="0"/>
          </a:p>
        </p:txBody>
      </p:sp>
      <p:sp>
        <p:nvSpPr>
          <p:cNvPr id="29" name="Text 26">
            <a:extLst>
              <a:ext uri="{FF2B5EF4-FFF2-40B4-BE49-F238E27FC236}">
                <a16:creationId xmlns:a16="http://schemas.microsoft.com/office/drawing/2014/main" id="{0706291F-1154-7207-B6A6-E2BE06F9AB18}"/>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FB7B37F6-1040-90CA-42AD-12EE9E8133C9}"/>
              </a:ext>
            </a:extLst>
          </p:cNvPr>
          <p:cNvSpPr/>
          <p:nvPr/>
        </p:nvSpPr>
        <p:spPr>
          <a:xfrm>
            <a:off x="548640" y="448320"/>
            <a:ext cx="715652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11. Top 10 </a:t>
            </a:r>
            <a:r>
              <a:rPr lang="en-US" sz="1600" b="1" dirty="0" err="1">
                <a:solidFill>
                  <a:srgbClr val="F2545B"/>
                </a:solidFill>
                <a:latin typeface="Cambria" pitchFamily="34" charset="0"/>
                <a:ea typeface="Cambria" pitchFamily="34" charset="-122"/>
                <a:cs typeface="Cambria" pitchFamily="34" charset="-120"/>
              </a:rPr>
              <a:t>Kombinasi</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Produk</a:t>
            </a:r>
            <a:r>
              <a:rPr lang="en-US" sz="1600" b="1" dirty="0">
                <a:solidFill>
                  <a:srgbClr val="F2545B"/>
                </a:solidFill>
                <a:latin typeface="Cambria" pitchFamily="34" charset="0"/>
                <a:ea typeface="Cambria" pitchFamily="34" charset="-122"/>
                <a:cs typeface="Cambria" pitchFamily="34" charset="-120"/>
              </a:rPr>
              <a:t> Paling </a:t>
            </a:r>
            <a:r>
              <a:rPr lang="en-US" sz="1600" b="1" dirty="0" err="1">
                <a:solidFill>
                  <a:srgbClr val="F2545B"/>
                </a:solidFill>
                <a:latin typeface="Cambria" pitchFamily="34" charset="0"/>
                <a:ea typeface="Cambria" pitchFamily="34" charset="-122"/>
                <a:cs typeface="Cambria" pitchFamily="34" charset="-120"/>
              </a:rPr>
              <a:t>Menguntungkan</a:t>
            </a:r>
            <a:endParaRPr lang="en-US" sz="1600" dirty="0"/>
          </a:p>
        </p:txBody>
      </p:sp>
      <p:sp>
        <p:nvSpPr>
          <p:cNvPr id="17" name="Shape 5">
            <a:extLst>
              <a:ext uri="{FF2B5EF4-FFF2-40B4-BE49-F238E27FC236}">
                <a16:creationId xmlns:a16="http://schemas.microsoft.com/office/drawing/2014/main" id="{B33D6582-ABAA-8F1D-44A8-D32B396AAE4E}"/>
              </a:ext>
            </a:extLst>
          </p:cNvPr>
          <p:cNvSpPr/>
          <p:nvPr/>
        </p:nvSpPr>
        <p:spPr>
          <a:xfrm>
            <a:off x="0" y="4811242"/>
            <a:ext cx="11835333" cy="1772700"/>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317965AE-5FDB-178E-D729-72FF767F118C}"/>
              </a:ext>
            </a:extLst>
          </p:cNvPr>
          <p:cNvSpPr/>
          <p:nvPr/>
        </p:nvSpPr>
        <p:spPr>
          <a:xfrm>
            <a:off x="232850" y="4720689"/>
            <a:ext cx="5174955" cy="43632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8DBF7BF1-A17F-C13D-923F-E57BB7238113}"/>
              </a:ext>
            </a:extLst>
          </p:cNvPr>
          <p:cNvSpPr/>
          <p:nvPr/>
        </p:nvSpPr>
        <p:spPr>
          <a:xfrm>
            <a:off x="111827" y="5157010"/>
            <a:ext cx="11622668" cy="1128563"/>
          </a:xfrm>
          <a:prstGeom prst="rect">
            <a:avLst/>
          </a:prstGeom>
          <a:noFill/>
          <a:ln/>
        </p:spPr>
        <p:txBody>
          <a:bodyPr wrap="square" rtlCol="0" anchor="t"/>
          <a:lstStyle/>
          <a:p>
            <a:pPr marL="0" indent="0">
              <a:buNone/>
            </a:pPr>
            <a:r>
              <a:rPr lang="en-US" sz="2000" dirty="0" err="1">
                <a:solidFill>
                  <a:srgbClr val="444444"/>
                </a:solidFill>
                <a:latin typeface="Calibri" pitchFamily="34" charset="0"/>
                <a:ea typeface="Calibri" pitchFamily="34" charset="-122"/>
                <a:cs typeface="Calibri" pitchFamily="34" charset="-120"/>
              </a:rPr>
              <a:t>Aktivitas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harian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menunjukkan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pola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fluktuatif</a:t>
            </a:r>
            <a:r>
              <a:rPr lang="en-US" sz="2000" dirty="0">
                <a:solidFill>
                  <a:srgbClr val="444444"/>
                </a:solidFill>
                <a:latin typeface="Calibri" pitchFamily="34" charset="0"/>
                <a:ea typeface="Calibri" pitchFamily="34" charset="-122"/>
                <a:cs typeface="Calibri" pitchFamily="34" charset="-120"/>
              </a:rPr>
              <a:t> di mana Kamis </a:t>
            </a:r>
            <a:r>
              <a:rPr lang="en-US" sz="2000" dirty="0" err="1">
                <a:solidFill>
                  <a:srgbClr val="444444"/>
                </a:solidFill>
                <a:latin typeface="Calibri" pitchFamily="34" charset="0"/>
                <a:ea typeface="Calibri" pitchFamily="34" charset="-122"/>
                <a:cs typeface="Calibri" pitchFamily="34" charset="-120"/>
              </a:rPr>
              <a:t>mencatatkan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puncak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tertinggi</a:t>
            </a:r>
            <a:r>
              <a:rPr lang="en-US" sz="2000" dirty="0">
                <a:solidFill>
                  <a:srgbClr val="444444"/>
                </a:solidFill>
                <a:latin typeface="Calibri" pitchFamily="34" charset="0"/>
                <a:ea typeface="Calibri" pitchFamily="34" charset="-122"/>
                <a:cs typeface="Calibri" pitchFamily="34" charset="-120"/>
              </a:rPr>
              <a:t> (2.188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sedangkan</a:t>
            </a:r>
            <a:r>
              <a:rPr lang="en-US" sz="2000" dirty="0">
                <a:solidFill>
                  <a:srgbClr val="444444"/>
                </a:solidFill>
                <a:latin typeface="Calibri" pitchFamily="34" charset="0"/>
                <a:ea typeface="Calibri" pitchFamily="34" charset="-122"/>
                <a:cs typeface="Calibri" pitchFamily="34" charset="-120"/>
              </a:rPr>
              <a:t> Senin </a:t>
            </a:r>
            <a:r>
              <a:rPr lang="en-US" sz="2000" dirty="0" err="1">
                <a:solidFill>
                  <a:srgbClr val="444444"/>
                </a:solidFill>
                <a:latin typeface="Calibri" pitchFamily="34" charset="0"/>
                <a:ea typeface="Calibri" pitchFamily="34" charset="-122"/>
                <a:cs typeface="Calibri" pitchFamily="34" charset="-120"/>
              </a:rPr>
              <a:t>terendah</a:t>
            </a:r>
            <a:r>
              <a:rPr lang="en-US" sz="2000" dirty="0">
                <a:solidFill>
                  <a:srgbClr val="444444"/>
                </a:solidFill>
                <a:latin typeface="Calibri" pitchFamily="34" charset="0"/>
                <a:ea typeface="Calibri" pitchFamily="34" charset="-122"/>
                <a:cs typeface="Calibri" pitchFamily="34" charset="-120"/>
              </a:rPr>
              <a:t> (2.067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Manajemen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disarankan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memfokuskan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promosi</a:t>
            </a:r>
            <a:r>
              <a:rPr lang="en-US" sz="2000" dirty="0">
                <a:solidFill>
                  <a:srgbClr val="444444"/>
                </a:solidFill>
                <a:latin typeface="Calibri" pitchFamily="34" charset="0"/>
                <a:ea typeface="Calibri" pitchFamily="34" charset="-122"/>
                <a:cs typeface="Calibri" pitchFamily="34" charset="-120"/>
              </a:rPr>
              <a:t> dan display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unggulan</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hari-hari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puncak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tersebut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menghemat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biaya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operasional</a:t>
            </a:r>
            <a:r>
              <a:rPr lang="en-US" sz="2000" dirty="0">
                <a:solidFill>
                  <a:srgbClr val="444444"/>
                </a:solidFill>
                <a:latin typeface="Calibri" pitchFamily="34" charset="0"/>
                <a:ea typeface="Calibri" pitchFamily="34" charset="-122"/>
                <a:cs typeface="Calibri" pitchFamily="34" charset="-120"/>
              </a:rPr>
              <a:t> tata </a:t>
            </a:r>
            <a:r>
              <a:rPr lang="en-US" sz="2000" dirty="0" err="1">
                <a:solidFill>
                  <a:srgbClr val="444444"/>
                </a:solidFill>
                <a:latin typeface="Calibri" pitchFamily="34" charset="0"/>
                <a:ea typeface="Calibri" pitchFamily="34" charset="-122"/>
                <a:cs typeface="Calibri" pitchFamily="34" charset="-120"/>
              </a:rPr>
              <a:t>letak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sekaligus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memaksimalkan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konversi</a:t>
            </a:r>
            <a:r>
              <a:rPr lang="en-US" sz="2000" dirty="0">
                <a:solidFill>
                  <a:srgbClr val="444444"/>
                </a:solidFill>
                <a:latin typeface="Calibri" pitchFamily="34" charset="0"/>
                <a:ea typeface="Calibri" pitchFamily="34" charset="-122"/>
                <a:cs typeface="Calibri" pitchFamily="34" charset="-120"/>
              </a:rPr>
              <a:t>.</a:t>
            </a:r>
          </a:p>
        </p:txBody>
      </p:sp>
      <p:pic>
        <p:nvPicPr>
          <p:cNvPr id="4" name="Picture 3">
            <a:extLst>
              <a:ext uri="{FF2B5EF4-FFF2-40B4-BE49-F238E27FC236}">
                <a16:creationId xmlns:a16="http://schemas.microsoft.com/office/drawing/2014/main" id="{E0A8D7D0-6B5C-E4BF-AE9F-906DF772D821}"/>
              </a:ext>
            </a:extLst>
          </p:cNvPr>
          <p:cNvPicPr>
            <a:picLocks noChangeAspect="1"/>
          </p:cNvPicPr>
          <p:nvPr/>
        </p:nvPicPr>
        <p:blipFill>
          <a:blip r:embed="rId3"/>
          <a:stretch>
            <a:fillRect/>
          </a:stretch>
        </p:blipFill>
        <p:spPr>
          <a:xfrm>
            <a:off x="2274129" y="1262410"/>
            <a:ext cx="7211577" cy="2903190"/>
          </a:xfrm>
          <a:prstGeom prst="rect">
            <a:avLst/>
          </a:prstGeom>
        </p:spPr>
      </p:pic>
    </p:spTree>
    <p:extLst>
      <p:ext uri="{BB962C8B-B14F-4D97-AF65-F5344CB8AC3E}">
        <p14:creationId xmlns:p14="http://schemas.microsoft.com/office/powerpoint/2010/main" val="38131195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67783-F915-3E6A-D014-9E4AACC0B5B8}"/>
            </a:ext>
          </a:extLst>
        </p:cNvPr>
        <p:cNvGrpSpPr/>
        <p:nvPr/>
      </p:nvGrpSpPr>
      <p:grpSpPr>
        <a:xfrm>
          <a:off x="0" y="0"/>
          <a:ext cx="0" cy="0"/>
          <a:chOff x="0" y="0"/>
          <a:chExt cx="0" cy="0"/>
        </a:xfrm>
      </p:grpSpPr>
      <p:sp>
        <p:nvSpPr>
          <p:cNvPr id="4" name="Shape 3">
            <a:extLst>
              <a:ext uri="{FF2B5EF4-FFF2-40B4-BE49-F238E27FC236}">
                <a16:creationId xmlns:a16="http://schemas.microsoft.com/office/drawing/2014/main" id="{AD4E420D-54EA-219A-6177-48DA604D1834}"/>
              </a:ext>
            </a:extLst>
          </p:cNvPr>
          <p:cNvSpPr/>
          <p:nvPr/>
        </p:nvSpPr>
        <p:spPr>
          <a:xfrm>
            <a:off x="-134556" y="0"/>
            <a:ext cx="12670971" cy="6858000"/>
          </a:xfrm>
          <a:prstGeom prst="roundRect">
            <a:avLst>
              <a:gd name="adj" fmla="val 6250"/>
            </a:avLst>
          </a:prstGeom>
          <a:solidFill>
            <a:srgbClr val="1E2761"/>
          </a:solidFill>
          <a:ln/>
        </p:spPr>
        <p:txBody>
          <a:bodyPr/>
          <a:lstStyle/>
          <a:p>
            <a:endParaRPr lang="en-ID" dirty="0"/>
          </a:p>
        </p:txBody>
      </p:sp>
      <p:sp>
        <p:nvSpPr>
          <p:cNvPr id="21" name="Text 18">
            <a:extLst>
              <a:ext uri="{FF2B5EF4-FFF2-40B4-BE49-F238E27FC236}">
                <a16:creationId xmlns:a16="http://schemas.microsoft.com/office/drawing/2014/main" id="{13269742-601F-4B82-2A30-878EC77C167D}"/>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7</a:t>
            </a:r>
            <a:endParaRPr lang="en-US" sz="850" dirty="0"/>
          </a:p>
        </p:txBody>
      </p:sp>
      <p:sp>
        <p:nvSpPr>
          <p:cNvPr id="12" name="Text 0">
            <a:extLst>
              <a:ext uri="{FF2B5EF4-FFF2-40B4-BE49-F238E27FC236}">
                <a16:creationId xmlns:a16="http://schemas.microsoft.com/office/drawing/2014/main" id="{8AA7F489-E6B9-30E0-36F8-DA9A550EEA64}"/>
              </a:ext>
            </a:extLst>
          </p:cNvPr>
          <p:cNvSpPr/>
          <p:nvPr/>
        </p:nvSpPr>
        <p:spPr>
          <a:xfrm>
            <a:off x="3962095" y="274130"/>
            <a:ext cx="7333945" cy="4583620"/>
          </a:xfrm>
          <a:prstGeom prst="rect">
            <a:avLst/>
          </a:prstGeom>
          <a:noFill/>
          <a:ln/>
        </p:spPr>
        <p:txBody>
          <a:bodyPr wrap="square" rtlCol="0" anchor="ctr"/>
          <a:lstStyle/>
          <a:p>
            <a:pPr algn="ctr"/>
            <a:r>
              <a:rPr lang="en-ID" sz="2800" dirty="0"/>
              <a:t>"Dengan target </a:t>
            </a:r>
            <a:r>
              <a:rPr lang="en-ID" sz="2800" dirty="0" err="1"/>
              <a:t>eksekusi</a:t>
            </a:r>
            <a:r>
              <a:rPr lang="en-ID" sz="2800" dirty="0"/>
              <a:t> pada </a:t>
            </a:r>
            <a:r>
              <a:rPr lang="en-ID" sz="2800" b="1" dirty="0" err="1"/>
              <a:t>hari</a:t>
            </a:r>
            <a:r>
              <a:rPr lang="en-ID" sz="2800" b="1" dirty="0"/>
              <a:t> Kamis</a:t>
            </a:r>
            <a:r>
              <a:rPr lang="en-ID" sz="2800" dirty="0"/>
              <a:t>, </a:t>
            </a:r>
            <a:r>
              <a:rPr lang="en-ID" sz="2800" dirty="0" err="1"/>
              <a:t>seberapa</a:t>
            </a:r>
            <a:r>
              <a:rPr lang="en-ID" sz="2800" dirty="0"/>
              <a:t> </a:t>
            </a:r>
            <a:r>
              <a:rPr lang="en-ID" sz="2800" dirty="0" err="1"/>
              <a:t>besar</a:t>
            </a:r>
            <a:r>
              <a:rPr lang="en-ID" sz="2800" dirty="0"/>
              <a:t> </a:t>
            </a:r>
            <a:r>
              <a:rPr lang="en-ID" sz="2800" dirty="0" err="1"/>
              <a:t>dampak</a:t>
            </a:r>
            <a:r>
              <a:rPr lang="en-ID" sz="2800" dirty="0"/>
              <a:t> </a:t>
            </a:r>
            <a:r>
              <a:rPr lang="en-ID" sz="2800" dirty="0" err="1"/>
              <a:t>bisnis</a:t>
            </a:r>
            <a:r>
              <a:rPr lang="en-ID" sz="2800" dirty="0"/>
              <a:t> yang </a:t>
            </a:r>
            <a:r>
              <a:rPr lang="en-ID" sz="2800" dirty="0" err="1"/>
              <a:t>akan</a:t>
            </a:r>
            <a:r>
              <a:rPr lang="en-ID" sz="2800" dirty="0"/>
              <a:t> </a:t>
            </a:r>
            <a:r>
              <a:rPr lang="en-ID" sz="2800" dirty="0" err="1"/>
              <a:t>didapat</a:t>
            </a:r>
            <a:r>
              <a:rPr lang="en-ID" sz="2800" dirty="0"/>
              <a:t>? </a:t>
            </a:r>
            <a:r>
              <a:rPr lang="en-ID" sz="2800" dirty="0" err="1"/>
              <a:t>Berikut</a:t>
            </a:r>
            <a:r>
              <a:rPr lang="en-ID" sz="2800" dirty="0"/>
              <a:t> </a:t>
            </a:r>
            <a:r>
              <a:rPr lang="en-ID" sz="2800" dirty="0" err="1"/>
              <a:t>adalah</a:t>
            </a:r>
            <a:r>
              <a:rPr lang="en-ID" sz="2800" dirty="0"/>
              <a:t> </a:t>
            </a:r>
            <a:r>
              <a:rPr lang="en-ID" sz="2800" dirty="0" err="1"/>
              <a:t>simulasi</a:t>
            </a:r>
            <a:r>
              <a:rPr lang="en-ID" sz="2800" dirty="0"/>
              <a:t> </a:t>
            </a:r>
            <a:r>
              <a:rPr lang="en-ID" sz="2800" dirty="0" err="1"/>
              <a:t>hasil</a:t>
            </a:r>
            <a:r>
              <a:rPr lang="en-ID" sz="2800" dirty="0"/>
              <a:t> </a:t>
            </a:r>
            <a:r>
              <a:rPr lang="en-ID" sz="2800" dirty="0" err="1"/>
              <a:t>akhirnya</a:t>
            </a:r>
            <a:r>
              <a:rPr lang="en-ID" sz="2800" dirty="0"/>
              <a:t>." </a:t>
            </a:r>
            <a:endParaRPr lang="en-US" sz="2800" dirty="0">
              <a:solidFill>
                <a:schemeClr val="tx2">
                  <a:lumMod val="50000"/>
                </a:schemeClr>
              </a:solidFill>
            </a:endParaRPr>
          </a:p>
        </p:txBody>
      </p:sp>
      <p:pic>
        <p:nvPicPr>
          <p:cNvPr id="5" name="Graphic 4" descr="Upward trend with solid fill">
            <a:extLst>
              <a:ext uri="{FF2B5EF4-FFF2-40B4-BE49-F238E27FC236}">
                <a16:creationId xmlns:a16="http://schemas.microsoft.com/office/drawing/2014/main" id="{08B59DE5-28B2-B604-AFC8-7F2F71ABCF5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28700" y="3429000"/>
            <a:ext cx="2857500" cy="2857500"/>
          </a:xfrm>
          <a:prstGeom prst="rect">
            <a:avLst/>
          </a:prstGeom>
        </p:spPr>
      </p:pic>
    </p:spTree>
    <p:extLst>
      <p:ext uri="{BB962C8B-B14F-4D97-AF65-F5344CB8AC3E}">
        <p14:creationId xmlns:p14="http://schemas.microsoft.com/office/powerpoint/2010/main" val="17684791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0520F-2226-E8C2-A159-2235A4CDE19A}"/>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D84846F4-73BC-4B8E-AB3A-D5765FED973E}"/>
              </a:ext>
            </a:extLst>
          </p:cNvPr>
          <p:cNvSpPr/>
          <p:nvPr/>
        </p:nvSpPr>
        <p:spPr>
          <a:xfrm>
            <a:off x="-157547" y="-109603"/>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C0DFE0CB-8605-EB8A-E63B-A21E3B686692}"/>
              </a:ext>
            </a:extLst>
          </p:cNvPr>
          <p:cNvSpPr/>
          <p:nvPr/>
        </p:nvSpPr>
        <p:spPr>
          <a:xfrm>
            <a:off x="548640" y="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Analysis</a:t>
            </a:r>
            <a:endParaRPr lang="en-US" sz="2800" dirty="0"/>
          </a:p>
        </p:txBody>
      </p:sp>
      <p:sp>
        <p:nvSpPr>
          <p:cNvPr id="29" name="Text 26">
            <a:extLst>
              <a:ext uri="{FF2B5EF4-FFF2-40B4-BE49-F238E27FC236}">
                <a16:creationId xmlns:a16="http://schemas.microsoft.com/office/drawing/2014/main" id="{8FBD33AA-9933-4E7C-9C8F-9392EFDF3E11}"/>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72F5D848-27A0-8900-DFA5-CA5EA53D8BF2}"/>
              </a:ext>
            </a:extLst>
          </p:cNvPr>
          <p:cNvSpPr/>
          <p:nvPr/>
        </p:nvSpPr>
        <p:spPr>
          <a:xfrm>
            <a:off x="548640" y="448320"/>
            <a:ext cx="715652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12. </a:t>
            </a:r>
            <a:r>
              <a:rPr lang="en-US" sz="1600" b="1" dirty="0" err="1">
                <a:solidFill>
                  <a:srgbClr val="F2545B"/>
                </a:solidFill>
                <a:latin typeface="Cambria" pitchFamily="34" charset="0"/>
                <a:ea typeface="Cambria" pitchFamily="34" charset="-122"/>
                <a:cs typeface="Cambria" pitchFamily="34" charset="-120"/>
              </a:rPr>
              <a:t>Proyeksi</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Peningkatan</a:t>
            </a:r>
            <a:r>
              <a:rPr lang="en-US" sz="1600" b="1" dirty="0">
                <a:solidFill>
                  <a:srgbClr val="F2545B"/>
                </a:solidFill>
                <a:latin typeface="Cambria" pitchFamily="34" charset="0"/>
                <a:ea typeface="Cambria" pitchFamily="34" charset="-122"/>
                <a:cs typeface="Cambria" pitchFamily="34" charset="-120"/>
              </a:rPr>
              <a:t> Nilai </a:t>
            </a:r>
            <a:r>
              <a:rPr lang="en-US" sz="1600" b="1" dirty="0" err="1">
                <a:solidFill>
                  <a:srgbClr val="F2545B"/>
                </a:solidFill>
                <a:latin typeface="Cambria" pitchFamily="34" charset="0"/>
                <a:ea typeface="Cambria" pitchFamily="34" charset="-122"/>
                <a:cs typeface="Cambria" pitchFamily="34" charset="-120"/>
              </a:rPr>
              <a:t>Keranjang</a:t>
            </a:r>
            <a:endParaRPr lang="en-US" sz="1600" dirty="0"/>
          </a:p>
        </p:txBody>
      </p:sp>
      <p:sp>
        <p:nvSpPr>
          <p:cNvPr id="17" name="Shape 5">
            <a:extLst>
              <a:ext uri="{FF2B5EF4-FFF2-40B4-BE49-F238E27FC236}">
                <a16:creationId xmlns:a16="http://schemas.microsoft.com/office/drawing/2014/main" id="{D941C8BA-E219-50DD-17BB-3FB062E5711E}"/>
              </a:ext>
            </a:extLst>
          </p:cNvPr>
          <p:cNvSpPr/>
          <p:nvPr/>
        </p:nvSpPr>
        <p:spPr>
          <a:xfrm>
            <a:off x="0" y="4172616"/>
            <a:ext cx="11835333" cy="231962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5FAFF357-8E0C-6A34-2658-EFE29D482DF1}"/>
              </a:ext>
            </a:extLst>
          </p:cNvPr>
          <p:cNvSpPr/>
          <p:nvPr/>
        </p:nvSpPr>
        <p:spPr>
          <a:xfrm>
            <a:off x="232850" y="4082064"/>
            <a:ext cx="5174955" cy="43632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1BAAAF36-BEF9-7A40-E510-DFF962950DA4}"/>
              </a:ext>
            </a:extLst>
          </p:cNvPr>
          <p:cNvSpPr/>
          <p:nvPr/>
        </p:nvSpPr>
        <p:spPr>
          <a:xfrm>
            <a:off x="111827" y="4518385"/>
            <a:ext cx="11622668" cy="1128563"/>
          </a:xfrm>
          <a:prstGeom prst="rect">
            <a:avLst/>
          </a:prstGeom>
          <a:noFill/>
          <a:ln/>
        </p:spPr>
        <p:txBody>
          <a:bodyPr wrap="square" rtlCol="0" anchor="t"/>
          <a:lstStyle/>
          <a:p>
            <a:pPr marL="0" indent="0">
              <a:buNone/>
            </a:pPr>
            <a:r>
              <a:rPr lang="en-US" sz="2000" dirty="0">
                <a:solidFill>
                  <a:srgbClr val="444444"/>
                </a:solidFill>
                <a:latin typeface="Calibri" pitchFamily="34" charset="0"/>
                <a:ea typeface="Calibri" pitchFamily="34" charset="-122"/>
                <a:cs typeface="Calibri" pitchFamily="34" charset="-120"/>
              </a:rPr>
              <a:t>Saat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rata-rata </a:t>
            </a:r>
            <a:r>
              <a:rPr lang="en-US" sz="2000" dirty="0" err="1">
                <a:solidFill>
                  <a:srgbClr val="444444"/>
                </a:solidFill>
                <a:latin typeface="Calibri" pitchFamily="34" charset="0"/>
                <a:ea typeface="Calibri" pitchFamily="34" charset="-122"/>
                <a:cs typeface="Calibri" pitchFamily="34" charset="-120"/>
              </a:rPr>
              <a:t>ukuran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keranjang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belanja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pelanggan</a:t>
            </a:r>
            <a:r>
              <a:rPr lang="en-US" sz="2000" dirty="0">
                <a:solidFill>
                  <a:srgbClr val="444444"/>
                </a:solidFill>
                <a:latin typeface="Calibri" pitchFamily="34" charset="0"/>
                <a:ea typeface="Calibri" pitchFamily="34" charset="-122"/>
                <a:cs typeface="Calibri" pitchFamily="34" charset="-120"/>
              </a:rPr>
              <a:t> (Baseline) </a:t>
            </a:r>
            <a:r>
              <a:rPr lang="en-US" sz="2000" dirty="0" err="1">
                <a:solidFill>
                  <a:srgbClr val="444444"/>
                </a:solidFill>
                <a:latin typeface="Calibri" pitchFamily="34" charset="0"/>
                <a:ea typeface="Calibri" pitchFamily="34" charset="-122"/>
                <a:cs typeface="Calibri" pitchFamily="34" charset="-120"/>
              </a:rPr>
              <a:t>berada</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angka</a:t>
            </a:r>
            <a:r>
              <a:rPr lang="en-US" sz="2000" dirty="0">
                <a:solidFill>
                  <a:srgbClr val="444444"/>
                </a:solidFill>
                <a:latin typeface="Calibri" pitchFamily="34" charset="0"/>
                <a:ea typeface="Calibri" pitchFamily="34" charset="-122"/>
                <a:cs typeface="Calibri" pitchFamily="34" charset="-120"/>
              </a:rPr>
              <a:t> 2,98 </a:t>
            </a:r>
            <a:r>
              <a:rPr lang="en-US" sz="2000" dirty="0" err="1">
                <a:solidFill>
                  <a:srgbClr val="444444"/>
                </a:solidFill>
                <a:latin typeface="Calibri" pitchFamily="34" charset="0"/>
                <a:ea typeface="Calibri" pitchFamily="34" charset="-122"/>
                <a:cs typeface="Calibri" pitchFamily="34" charset="-120"/>
              </a:rPr>
              <a:t>barang</a:t>
            </a:r>
            <a:r>
              <a:rPr lang="en-US" sz="2000" dirty="0">
                <a:solidFill>
                  <a:srgbClr val="444444"/>
                </a:solidFill>
                <a:latin typeface="Calibri" pitchFamily="34" charset="0"/>
                <a:ea typeface="Calibri" pitchFamily="34" charset="-122"/>
                <a:cs typeface="Calibri" pitchFamily="34" charset="-120"/>
              </a:rPr>
              <a:t> per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Melalui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simulasi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jika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implementasi</a:t>
            </a:r>
            <a:r>
              <a:rPr lang="en-US" sz="2000" dirty="0">
                <a:solidFill>
                  <a:srgbClr val="444444"/>
                </a:solidFill>
                <a:latin typeface="Calibri" pitchFamily="34" charset="0"/>
                <a:ea typeface="Calibri" pitchFamily="34" charset="-122"/>
                <a:cs typeface="Calibri" pitchFamily="34" charset="-120"/>
              </a:rPr>
              <a:t> strategi tata </a:t>
            </a:r>
            <a:r>
              <a:rPr lang="en-US" sz="2000" dirty="0" err="1">
                <a:solidFill>
                  <a:srgbClr val="444444"/>
                </a:solidFill>
                <a:latin typeface="Calibri" pitchFamily="34" charset="0"/>
                <a:ea typeface="Calibri" pitchFamily="34" charset="-122"/>
                <a:cs typeface="Calibri" pitchFamily="34" charset="-120"/>
              </a:rPr>
              <a:t>letak</a:t>
            </a:r>
            <a:r>
              <a:rPr lang="en-US" sz="2000" dirty="0">
                <a:solidFill>
                  <a:srgbClr val="444444"/>
                </a:solidFill>
                <a:latin typeface="Calibri" pitchFamily="34" charset="0"/>
                <a:ea typeface="Calibri" pitchFamily="34" charset="-122"/>
                <a:cs typeface="Calibri" pitchFamily="34" charset="-120"/>
              </a:rPr>
              <a:t> dan </a:t>
            </a:r>
            <a:r>
              <a:rPr lang="en-US" sz="2000" dirty="0" err="1">
                <a:solidFill>
                  <a:srgbClr val="444444"/>
                </a:solidFill>
                <a:latin typeface="Calibri" pitchFamily="34" charset="0"/>
                <a:ea typeface="Calibri" pitchFamily="34" charset="-122"/>
                <a:cs typeface="Calibri" pitchFamily="34" charset="-120"/>
              </a:rPr>
              <a:t>promosi</a:t>
            </a:r>
            <a:r>
              <a:rPr lang="en-US" sz="2000" dirty="0">
                <a:solidFill>
                  <a:srgbClr val="444444"/>
                </a:solidFill>
                <a:latin typeface="Calibri" pitchFamily="34" charset="0"/>
                <a:ea typeface="Calibri" pitchFamily="34" charset="-122"/>
                <a:cs typeface="Calibri" pitchFamily="34" charset="-120"/>
              </a:rPr>
              <a:t> bundling </a:t>
            </a:r>
            <a:r>
              <a:rPr lang="en-US" sz="2000" dirty="0" err="1">
                <a:solidFill>
                  <a:srgbClr val="444444"/>
                </a:solidFill>
                <a:latin typeface="Calibri" pitchFamily="34" charset="0"/>
                <a:ea typeface="Calibri" pitchFamily="34" charset="-122"/>
                <a:cs typeface="Calibri" pitchFamily="34" charset="-120"/>
              </a:rPr>
              <a:t>berhasil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mengonversi</a:t>
            </a:r>
            <a:r>
              <a:rPr lang="en-US" sz="2000" dirty="0">
                <a:solidFill>
                  <a:srgbClr val="444444"/>
                </a:solidFill>
                <a:latin typeface="Calibri" pitchFamily="34" charset="0"/>
                <a:ea typeface="Calibri" pitchFamily="34" charset="-122"/>
                <a:cs typeface="Calibri" pitchFamily="34" charset="-120"/>
              </a:rPr>
              <a:t> 10% </a:t>
            </a:r>
            <a:r>
              <a:rPr lang="en-US" sz="2000" dirty="0" err="1">
                <a:solidFill>
                  <a:srgbClr val="444444"/>
                </a:solidFill>
                <a:latin typeface="Calibri" pitchFamily="34" charset="0"/>
                <a:ea typeface="Calibri" pitchFamily="34" charset="-122"/>
                <a:cs typeface="Calibri" pitchFamily="34" charset="-120"/>
              </a:rPr>
              <a:t>dari</a:t>
            </a:r>
            <a:r>
              <a:rPr lang="en-US" sz="2000" dirty="0">
                <a:solidFill>
                  <a:srgbClr val="444444"/>
                </a:solidFill>
                <a:latin typeface="Calibri" pitchFamily="34" charset="0"/>
                <a:ea typeface="Calibri" pitchFamily="34" charset="-122"/>
                <a:cs typeface="Calibri" pitchFamily="34" charset="-120"/>
              </a:rPr>
              <a:t> total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angka</a:t>
            </a:r>
            <a:r>
              <a:rPr lang="en-US" sz="2000" dirty="0">
                <a:solidFill>
                  <a:srgbClr val="444444"/>
                </a:solidFill>
                <a:latin typeface="Calibri" pitchFamily="34" charset="0"/>
                <a:ea typeface="Calibri" pitchFamily="34" charset="-122"/>
                <a:cs typeface="Calibri" pitchFamily="34" charset="-120"/>
              </a:rPr>
              <a:t> rata-rata </a:t>
            </a:r>
            <a:r>
              <a:rPr lang="en-US" sz="2000" dirty="0" err="1">
                <a:solidFill>
                  <a:srgbClr val="444444"/>
                </a:solidFill>
                <a:latin typeface="Calibri" pitchFamily="34" charset="0"/>
                <a:ea typeface="Calibri" pitchFamily="34" charset="-122"/>
                <a:cs typeface="Calibri" pitchFamily="34" charset="-120"/>
              </a:rPr>
              <a:t>tersebut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diproyeksikan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meningkat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menjadi</a:t>
            </a:r>
            <a:r>
              <a:rPr lang="en-US" sz="2000" dirty="0">
                <a:solidFill>
                  <a:srgbClr val="444444"/>
                </a:solidFill>
                <a:latin typeface="Calibri" pitchFamily="34" charset="0"/>
                <a:ea typeface="Calibri" pitchFamily="34" charset="-122"/>
                <a:cs typeface="Calibri" pitchFamily="34" charset="-120"/>
              </a:rPr>
              <a:t> 3,28 </a:t>
            </a:r>
            <a:r>
              <a:rPr lang="en-US" sz="2000" dirty="0" err="1">
                <a:solidFill>
                  <a:srgbClr val="444444"/>
                </a:solidFill>
                <a:latin typeface="Calibri" pitchFamily="34" charset="0"/>
                <a:ea typeface="Calibri" pitchFamily="34" charset="-122"/>
                <a:cs typeface="Calibri" pitchFamily="34" charset="-120"/>
              </a:rPr>
              <a:t>barang</a:t>
            </a:r>
            <a:r>
              <a:rPr lang="en-US" sz="2000" dirty="0">
                <a:solidFill>
                  <a:srgbClr val="444444"/>
                </a:solidFill>
                <a:latin typeface="Calibri" pitchFamily="34" charset="0"/>
                <a:ea typeface="Calibri" pitchFamily="34" charset="-122"/>
                <a:cs typeface="Calibri" pitchFamily="34" charset="-120"/>
              </a:rPr>
              <a:t> per nota.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merealisasikan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potensi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risiko</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terukur</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manajemen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dapat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mempertimbangkan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pelaksanaan</a:t>
            </a:r>
            <a:r>
              <a:rPr lang="en-US" sz="2000" dirty="0">
                <a:solidFill>
                  <a:srgbClr val="444444"/>
                </a:solidFill>
                <a:latin typeface="Calibri" pitchFamily="34" charset="0"/>
                <a:ea typeface="Calibri" pitchFamily="34" charset="-122"/>
                <a:cs typeface="Calibri" pitchFamily="34" charset="-120"/>
              </a:rPr>
              <a:t> A/B Testing </a:t>
            </a:r>
            <a:r>
              <a:rPr lang="en-US" sz="2000" dirty="0" err="1">
                <a:solidFill>
                  <a:srgbClr val="444444"/>
                </a:solidFill>
                <a:latin typeface="Calibri" pitchFamily="34" charset="0"/>
                <a:ea typeface="Calibri" pitchFamily="34" charset="-122"/>
                <a:cs typeface="Calibri" pitchFamily="34" charset="-120"/>
              </a:rPr>
              <a:t>selama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satu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bulan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penuh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khusus</a:t>
            </a:r>
            <a:r>
              <a:rPr lang="en-US" sz="2000" dirty="0">
                <a:solidFill>
                  <a:srgbClr val="444444"/>
                </a:solidFill>
                <a:latin typeface="Calibri" pitchFamily="34" charset="0"/>
                <a:ea typeface="Calibri" pitchFamily="34" charset="-122"/>
                <a:cs typeface="Calibri" pitchFamily="34" charset="-120"/>
              </a:rPr>
              <a:t> pada area Whole Milk dan Sausage guna </a:t>
            </a:r>
            <a:r>
              <a:rPr lang="en-US" sz="2000" dirty="0" err="1">
                <a:solidFill>
                  <a:srgbClr val="444444"/>
                </a:solidFill>
                <a:latin typeface="Calibri" pitchFamily="34" charset="0"/>
                <a:ea typeface="Calibri" pitchFamily="34" charset="-122"/>
                <a:cs typeface="Calibri" pitchFamily="34" charset="-120"/>
              </a:rPr>
              <a:t>memvalidasi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efektivitas</a:t>
            </a:r>
            <a:r>
              <a:rPr lang="en-US" sz="2000" dirty="0">
                <a:solidFill>
                  <a:srgbClr val="444444"/>
                </a:solidFill>
                <a:latin typeface="Calibri" pitchFamily="34" charset="0"/>
                <a:ea typeface="Calibri" pitchFamily="34" charset="-122"/>
                <a:cs typeface="Calibri" pitchFamily="34" charset="-120"/>
              </a:rPr>
              <a:t> strategi </a:t>
            </a:r>
            <a:r>
              <a:rPr lang="en-US" sz="2000" dirty="0" err="1">
                <a:solidFill>
                  <a:srgbClr val="444444"/>
                </a:solidFill>
                <a:latin typeface="Calibri" pitchFamily="34" charset="0"/>
                <a:ea typeface="Calibri" pitchFamily="34" charset="-122"/>
                <a:cs typeface="Calibri" pitchFamily="34" charset="-120"/>
              </a:rPr>
              <a:t>secara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langsung</a:t>
            </a:r>
            <a:r>
              <a:rPr lang="en-US" sz="2000" dirty="0">
                <a:solidFill>
                  <a:srgbClr val="444444"/>
                </a:solidFill>
                <a:latin typeface="Calibri" pitchFamily="34" charset="0"/>
                <a:ea typeface="Calibri" pitchFamily="34" charset="-122"/>
                <a:cs typeface="Calibri" pitchFamily="34" charset="-120"/>
              </a:rPr>
              <a:t> di </a:t>
            </a:r>
            <a:r>
              <a:rPr lang="en-US" sz="2000" dirty="0" err="1">
                <a:solidFill>
                  <a:srgbClr val="444444"/>
                </a:solidFill>
                <a:latin typeface="Calibri" pitchFamily="34" charset="0"/>
                <a:ea typeface="Calibri" pitchFamily="34" charset="-122"/>
                <a:cs typeface="Calibri" pitchFamily="34" charset="-120"/>
              </a:rPr>
              <a:t>lapangan</a:t>
            </a:r>
            <a:r>
              <a:rPr lang="en-US" sz="2000" dirty="0">
                <a:solidFill>
                  <a:srgbClr val="444444"/>
                </a:solidFill>
                <a:latin typeface="Calibri" pitchFamily="34" charset="0"/>
                <a:ea typeface="Calibri" pitchFamily="34" charset="-122"/>
                <a:cs typeface="Calibri" pitchFamily="34" charset="-120"/>
              </a:rPr>
              <a:t>.</a:t>
            </a:r>
          </a:p>
        </p:txBody>
      </p:sp>
      <p:pic>
        <p:nvPicPr>
          <p:cNvPr id="4" name="Picture 3">
            <a:extLst>
              <a:ext uri="{FF2B5EF4-FFF2-40B4-BE49-F238E27FC236}">
                <a16:creationId xmlns:a16="http://schemas.microsoft.com/office/drawing/2014/main" id="{85394BE1-DADB-67E7-0D7F-1AA9AFF97354}"/>
              </a:ext>
            </a:extLst>
          </p:cNvPr>
          <p:cNvPicPr>
            <a:picLocks noChangeAspect="1"/>
          </p:cNvPicPr>
          <p:nvPr/>
        </p:nvPicPr>
        <p:blipFill>
          <a:blip r:embed="rId3"/>
          <a:stretch>
            <a:fillRect/>
          </a:stretch>
        </p:blipFill>
        <p:spPr>
          <a:xfrm>
            <a:off x="3623703" y="996960"/>
            <a:ext cx="4944594" cy="2911699"/>
          </a:xfrm>
          <a:prstGeom prst="rect">
            <a:avLst/>
          </a:prstGeom>
        </p:spPr>
      </p:pic>
    </p:spTree>
    <p:extLst>
      <p:ext uri="{BB962C8B-B14F-4D97-AF65-F5344CB8AC3E}">
        <p14:creationId xmlns:p14="http://schemas.microsoft.com/office/powerpoint/2010/main" val="32684067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D31E5-7A13-F898-2B54-D86E0D5BDDEB}"/>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32E9A721-C0A3-F34A-A5CE-074C9B8FC325}"/>
              </a:ext>
            </a:extLst>
          </p:cNvPr>
          <p:cNvSpPr/>
          <p:nvPr/>
        </p:nvSpPr>
        <p:spPr>
          <a:xfrm>
            <a:off x="-157547" y="18143"/>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89EB4B4B-D93D-6AF3-66EA-DDD89A052364}"/>
              </a:ext>
            </a:extLst>
          </p:cNvPr>
          <p:cNvSpPr/>
          <p:nvPr/>
        </p:nvSpPr>
        <p:spPr>
          <a:xfrm>
            <a:off x="324956" y="141821"/>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Dashboard</a:t>
            </a:r>
            <a:endParaRPr lang="en-US" sz="2800" dirty="0"/>
          </a:p>
        </p:txBody>
      </p:sp>
      <p:sp>
        <p:nvSpPr>
          <p:cNvPr id="29" name="Text 26">
            <a:extLst>
              <a:ext uri="{FF2B5EF4-FFF2-40B4-BE49-F238E27FC236}">
                <a16:creationId xmlns:a16="http://schemas.microsoft.com/office/drawing/2014/main" id="{AF5AC33C-7D07-D253-CEAA-4FD9BC76F452}"/>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pic>
        <p:nvPicPr>
          <p:cNvPr id="5" name="Picture 4">
            <a:extLst>
              <a:ext uri="{FF2B5EF4-FFF2-40B4-BE49-F238E27FC236}">
                <a16:creationId xmlns:a16="http://schemas.microsoft.com/office/drawing/2014/main" id="{8CD46ABB-7655-DEF6-07D4-A198928C0F7D}"/>
              </a:ext>
            </a:extLst>
          </p:cNvPr>
          <p:cNvPicPr>
            <a:picLocks noChangeAspect="1"/>
          </p:cNvPicPr>
          <p:nvPr/>
        </p:nvPicPr>
        <p:blipFill>
          <a:blip r:embed="rId3"/>
          <a:stretch>
            <a:fillRect/>
          </a:stretch>
        </p:blipFill>
        <p:spPr>
          <a:xfrm>
            <a:off x="933466" y="690461"/>
            <a:ext cx="10325067" cy="5856208"/>
          </a:xfrm>
          <a:prstGeom prst="rect">
            <a:avLst/>
          </a:prstGeom>
        </p:spPr>
      </p:pic>
    </p:spTree>
    <p:extLst>
      <p:ext uri="{BB962C8B-B14F-4D97-AF65-F5344CB8AC3E}">
        <p14:creationId xmlns:p14="http://schemas.microsoft.com/office/powerpoint/2010/main" val="27096362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1">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441655" y="46006"/>
            <a:ext cx="11064240" cy="548640"/>
          </a:xfrm>
          <a:prstGeom prst="rect">
            <a:avLst/>
          </a:prstGeom>
          <a:noFill/>
          <a:ln/>
        </p:spPr>
        <p:txBody>
          <a:bodyPr wrap="square" rtlCol="0" anchor="ctr"/>
          <a:lstStyle/>
          <a:p>
            <a:pPr marL="0" indent="0" algn="ctr">
              <a:buNone/>
            </a:pPr>
            <a:r>
              <a:rPr lang="en-US" sz="2800" b="1" dirty="0">
                <a:solidFill>
                  <a:srgbClr val="1E2761"/>
                </a:solidFill>
                <a:latin typeface="Cambria" pitchFamily="34" charset="0"/>
                <a:ea typeface="Cambria" pitchFamily="34" charset="-122"/>
                <a:cs typeface="Cambria" pitchFamily="34" charset="-120"/>
              </a:rPr>
              <a:t>Hasil Analisa</a:t>
            </a:r>
            <a:endParaRPr lang="en-US" sz="2800" dirty="0"/>
          </a:p>
        </p:txBody>
      </p:sp>
      <p:sp>
        <p:nvSpPr>
          <p:cNvPr id="3" name="Shape 1"/>
          <p:cNvSpPr/>
          <p:nvPr/>
        </p:nvSpPr>
        <p:spPr>
          <a:xfrm>
            <a:off x="548640" y="500331"/>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4" name="Shape 2"/>
          <p:cNvSpPr/>
          <p:nvPr/>
        </p:nvSpPr>
        <p:spPr>
          <a:xfrm>
            <a:off x="890397" y="663780"/>
            <a:ext cx="502920" cy="502920"/>
          </a:xfrm>
          <a:prstGeom prst="ellipse">
            <a:avLst/>
          </a:prstGeom>
          <a:solidFill>
            <a:srgbClr val="2E9E6D"/>
          </a:solidFill>
          <a:ln/>
        </p:spPr>
      </p:sp>
      <p:pic>
        <p:nvPicPr>
          <p:cNvPr id="5" name="Image 0" descr="icon_check.png"/>
          <p:cNvPicPr>
            <a:picLocks noChangeAspect="1"/>
          </p:cNvPicPr>
          <p:nvPr/>
        </p:nvPicPr>
        <p:blipFill>
          <a:blip r:embed="rId3"/>
          <a:stretch>
            <a:fillRect/>
          </a:stretch>
        </p:blipFill>
        <p:spPr>
          <a:xfrm>
            <a:off x="1003554" y="776937"/>
            <a:ext cx="276606" cy="276606"/>
          </a:xfrm>
          <a:prstGeom prst="rect">
            <a:avLst/>
          </a:prstGeom>
        </p:spPr>
      </p:pic>
      <p:sp>
        <p:nvSpPr>
          <p:cNvPr id="6" name="Text 3"/>
          <p:cNvSpPr/>
          <p:nvPr/>
        </p:nvSpPr>
        <p:spPr>
          <a:xfrm>
            <a:off x="1417319" y="683211"/>
            <a:ext cx="8832797" cy="435483"/>
          </a:xfrm>
          <a:prstGeom prst="rect">
            <a:avLst/>
          </a:prstGeom>
          <a:noFill/>
          <a:ln/>
        </p:spPr>
        <p:txBody>
          <a:bodyPr wrap="square" rtlCol="0" anchor="t"/>
          <a:lstStyle/>
          <a:p>
            <a:r>
              <a:rPr lang="fi-FI" b="1" dirty="0">
                <a:solidFill>
                  <a:srgbClr val="1E2761"/>
                </a:solidFill>
                <a:latin typeface="Cambria" pitchFamily="34" charset="0"/>
                <a:ea typeface="Cambria" pitchFamily="34" charset="-122"/>
                <a:cs typeface="Cambria" pitchFamily="34" charset="-120"/>
              </a:rPr>
              <a:t>Dominasi Transaksi Segmen Keranjang Kecil</a:t>
            </a:r>
            <a:endParaRPr lang="en-US" dirty="0"/>
          </a:p>
        </p:txBody>
      </p:sp>
      <p:sp>
        <p:nvSpPr>
          <p:cNvPr id="7" name="Text 4"/>
          <p:cNvSpPr/>
          <p:nvPr/>
        </p:nvSpPr>
        <p:spPr>
          <a:xfrm>
            <a:off x="777239" y="1179570"/>
            <a:ext cx="10134472" cy="502920"/>
          </a:xfrm>
          <a:prstGeom prst="rect">
            <a:avLst/>
          </a:prstGeom>
          <a:noFill/>
          <a:ln/>
        </p:spPr>
        <p:txBody>
          <a:bodyPr wrap="square" rtlCol="0" anchor="t"/>
          <a:lstStyle/>
          <a:p>
            <a:r>
              <a:rPr lang="sv-SE" sz="1400" dirty="0">
                <a:solidFill>
                  <a:srgbClr val="444444"/>
                </a:solidFill>
                <a:latin typeface="Calibri" pitchFamily="34" charset="0"/>
                <a:ea typeface="Calibri" pitchFamily="34" charset="-122"/>
                <a:cs typeface="Calibri" pitchFamily="34" charset="-120"/>
              </a:rPr>
              <a:t>Rata-rata ukuran keranjang belanja saat ini tertahan di angka 2,98 barang per nota akibat tingginya proporsi pelanggan harian yang hanya berbelanja 1 hingga 2 item (segmen Small)..</a:t>
            </a:r>
            <a:endParaRPr lang="en-US" sz="1400" dirty="0"/>
          </a:p>
        </p:txBody>
      </p:sp>
      <p:sp>
        <p:nvSpPr>
          <p:cNvPr id="22" name="Shape 17"/>
          <p:cNvSpPr/>
          <p:nvPr/>
        </p:nvSpPr>
        <p:spPr>
          <a:xfrm>
            <a:off x="777240" y="4983480"/>
            <a:ext cx="4983480" cy="640080"/>
          </a:xfrm>
          <a:prstGeom prst="roundRect">
            <a:avLst>
              <a:gd name="adj" fmla="val 8571"/>
            </a:avLst>
          </a:prstGeom>
          <a:solidFill>
            <a:srgbClr val="F5F7FC"/>
          </a:solidFill>
          <a:ln/>
        </p:spPr>
      </p:sp>
      <p:sp>
        <p:nvSpPr>
          <p:cNvPr id="32" name="Text 26"/>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11</a:t>
            </a:r>
            <a:endParaRPr lang="en-US" sz="850" dirty="0"/>
          </a:p>
        </p:txBody>
      </p:sp>
      <p:sp>
        <p:nvSpPr>
          <p:cNvPr id="25" name="Shape 1">
            <a:extLst>
              <a:ext uri="{FF2B5EF4-FFF2-40B4-BE49-F238E27FC236}">
                <a16:creationId xmlns:a16="http://schemas.microsoft.com/office/drawing/2014/main" id="{1F9B6F2B-E319-38A6-F2D8-F3C432EF8AAC}"/>
              </a:ext>
            </a:extLst>
          </p:cNvPr>
          <p:cNvSpPr/>
          <p:nvPr/>
        </p:nvSpPr>
        <p:spPr>
          <a:xfrm>
            <a:off x="548640" y="2106582"/>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7" name="Shape 2">
            <a:extLst>
              <a:ext uri="{FF2B5EF4-FFF2-40B4-BE49-F238E27FC236}">
                <a16:creationId xmlns:a16="http://schemas.microsoft.com/office/drawing/2014/main" id="{48B01CDC-5B81-CA19-FB0D-A745FA40EB20}"/>
              </a:ext>
            </a:extLst>
          </p:cNvPr>
          <p:cNvSpPr/>
          <p:nvPr/>
        </p:nvSpPr>
        <p:spPr>
          <a:xfrm>
            <a:off x="890397" y="2270031"/>
            <a:ext cx="502920" cy="502920"/>
          </a:xfrm>
          <a:prstGeom prst="ellipse">
            <a:avLst/>
          </a:prstGeom>
          <a:solidFill>
            <a:srgbClr val="2E9E6D"/>
          </a:solidFill>
          <a:ln/>
        </p:spPr>
      </p:sp>
      <p:pic>
        <p:nvPicPr>
          <p:cNvPr id="30" name="Image 0" descr="icon_check.png">
            <a:extLst>
              <a:ext uri="{FF2B5EF4-FFF2-40B4-BE49-F238E27FC236}">
                <a16:creationId xmlns:a16="http://schemas.microsoft.com/office/drawing/2014/main" id="{7FDBB12F-19D1-B28E-156F-9A51F3481FCC}"/>
              </a:ext>
            </a:extLst>
          </p:cNvPr>
          <p:cNvPicPr>
            <a:picLocks noChangeAspect="1"/>
          </p:cNvPicPr>
          <p:nvPr/>
        </p:nvPicPr>
        <p:blipFill>
          <a:blip r:embed="rId3"/>
          <a:stretch>
            <a:fillRect/>
          </a:stretch>
        </p:blipFill>
        <p:spPr>
          <a:xfrm>
            <a:off x="1003554" y="2383188"/>
            <a:ext cx="276606" cy="276606"/>
          </a:xfrm>
          <a:prstGeom prst="rect">
            <a:avLst/>
          </a:prstGeom>
        </p:spPr>
      </p:pic>
      <p:sp>
        <p:nvSpPr>
          <p:cNvPr id="33" name="Text 3">
            <a:extLst>
              <a:ext uri="{FF2B5EF4-FFF2-40B4-BE49-F238E27FC236}">
                <a16:creationId xmlns:a16="http://schemas.microsoft.com/office/drawing/2014/main" id="{D220B63E-FAF5-69DE-C5FC-EC35DD67F415}"/>
              </a:ext>
            </a:extLst>
          </p:cNvPr>
          <p:cNvSpPr/>
          <p:nvPr/>
        </p:nvSpPr>
        <p:spPr>
          <a:xfrm>
            <a:off x="1417319" y="2289462"/>
            <a:ext cx="8832797" cy="435483"/>
          </a:xfrm>
          <a:prstGeom prst="rect">
            <a:avLst/>
          </a:prstGeom>
          <a:noFill/>
          <a:ln/>
        </p:spPr>
        <p:txBody>
          <a:bodyPr wrap="square" rtlCol="0" anchor="t"/>
          <a:lstStyle/>
          <a:p>
            <a:r>
              <a:rPr lang="fi-FI" b="1" dirty="0">
                <a:solidFill>
                  <a:srgbClr val="1E2761"/>
                </a:solidFill>
                <a:latin typeface="Cambria" pitchFamily="34" charset="0"/>
                <a:ea typeface="Cambria" pitchFamily="34" charset="-122"/>
                <a:cs typeface="Cambria" pitchFamily="34" charset="-120"/>
              </a:rPr>
              <a:t>Kekuatan Asosiasi pada Produk Susu &amp; Sosis</a:t>
            </a:r>
            <a:endParaRPr lang="en-US" dirty="0"/>
          </a:p>
        </p:txBody>
      </p:sp>
      <p:sp>
        <p:nvSpPr>
          <p:cNvPr id="35" name="Text 4">
            <a:extLst>
              <a:ext uri="{FF2B5EF4-FFF2-40B4-BE49-F238E27FC236}">
                <a16:creationId xmlns:a16="http://schemas.microsoft.com/office/drawing/2014/main" id="{A5A71333-B9F6-E458-BD8B-87649AFC4D79}"/>
              </a:ext>
            </a:extLst>
          </p:cNvPr>
          <p:cNvSpPr/>
          <p:nvPr/>
        </p:nvSpPr>
        <p:spPr>
          <a:xfrm>
            <a:off x="777239" y="2809561"/>
            <a:ext cx="10728655" cy="502920"/>
          </a:xfrm>
          <a:prstGeom prst="rect">
            <a:avLst/>
          </a:prstGeom>
          <a:noFill/>
          <a:ln/>
        </p:spPr>
        <p:txBody>
          <a:bodyPr wrap="square" rtlCol="0" anchor="t"/>
          <a:lstStyle/>
          <a:p>
            <a:pPr marL="0" indent="0">
              <a:lnSpc>
                <a:spcPct val="100000"/>
              </a:lnSpc>
              <a:buNone/>
            </a:pPr>
            <a:r>
              <a:rPr lang="es-ES" sz="1400" dirty="0" err="1">
                <a:solidFill>
                  <a:srgbClr val="444444"/>
                </a:solidFill>
                <a:latin typeface="Calibri" pitchFamily="34" charset="0"/>
                <a:ea typeface="Calibri" pitchFamily="34" charset="-122"/>
                <a:cs typeface="Calibri" pitchFamily="34" charset="-120"/>
              </a:rPr>
              <a:t>Analisis</a:t>
            </a:r>
            <a:r>
              <a:rPr lang="es-ES" sz="1400" dirty="0">
                <a:solidFill>
                  <a:srgbClr val="444444"/>
                </a:solidFill>
                <a:latin typeface="Calibri" pitchFamily="34" charset="0"/>
                <a:ea typeface="Calibri" pitchFamily="34" charset="-122"/>
                <a:cs typeface="Calibri" pitchFamily="34" charset="-120"/>
              </a:rPr>
              <a:t> aturan </a:t>
            </a:r>
            <a:r>
              <a:rPr lang="es-ES" sz="1400" dirty="0" err="1">
                <a:solidFill>
                  <a:srgbClr val="444444"/>
                </a:solidFill>
                <a:latin typeface="Calibri" pitchFamily="34" charset="0"/>
                <a:ea typeface="Calibri" pitchFamily="34" charset="-122"/>
                <a:cs typeface="Calibri" pitchFamily="34" charset="-120"/>
              </a:rPr>
              <a:t>asosiasi</a:t>
            </a:r>
            <a:r>
              <a:rPr lang="es-ES" sz="1400" dirty="0">
                <a:solidFill>
                  <a:srgbClr val="444444"/>
                </a:solidFill>
                <a:latin typeface="Calibri" pitchFamily="34" charset="0"/>
                <a:ea typeface="Calibri" pitchFamily="34" charset="-122"/>
                <a:cs typeface="Calibri" pitchFamily="34" charset="-120"/>
              </a:rPr>
              <a:t> </a:t>
            </a:r>
            <a:r>
              <a:rPr lang="es-ES" sz="1400" dirty="0" err="1">
                <a:solidFill>
                  <a:srgbClr val="444444"/>
                </a:solidFill>
                <a:latin typeface="Calibri" pitchFamily="34" charset="0"/>
                <a:ea typeface="Calibri" pitchFamily="34" charset="-122"/>
                <a:cs typeface="Calibri" pitchFamily="34" charset="-120"/>
              </a:rPr>
              <a:t>menemukan</a:t>
            </a:r>
            <a:r>
              <a:rPr lang="es-ES" sz="1400" dirty="0">
                <a:solidFill>
                  <a:srgbClr val="444444"/>
                </a:solidFill>
                <a:latin typeface="Calibri" pitchFamily="34" charset="0"/>
                <a:ea typeface="Calibri" pitchFamily="34" charset="-122"/>
                <a:cs typeface="Calibri" pitchFamily="34" charset="-120"/>
              </a:rPr>
              <a:t> </a:t>
            </a:r>
            <a:r>
              <a:rPr lang="es-ES" sz="1400" dirty="0" err="1">
                <a:solidFill>
                  <a:srgbClr val="444444"/>
                </a:solidFill>
                <a:latin typeface="Calibri" pitchFamily="34" charset="0"/>
                <a:ea typeface="Calibri" pitchFamily="34" charset="-122"/>
                <a:cs typeface="Calibri" pitchFamily="34" charset="-120"/>
              </a:rPr>
              <a:t>korelasi</a:t>
            </a:r>
            <a:r>
              <a:rPr lang="es-ES" sz="1400" dirty="0">
                <a:solidFill>
                  <a:srgbClr val="444444"/>
                </a:solidFill>
                <a:latin typeface="Calibri" pitchFamily="34" charset="0"/>
                <a:ea typeface="Calibri" pitchFamily="34" charset="-122"/>
                <a:cs typeface="Calibri" pitchFamily="34" charset="-120"/>
              </a:rPr>
              <a:t> </a:t>
            </a:r>
            <a:r>
              <a:rPr lang="es-ES" sz="1400" dirty="0" err="1">
                <a:solidFill>
                  <a:srgbClr val="444444"/>
                </a:solidFill>
                <a:latin typeface="Calibri" pitchFamily="34" charset="0"/>
                <a:ea typeface="Calibri" pitchFamily="34" charset="-122"/>
                <a:cs typeface="Calibri" pitchFamily="34" charset="-120"/>
              </a:rPr>
              <a:t>pembelian</a:t>
            </a:r>
            <a:r>
              <a:rPr lang="es-ES" sz="1400" dirty="0">
                <a:solidFill>
                  <a:srgbClr val="444444"/>
                </a:solidFill>
                <a:latin typeface="Calibri" pitchFamily="34" charset="0"/>
                <a:ea typeface="Calibri" pitchFamily="34" charset="-122"/>
                <a:cs typeface="Calibri" pitchFamily="34" charset="-120"/>
              </a:rPr>
              <a:t> </a:t>
            </a:r>
            <a:r>
              <a:rPr lang="es-ES" sz="1400" dirty="0" err="1">
                <a:solidFill>
                  <a:srgbClr val="444444"/>
                </a:solidFill>
                <a:latin typeface="Calibri" pitchFamily="34" charset="0"/>
                <a:ea typeface="Calibri" pitchFamily="34" charset="-122"/>
                <a:cs typeface="Calibri" pitchFamily="34" charset="-120"/>
              </a:rPr>
              <a:t>terkuat</a:t>
            </a:r>
            <a:r>
              <a:rPr lang="es-ES" sz="1400" dirty="0">
                <a:solidFill>
                  <a:srgbClr val="444444"/>
                </a:solidFill>
                <a:latin typeface="Calibri" pitchFamily="34" charset="0"/>
                <a:ea typeface="Calibri" pitchFamily="34" charset="-122"/>
                <a:cs typeface="Calibri" pitchFamily="34" charset="-120"/>
              </a:rPr>
              <a:t> </a:t>
            </a:r>
            <a:r>
              <a:rPr lang="es-ES" sz="1400" dirty="0" err="1">
                <a:solidFill>
                  <a:srgbClr val="444444"/>
                </a:solidFill>
                <a:latin typeface="Calibri" pitchFamily="34" charset="0"/>
                <a:ea typeface="Calibri" pitchFamily="34" charset="-122"/>
                <a:cs typeface="Calibri" pitchFamily="34" charset="-120"/>
              </a:rPr>
              <a:t>dengan</a:t>
            </a:r>
            <a:r>
              <a:rPr lang="es-ES" sz="1400" dirty="0">
                <a:solidFill>
                  <a:srgbClr val="444444"/>
                </a:solidFill>
                <a:latin typeface="Calibri" pitchFamily="34" charset="0"/>
                <a:ea typeface="Calibri" pitchFamily="34" charset="-122"/>
                <a:cs typeface="Calibri" pitchFamily="34" charset="-120"/>
              </a:rPr>
              <a:t> </a:t>
            </a:r>
            <a:r>
              <a:rPr lang="es-ES" sz="1400" dirty="0" err="1">
                <a:solidFill>
                  <a:srgbClr val="444444"/>
                </a:solidFill>
                <a:latin typeface="Calibri" pitchFamily="34" charset="0"/>
                <a:ea typeface="Calibri" pitchFamily="34" charset="-122"/>
                <a:cs typeface="Calibri" pitchFamily="34" charset="-120"/>
              </a:rPr>
              <a:t>nilai</a:t>
            </a:r>
            <a:r>
              <a:rPr lang="es-ES" sz="1400" dirty="0">
                <a:solidFill>
                  <a:srgbClr val="444444"/>
                </a:solidFill>
                <a:latin typeface="Calibri" pitchFamily="34" charset="0"/>
                <a:ea typeface="Calibri" pitchFamily="34" charset="-122"/>
                <a:cs typeface="Calibri" pitchFamily="34" charset="-120"/>
              </a:rPr>
              <a:t> </a:t>
            </a:r>
            <a:r>
              <a:rPr lang="es-ES" sz="1400" dirty="0" err="1">
                <a:solidFill>
                  <a:srgbClr val="444444"/>
                </a:solidFill>
                <a:latin typeface="Calibri" pitchFamily="34" charset="0"/>
                <a:ea typeface="Calibri" pitchFamily="34" charset="-122"/>
                <a:cs typeface="Calibri" pitchFamily="34" charset="-120"/>
              </a:rPr>
              <a:t>Lift</a:t>
            </a:r>
            <a:r>
              <a:rPr lang="es-ES" sz="1400" dirty="0">
                <a:solidFill>
                  <a:srgbClr val="444444"/>
                </a:solidFill>
                <a:latin typeface="Calibri" pitchFamily="34" charset="0"/>
                <a:ea typeface="Calibri" pitchFamily="34" charset="-122"/>
                <a:cs typeface="Calibri" pitchFamily="34" charset="-120"/>
              </a:rPr>
              <a:t> 2,18 pada </a:t>
            </a:r>
            <a:r>
              <a:rPr lang="es-ES" sz="1400" dirty="0" err="1">
                <a:solidFill>
                  <a:srgbClr val="444444"/>
                </a:solidFill>
                <a:latin typeface="Calibri" pitchFamily="34" charset="0"/>
                <a:ea typeface="Calibri" pitchFamily="34" charset="-122"/>
                <a:cs typeface="Calibri" pitchFamily="34" charset="-120"/>
              </a:rPr>
              <a:t>kombinasi</a:t>
            </a:r>
            <a:r>
              <a:rPr lang="es-ES" sz="1400" dirty="0">
                <a:solidFill>
                  <a:srgbClr val="444444"/>
                </a:solidFill>
                <a:latin typeface="Calibri" pitchFamily="34" charset="0"/>
                <a:ea typeface="Calibri" pitchFamily="34" charset="-122"/>
                <a:cs typeface="Calibri" pitchFamily="34" charset="-120"/>
              </a:rPr>
              <a:t> </a:t>
            </a:r>
            <a:r>
              <a:rPr lang="es-ES" sz="1400" dirty="0" err="1">
                <a:solidFill>
                  <a:srgbClr val="444444"/>
                </a:solidFill>
                <a:latin typeface="Calibri" pitchFamily="34" charset="0"/>
                <a:ea typeface="Calibri" pitchFamily="34" charset="-122"/>
                <a:cs typeface="Calibri" pitchFamily="34" charset="-120"/>
              </a:rPr>
              <a:t>sausage</a:t>
            </a:r>
            <a:r>
              <a:rPr lang="es-ES" sz="1400" dirty="0">
                <a:solidFill>
                  <a:srgbClr val="444444"/>
                </a:solidFill>
                <a:latin typeface="Calibri" pitchFamily="34" charset="0"/>
                <a:ea typeface="Calibri" pitchFamily="34" charset="-122"/>
                <a:cs typeface="Calibri" pitchFamily="34" charset="-120"/>
              </a:rPr>
              <a:t>, yogurt, dan </a:t>
            </a:r>
            <a:r>
              <a:rPr lang="es-ES" sz="1400" dirty="0" err="1">
                <a:solidFill>
                  <a:srgbClr val="444444"/>
                </a:solidFill>
                <a:latin typeface="Calibri" pitchFamily="34" charset="0"/>
                <a:ea typeface="Calibri" pitchFamily="34" charset="-122"/>
                <a:cs typeface="Calibri" pitchFamily="34" charset="-120"/>
              </a:rPr>
              <a:t>whole</a:t>
            </a:r>
            <a:r>
              <a:rPr lang="es-ES" sz="1400" dirty="0">
                <a:solidFill>
                  <a:srgbClr val="444444"/>
                </a:solidFill>
                <a:latin typeface="Calibri" pitchFamily="34" charset="0"/>
                <a:ea typeface="Calibri" pitchFamily="34" charset="-122"/>
                <a:cs typeface="Calibri" pitchFamily="34" charset="-120"/>
              </a:rPr>
              <a:t> </a:t>
            </a:r>
            <a:r>
              <a:rPr lang="es-ES" sz="1400" dirty="0" err="1">
                <a:solidFill>
                  <a:srgbClr val="444444"/>
                </a:solidFill>
                <a:latin typeface="Calibri" pitchFamily="34" charset="0"/>
                <a:ea typeface="Calibri" pitchFamily="34" charset="-122"/>
                <a:cs typeface="Calibri" pitchFamily="34" charset="-120"/>
              </a:rPr>
              <a:t>milk</a:t>
            </a:r>
            <a:r>
              <a:rPr lang="es-ES" sz="1400" dirty="0">
                <a:solidFill>
                  <a:srgbClr val="444444"/>
                </a:solidFill>
                <a:latin typeface="Calibri" pitchFamily="34" charset="0"/>
                <a:ea typeface="Calibri" pitchFamily="34" charset="-122"/>
                <a:cs typeface="Calibri" pitchFamily="34" charset="-120"/>
              </a:rPr>
              <a:t>, yang </a:t>
            </a:r>
            <a:r>
              <a:rPr lang="es-ES" sz="1400" dirty="0" err="1">
                <a:solidFill>
                  <a:srgbClr val="444444"/>
                </a:solidFill>
                <a:latin typeface="Calibri" pitchFamily="34" charset="0"/>
                <a:ea typeface="Calibri" pitchFamily="34" charset="-122"/>
                <a:cs typeface="Calibri" pitchFamily="34" charset="-120"/>
              </a:rPr>
              <a:t>menunjukkan</a:t>
            </a:r>
            <a:r>
              <a:rPr lang="es-ES" sz="1400" dirty="0">
                <a:solidFill>
                  <a:srgbClr val="444444"/>
                </a:solidFill>
                <a:latin typeface="Calibri" pitchFamily="34" charset="0"/>
                <a:ea typeface="Calibri" pitchFamily="34" charset="-122"/>
                <a:cs typeface="Calibri" pitchFamily="34" charset="-120"/>
              </a:rPr>
              <a:t> </a:t>
            </a:r>
            <a:r>
              <a:rPr lang="es-ES" sz="1400" dirty="0" err="1">
                <a:solidFill>
                  <a:srgbClr val="444444"/>
                </a:solidFill>
                <a:latin typeface="Calibri" pitchFamily="34" charset="0"/>
                <a:ea typeface="Calibri" pitchFamily="34" charset="-122"/>
                <a:cs typeface="Calibri" pitchFamily="34" charset="-120"/>
              </a:rPr>
              <a:t>tingginya</a:t>
            </a:r>
            <a:r>
              <a:rPr lang="es-ES" sz="1400" dirty="0">
                <a:solidFill>
                  <a:srgbClr val="444444"/>
                </a:solidFill>
                <a:latin typeface="Calibri" pitchFamily="34" charset="0"/>
                <a:ea typeface="Calibri" pitchFamily="34" charset="-122"/>
                <a:cs typeface="Calibri" pitchFamily="34" charset="-120"/>
              </a:rPr>
              <a:t> </a:t>
            </a:r>
            <a:r>
              <a:rPr lang="es-ES" sz="1400" dirty="0" err="1">
                <a:solidFill>
                  <a:srgbClr val="444444"/>
                </a:solidFill>
                <a:latin typeface="Calibri" pitchFamily="34" charset="0"/>
                <a:ea typeface="Calibri" pitchFamily="34" charset="-122"/>
                <a:cs typeface="Calibri" pitchFamily="34" charset="-120"/>
              </a:rPr>
              <a:t>probabilitas</a:t>
            </a:r>
            <a:r>
              <a:rPr lang="es-ES" sz="1400" dirty="0">
                <a:solidFill>
                  <a:srgbClr val="444444"/>
                </a:solidFill>
                <a:latin typeface="Calibri" pitchFamily="34" charset="0"/>
                <a:ea typeface="Calibri" pitchFamily="34" charset="-122"/>
                <a:cs typeface="Calibri" pitchFamily="34" charset="-120"/>
              </a:rPr>
              <a:t> </a:t>
            </a:r>
            <a:r>
              <a:rPr lang="es-ES" sz="1400" dirty="0" err="1">
                <a:solidFill>
                  <a:srgbClr val="444444"/>
                </a:solidFill>
                <a:latin typeface="Calibri" pitchFamily="34" charset="0"/>
                <a:ea typeface="Calibri" pitchFamily="34" charset="-122"/>
                <a:cs typeface="Calibri" pitchFamily="34" charset="-120"/>
              </a:rPr>
              <a:t>produk-produk</a:t>
            </a:r>
            <a:r>
              <a:rPr lang="es-ES" sz="1400" dirty="0">
                <a:solidFill>
                  <a:srgbClr val="444444"/>
                </a:solidFill>
                <a:latin typeface="Calibri" pitchFamily="34" charset="0"/>
                <a:ea typeface="Calibri" pitchFamily="34" charset="-122"/>
                <a:cs typeface="Calibri" pitchFamily="34" charset="-120"/>
              </a:rPr>
              <a:t> </a:t>
            </a:r>
            <a:r>
              <a:rPr lang="es-ES" sz="1400" dirty="0" err="1">
                <a:solidFill>
                  <a:srgbClr val="444444"/>
                </a:solidFill>
                <a:latin typeface="Calibri" pitchFamily="34" charset="0"/>
                <a:ea typeface="Calibri" pitchFamily="34" charset="-122"/>
                <a:cs typeface="Calibri" pitchFamily="34" charset="-120"/>
              </a:rPr>
              <a:t>ini</a:t>
            </a:r>
            <a:r>
              <a:rPr lang="es-ES" sz="1400" dirty="0">
                <a:solidFill>
                  <a:srgbClr val="444444"/>
                </a:solidFill>
                <a:latin typeface="Calibri" pitchFamily="34" charset="0"/>
                <a:ea typeface="Calibri" pitchFamily="34" charset="-122"/>
                <a:cs typeface="Calibri" pitchFamily="34" charset="-120"/>
              </a:rPr>
              <a:t> </a:t>
            </a:r>
            <a:r>
              <a:rPr lang="es-ES" sz="1400" dirty="0" err="1">
                <a:solidFill>
                  <a:srgbClr val="444444"/>
                </a:solidFill>
                <a:latin typeface="Calibri" pitchFamily="34" charset="0"/>
                <a:ea typeface="Calibri" pitchFamily="34" charset="-122"/>
                <a:cs typeface="Calibri" pitchFamily="34" charset="-120"/>
              </a:rPr>
              <a:t>dibeli</a:t>
            </a:r>
            <a:r>
              <a:rPr lang="es-ES" sz="1400" dirty="0">
                <a:solidFill>
                  <a:srgbClr val="444444"/>
                </a:solidFill>
                <a:latin typeface="Calibri" pitchFamily="34" charset="0"/>
                <a:ea typeface="Calibri" pitchFamily="34" charset="-122"/>
                <a:cs typeface="Calibri" pitchFamily="34" charset="-120"/>
              </a:rPr>
              <a:t> secara </a:t>
            </a:r>
            <a:r>
              <a:rPr lang="es-ES" sz="1400" dirty="0" err="1">
                <a:solidFill>
                  <a:srgbClr val="444444"/>
                </a:solidFill>
                <a:latin typeface="Calibri" pitchFamily="34" charset="0"/>
                <a:ea typeface="Calibri" pitchFamily="34" charset="-122"/>
                <a:cs typeface="Calibri" pitchFamily="34" charset="-120"/>
              </a:rPr>
              <a:t>bersamaan</a:t>
            </a:r>
            <a:r>
              <a:rPr lang="es-ES" sz="1400" dirty="0">
                <a:solidFill>
                  <a:srgbClr val="444444"/>
                </a:solidFill>
                <a:latin typeface="Calibri" pitchFamily="34" charset="0"/>
                <a:ea typeface="Calibri" pitchFamily="34" charset="-122"/>
                <a:cs typeface="Calibri" pitchFamily="34" charset="-120"/>
              </a:rPr>
              <a:t>.</a:t>
            </a:r>
            <a:endParaRPr lang="en-US" sz="1400" dirty="0"/>
          </a:p>
        </p:txBody>
      </p:sp>
      <p:sp>
        <p:nvSpPr>
          <p:cNvPr id="37" name="Shape 1">
            <a:extLst>
              <a:ext uri="{FF2B5EF4-FFF2-40B4-BE49-F238E27FC236}">
                <a16:creationId xmlns:a16="http://schemas.microsoft.com/office/drawing/2014/main" id="{7B9A5D7E-E797-A456-6C75-574129D3E154}"/>
              </a:ext>
            </a:extLst>
          </p:cNvPr>
          <p:cNvSpPr/>
          <p:nvPr/>
        </p:nvSpPr>
        <p:spPr>
          <a:xfrm>
            <a:off x="548640" y="3707959"/>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39" name="Shape 2">
            <a:extLst>
              <a:ext uri="{FF2B5EF4-FFF2-40B4-BE49-F238E27FC236}">
                <a16:creationId xmlns:a16="http://schemas.microsoft.com/office/drawing/2014/main" id="{32C3CC66-2B27-7384-4681-0EA3D92C0E09}"/>
              </a:ext>
            </a:extLst>
          </p:cNvPr>
          <p:cNvSpPr/>
          <p:nvPr/>
        </p:nvSpPr>
        <p:spPr>
          <a:xfrm>
            <a:off x="890397" y="3871408"/>
            <a:ext cx="502920" cy="502920"/>
          </a:xfrm>
          <a:prstGeom prst="ellipse">
            <a:avLst/>
          </a:prstGeom>
          <a:solidFill>
            <a:srgbClr val="2E9E6D"/>
          </a:solidFill>
          <a:ln/>
        </p:spPr>
      </p:sp>
      <p:pic>
        <p:nvPicPr>
          <p:cNvPr id="41" name="Image 0" descr="icon_check.png">
            <a:extLst>
              <a:ext uri="{FF2B5EF4-FFF2-40B4-BE49-F238E27FC236}">
                <a16:creationId xmlns:a16="http://schemas.microsoft.com/office/drawing/2014/main" id="{E7D769AD-CBF8-D395-7485-E9CC57A99674}"/>
              </a:ext>
            </a:extLst>
          </p:cNvPr>
          <p:cNvPicPr>
            <a:picLocks noChangeAspect="1"/>
          </p:cNvPicPr>
          <p:nvPr/>
        </p:nvPicPr>
        <p:blipFill>
          <a:blip r:embed="rId3"/>
          <a:stretch>
            <a:fillRect/>
          </a:stretch>
        </p:blipFill>
        <p:spPr>
          <a:xfrm>
            <a:off x="1003554" y="3984565"/>
            <a:ext cx="276606" cy="276606"/>
          </a:xfrm>
          <a:prstGeom prst="rect">
            <a:avLst/>
          </a:prstGeom>
        </p:spPr>
      </p:pic>
      <p:sp>
        <p:nvSpPr>
          <p:cNvPr id="43" name="Text 3">
            <a:extLst>
              <a:ext uri="{FF2B5EF4-FFF2-40B4-BE49-F238E27FC236}">
                <a16:creationId xmlns:a16="http://schemas.microsoft.com/office/drawing/2014/main" id="{5E086224-6985-73AB-2748-936449849D25}"/>
              </a:ext>
            </a:extLst>
          </p:cNvPr>
          <p:cNvSpPr/>
          <p:nvPr/>
        </p:nvSpPr>
        <p:spPr>
          <a:xfrm>
            <a:off x="1417319" y="3890839"/>
            <a:ext cx="9859976" cy="435483"/>
          </a:xfrm>
          <a:prstGeom prst="rect">
            <a:avLst/>
          </a:prstGeom>
          <a:noFill/>
          <a:ln/>
        </p:spPr>
        <p:txBody>
          <a:bodyPr wrap="square" rtlCol="0" anchor="t"/>
          <a:lstStyle/>
          <a:p>
            <a:pPr marL="0" indent="0">
              <a:buNone/>
            </a:pPr>
            <a:r>
              <a:rPr lang="fi-FI" b="1" dirty="0">
                <a:solidFill>
                  <a:srgbClr val="1E2761"/>
                </a:solidFill>
                <a:latin typeface="Cambria" pitchFamily="34" charset="0"/>
                <a:ea typeface="Cambria" pitchFamily="34" charset="-122"/>
                <a:cs typeface="Cambria" pitchFamily="34" charset="-120"/>
              </a:rPr>
              <a:t>Puncak Aktivitas Transaksi pada Hari Kamis</a:t>
            </a:r>
            <a:endParaRPr lang="en-US" dirty="0"/>
          </a:p>
        </p:txBody>
      </p:sp>
      <p:sp>
        <p:nvSpPr>
          <p:cNvPr id="45" name="Text 4">
            <a:extLst>
              <a:ext uri="{FF2B5EF4-FFF2-40B4-BE49-F238E27FC236}">
                <a16:creationId xmlns:a16="http://schemas.microsoft.com/office/drawing/2014/main" id="{C40BEC2D-56C0-3B38-76D1-119ED33BB2EF}"/>
              </a:ext>
            </a:extLst>
          </p:cNvPr>
          <p:cNvSpPr/>
          <p:nvPr/>
        </p:nvSpPr>
        <p:spPr>
          <a:xfrm>
            <a:off x="777240" y="4449380"/>
            <a:ext cx="10134472" cy="665108"/>
          </a:xfrm>
          <a:prstGeom prst="rect">
            <a:avLst/>
          </a:prstGeom>
          <a:noFill/>
          <a:ln/>
        </p:spPr>
        <p:txBody>
          <a:bodyPr wrap="square" rtlCol="0" anchor="t"/>
          <a:lstStyle/>
          <a:p>
            <a:pPr marL="0" indent="0">
              <a:buNone/>
            </a:pPr>
            <a:r>
              <a:rPr lang="sv-SE" sz="1400" dirty="0">
                <a:solidFill>
                  <a:srgbClr val="444444"/>
                </a:solidFill>
                <a:latin typeface="Calibri" pitchFamily="34" charset="0"/>
                <a:ea typeface="Calibri" pitchFamily="34" charset="-122"/>
                <a:cs typeface="Calibri" pitchFamily="34" charset="-120"/>
              </a:rPr>
              <a:t>Tren aktivitas belanja harian menunjukkan pola yang memusat, di mana hari Kamis secara konsisten mencatatkan volume transaksi absolut tertinggi dibandingkan hari-hari lainnya dalam sepekan</a:t>
            </a:r>
            <a:endParaRPr lang="en-US" sz="1400" dirty="0"/>
          </a:p>
        </p:txBody>
      </p:sp>
      <p:sp>
        <p:nvSpPr>
          <p:cNvPr id="9" name="Shape 1">
            <a:extLst>
              <a:ext uri="{FF2B5EF4-FFF2-40B4-BE49-F238E27FC236}">
                <a16:creationId xmlns:a16="http://schemas.microsoft.com/office/drawing/2014/main" id="{46E6B252-F41C-303A-5DAD-E38067AC4080}"/>
              </a:ext>
            </a:extLst>
          </p:cNvPr>
          <p:cNvSpPr/>
          <p:nvPr/>
        </p:nvSpPr>
        <p:spPr>
          <a:xfrm>
            <a:off x="548640" y="5310815"/>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11" name="Shape 2">
            <a:extLst>
              <a:ext uri="{FF2B5EF4-FFF2-40B4-BE49-F238E27FC236}">
                <a16:creationId xmlns:a16="http://schemas.microsoft.com/office/drawing/2014/main" id="{346C32CD-56D8-042A-4906-2668113EF518}"/>
              </a:ext>
            </a:extLst>
          </p:cNvPr>
          <p:cNvSpPr/>
          <p:nvPr/>
        </p:nvSpPr>
        <p:spPr>
          <a:xfrm>
            <a:off x="890397" y="5474264"/>
            <a:ext cx="502920" cy="502920"/>
          </a:xfrm>
          <a:prstGeom prst="ellipse">
            <a:avLst/>
          </a:prstGeom>
          <a:solidFill>
            <a:srgbClr val="2E9E6D"/>
          </a:solidFill>
          <a:ln/>
        </p:spPr>
      </p:sp>
      <p:pic>
        <p:nvPicPr>
          <p:cNvPr id="13" name="Image 0" descr="icon_check.png">
            <a:extLst>
              <a:ext uri="{FF2B5EF4-FFF2-40B4-BE49-F238E27FC236}">
                <a16:creationId xmlns:a16="http://schemas.microsoft.com/office/drawing/2014/main" id="{BDBFA7BB-1C37-EE59-9867-B5F162B25DFE}"/>
              </a:ext>
            </a:extLst>
          </p:cNvPr>
          <p:cNvPicPr>
            <a:picLocks noChangeAspect="1"/>
          </p:cNvPicPr>
          <p:nvPr/>
        </p:nvPicPr>
        <p:blipFill>
          <a:blip r:embed="rId3"/>
          <a:stretch>
            <a:fillRect/>
          </a:stretch>
        </p:blipFill>
        <p:spPr>
          <a:xfrm>
            <a:off x="1003554" y="5587421"/>
            <a:ext cx="276606" cy="276606"/>
          </a:xfrm>
          <a:prstGeom prst="rect">
            <a:avLst/>
          </a:prstGeom>
        </p:spPr>
      </p:pic>
      <p:sp>
        <p:nvSpPr>
          <p:cNvPr id="15" name="Text 3">
            <a:extLst>
              <a:ext uri="{FF2B5EF4-FFF2-40B4-BE49-F238E27FC236}">
                <a16:creationId xmlns:a16="http://schemas.microsoft.com/office/drawing/2014/main" id="{80A1CBA6-C380-E22C-1252-3F4B2CB3FB62}"/>
              </a:ext>
            </a:extLst>
          </p:cNvPr>
          <p:cNvSpPr/>
          <p:nvPr/>
        </p:nvSpPr>
        <p:spPr>
          <a:xfrm>
            <a:off x="1417319" y="5493695"/>
            <a:ext cx="8832797" cy="435483"/>
          </a:xfrm>
          <a:prstGeom prst="rect">
            <a:avLst/>
          </a:prstGeom>
          <a:noFill/>
          <a:ln/>
        </p:spPr>
        <p:txBody>
          <a:bodyPr wrap="square" rtlCol="0" anchor="t"/>
          <a:lstStyle/>
          <a:p>
            <a:pPr marL="0" indent="0">
              <a:buNone/>
            </a:pPr>
            <a:r>
              <a:rPr lang="fi-FI" b="1" dirty="0">
                <a:solidFill>
                  <a:srgbClr val="1E2761"/>
                </a:solidFill>
                <a:latin typeface="Cambria" pitchFamily="34" charset="0"/>
                <a:ea typeface="Cambria" pitchFamily="34" charset="-122"/>
                <a:cs typeface="Cambria" pitchFamily="34" charset="-120"/>
              </a:rPr>
              <a:t>Proyeksi Pertumbuhan Nilai Keranjang (AOV)</a:t>
            </a:r>
            <a:endParaRPr lang="en-US" dirty="0"/>
          </a:p>
        </p:txBody>
      </p:sp>
      <p:sp>
        <p:nvSpPr>
          <p:cNvPr id="17" name="Text 4">
            <a:extLst>
              <a:ext uri="{FF2B5EF4-FFF2-40B4-BE49-F238E27FC236}">
                <a16:creationId xmlns:a16="http://schemas.microsoft.com/office/drawing/2014/main" id="{283AE2FC-5126-056E-C906-08823BE23707}"/>
              </a:ext>
            </a:extLst>
          </p:cNvPr>
          <p:cNvSpPr/>
          <p:nvPr/>
        </p:nvSpPr>
        <p:spPr>
          <a:xfrm>
            <a:off x="845732" y="6066579"/>
            <a:ext cx="10134472" cy="502920"/>
          </a:xfrm>
          <a:prstGeom prst="rect">
            <a:avLst/>
          </a:prstGeom>
          <a:noFill/>
          <a:ln/>
        </p:spPr>
        <p:txBody>
          <a:bodyPr wrap="square" rtlCol="0" anchor="t"/>
          <a:lstStyle/>
          <a:p>
            <a:r>
              <a:rPr lang="sv-SE" sz="1400" dirty="0">
                <a:solidFill>
                  <a:srgbClr val="444444"/>
                </a:solidFill>
                <a:latin typeface="Calibri" pitchFamily="34" charset="0"/>
                <a:ea typeface="Calibri" pitchFamily="34" charset="-122"/>
                <a:cs typeface="Calibri" pitchFamily="34" charset="-120"/>
              </a:rPr>
              <a:t>Berdasarkan simulasi data, potensi keberhasilan mengonversi 10% dari total transaksi saat ini diproyeksikan mampu mendongkrak rata-rata keranjang belanja (AOV) secara signifikan menjadi 3,28 barang per nota.</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7FC"/>
        </a:solidFill>
        <a:effectLst/>
      </p:bgPr>
    </p:bg>
    <p:spTree>
      <p:nvGrpSpPr>
        <p:cNvPr id="1" name="">
          <a:extLst>
            <a:ext uri="{FF2B5EF4-FFF2-40B4-BE49-F238E27FC236}">
              <a16:creationId xmlns:a16="http://schemas.microsoft.com/office/drawing/2014/main" id="{8B1B99C5-52A1-583C-DBC0-DF2BF025671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AE5FCA0-E43F-BD00-063D-8B50D42FDBB5}"/>
              </a:ext>
            </a:extLst>
          </p:cNvPr>
          <p:cNvSpPr/>
          <p:nvPr/>
        </p:nvSpPr>
        <p:spPr>
          <a:xfrm>
            <a:off x="548640" y="411480"/>
            <a:ext cx="11064240" cy="548640"/>
          </a:xfrm>
          <a:prstGeom prst="rect">
            <a:avLst/>
          </a:prstGeom>
          <a:noFill/>
          <a:ln/>
        </p:spPr>
        <p:txBody>
          <a:bodyPr wrap="square" rtlCol="0" anchor="ctr"/>
          <a:lstStyle/>
          <a:p>
            <a:pPr marL="0" indent="0" algn="ctr">
              <a:buNone/>
            </a:pPr>
            <a:r>
              <a:rPr lang="en-US" sz="2800" b="1" dirty="0" err="1">
                <a:solidFill>
                  <a:srgbClr val="1E2761"/>
                </a:solidFill>
                <a:latin typeface="Cambria" pitchFamily="34" charset="0"/>
                <a:ea typeface="Cambria" pitchFamily="34" charset="-122"/>
              </a:rPr>
              <a:t>Rekomendasi</a:t>
            </a:r>
            <a:r>
              <a:rPr lang="en-US" sz="2800" b="1" dirty="0">
                <a:solidFill>
                  <a:srgbClr val="1E2761"/>
                </a:solidFill>
                <a:latin typeface="Cambria" pitchFamily="34" charset="0"/>
                <a:ea typeface="Cambria" pitchFamily="34" charset="-122"/>
              </a:rPr>
              <a:t> </a:t>
            </a:r>
            <a:r>
              <a:rPr lang="en-US" sz="2800" b="1" dirty="0" err="1">
                <a:solidFill>
                  <a:srgbClr val="1E2761"/>
                </a:solidFill>
                <a:latin typeface="Cambria" pitchFamily="34" charset="0"/>
                <a:ea typeface="Cambria" pitchFamily="34" charset="-122"/>
              </a:rPr>
              <a:t>Bisnis</a:t>
            </a:r>
            <a:endParaRPr lang="en-US" sz="2800" dirty="0"/>
          </a:p>
        </p:txBody>
      </p:sp>
      <p:sp>
        <p:nvSpPr>
          <p:cNvPr id="3" name="Shape 1">
            <a:extLst>
              <a:ext uri="{FF2B5EF4-FFF2-40B4-BE49-F238E27FC236}">
                <a16:creationId xmlns:a16="http://schemas.microsoft.com/office/drawing/2014/main" id="{D1D0517B-6D46-F46C-66DD-F2D15EFE5B4B}"/>
              </a:ext>
            </a:extLst>
          </p:cNvPr>
          <p:cNvSpPr/>
          <p:nvPr/>
        </p:nvSpPr>
        <p:spPr>
          <a:xfrm>
            <a:off x="548640" y="987552"/>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4" name="Shape 2">
            <a:extLst>
              <a:ext uri="{FF2B5EF4-FFF2-40B4-BE49-F238E27FC236}">
                <a16:creationId xmlns:a16="http://schemas.microsoft.com/office/drawing/2014/main" id="{4E2B48C6-A620-7C92-693D-BF96347DBE43}"/>
              </a:ext>
            </a:extLst>
          </p:cNvPr>
          <p:cNvSpPr/>
          <p:nvPr/>
        </p:nvSpPr>
        <p:spPr>
          <a:xfrm>
            <a:off x="890397" y="1151001"/>
            <a:ext cx="502920" cy="502920"/>
          </a:xfrm>
          <a:prstGeom prst="ellipse">
            <a:avLst/>
          </a:prstGeom>
          <a:solidFill>
            <a:srgbClr val="2E9E6D"/>
          </a:solidFill>
          <a:ln/>
        </p:spPr>
      </p:sp>
      <p:pic>
        <p:nvPicPr>
          <p:cNvPr id="5" name="Image 0" descr="icon_check.png">
            <a:extLst>
              <a:ext uri="{FF2B5EF4-FFF2-40B4-BE49-F238E27FC236}">
                <a16:creationId xmlns:a16="http://schemas.microsoft.com/office/drawing/2014/main" id="{F8B3BC94-3C39-807A-C4DF-E5EAA3DA15B2}"/>
              </a:ext>
            </a:extLst>
          </p:cNvPr>
          <p:cNvPicPr>
            <a:picLocks noChangeAspect="1"/>
          </p:cNvPicPr>
          <p:nvPr/>
        </p:nvPicPr>
        <p:blipFill>
          <a:blip r:embed="rId3"/>
          <a:stretch>
            <a:fillRect/>
          </a:stretch>
        </p:blipFill>
        <p:spPr>
          <a:xfrm>
            <a:off x="1003554" y="1264158"/>
            <a:ext cx="276606" cy="276606"/>
          </a:xfrm>
          <a:prstGeom prst="rect">
            <a:avLst/>
          </a:prstGeom>
        </p:spPr>
      </p:pic>
      <p:sp>
        <p:nvSpPr>
          <p:cNvPr id="6" name="Text 3">
            <a:extLst>
              <a:ext uri="{FF2B5EF4-FFF2-40B4-BE49-F238E27FC236}">
                <a16:creationId xmlns:a16="http://schemas.microsoft.com/office/drawing/2014/main" id="{25AD91CA-62D7-4C3C-3623-3F25F7229168}"/>
              </a:ext>
            </a:extLst>
          </p:cNvPr>
          <p:cNvSpPr/>
          <p:nvPr/>
        </p:nvSpPr>
        <p:spPr>
          <a:xfrm>
            <a:off x="1417319" y="1170432"/>
            <a:ext cx="8832797" cy="435483"/>
          </a:xfrm>
          <a:prstGeom prst="rect">
            <a:avLst/>
          </a:prstGeom>
          <a:noFill/>
          <a:ln/>
        </p:spPr>
        <p:txBody>
          <a:bodyPr wrap="square" rtlCol="0" anchor="t"/>
          <a:lstStyle/>
          <a:p>
            <a:pPr marL="0" indent="0">
              <a:buNone/>
            </a:pPr>
            <a:r>
              <a:rPr lang="es-ES" b="1" dirty="0" err="1">
                <a:solidFill>
                  <a:srgbClr val="1E2761"/>
                </a:solidFill>
                <a:latin typeface="Cambria" pitchFamily="34" charset="0"/>
                <a:ea typeface="Cambria" pitchFamily="34" charset="-122"/>
                <a:cs typeface="Cambria" pitchFamily="34" charset="-120"/>
              </a:rPr>
              <a:t>Optimalisasi</a:t>
            </a:r>
            <a:r>
              <a:rPr lang="es-ES" b="1" dirty="0">
                <a:solidFill>
                  <a:srgbClr val="1E2761"/>
                </a:solidFill>
                <a:latin typeface="Cambria" pitchFamily="34" charset="0"/>
                <a:ea typeface="Cambria" pitchFamily="34" charset="-122"/>
                <a:cs typeface="Cambria" pitchFamily="34" charset="-120"/>
              </a:rPr>
              <a:t> Tata </a:t>
            </a:r>
            <a:r>
              <a:rPr lang="es-ES" b="1" dirty="0" err="1">
                <a:solidFill>
                  <a:srgbClr val="1E2761"/>
                </a:solidFill>
                <a:latin typeface="Cambria" pitchFamily="34" charset="0"/>
                <a:ea typeface="Cambria" pitchFamily="34" charset="-122"/>
                <a:cs typeface="Cambria" pitchFamily="34" charset="-120"/>
              </a:rPr>
              <a:t>Letak</a:t>
            </a:r>
            <a:r>
              <a:rPr lang="es-ES" b="1" dirty="0">
                <a:solidFill>
                  <a:srgbClr val="1E2761"/>
                </a:solidFill>
                <a:latin typeface="Cambria" pitchFamily="34" charset="0"/>
                <a:ea typeface="Cambria" pitchFamily="34" charset="-122"/>
                <a:cs typeface="Cambria" pitchFamily="34" charset="-120"/>
              </a:rPr>
              <a:t> </a:t>
            </a:r>
            <a:r>
              <a:rPr lang="es-ES" b="1" dirty="0" err="1">
                <a:solidFill>
                  <a:srgbClr val="1E2761"/>
                </a:solidFill>
                <a:latin typeface="Cambria" pitchFamily="34" charset="0"/>
                <a:ea typeface="Cambria" pitchFamily="34" charset="-122"/>
                <a:cs typeface="Cambria" pitchFamily="34" charset="-120"/>
              </a:rPr>
              <a:t>Area</a:t>
            </a:r>
            <a:r>
              <a:rPr lang="es-ES" b="1" dirty="0">
                <a:solidFill>
                  <a:srgbClr val="1E2761"/>
                </a:solidFill>
                <a:latin typeface="Cambria" pitchFamily="34" charset="0"/>
                <a:ea typeface="Cambria" pitchFamily="34" charset="-122"/>
                <a:cs typeface="Cambria" pitchFamily="34" charset="-120"/>
              </a:rPr>
              <a:t> Kasir &amp; Ujung </a:t>
            </a:r>
            <a:r>
              <a:rPr lang="es-ES" b="1" dirty="0" err="1">
                <a:solidFill>
                  <a:srgbClr val="1E2761"/>
                </a:solidFill>
                <a:latin typeface="Cambria" pitchFamily="34" charset="0"/>
                <a:ea typeface="Cambria" pitchFamily="34" charset="-122"/>
                <a:cs typeface="Cambria" pitchFamily="34" charset="-120"/>
              </a:rPr>
              <a:t>Lorong</a:t>
            </a:r>
            <a:r>
              <a:rPr lang="es-ES" b="1" dirty="0">
                <a:solidFill>
                  <a:srgbClr val="1E2761"/>
                </a:solidFill>
                <a:latin typeface="Cambria" pitchFamily="34" charset="0"/>
                <a:ea typeface="Cambria" pitchFamily="34" charset="-122"/>
                <a:cs typeface="Cambria" pitchFamily="34" charset="-120"/>
              </a:rPr>
              <a:t> (End-</a:t>
            </a:r>
            <a:r>
              <a:rPr lang="es-ES" b="1" dirty="0" err="1">
                <a:solidFill>
                  <a:srgbClr val="1E2761"/>
                </a:solidFill>
                <a:latin typeface="Cambria" pitchFamily="34" charset="0"/>
                <a:ea typeface="Cambria" pitchFamily="34" charset="-122"/>
                <a:cs typeface="Cambria" pitchFamily="34" charset="-120"/>
              </a:rPr>
              <a:t>Cap</a:t>
            </a:r>
            <a:r>
              <a:rPr lang="es-ES" b="1" dirty="0">
                <a:solidFill>
                  <a:srgbClr val="1E2761"/>
                </a:solidFill>
                <a:latin typeface="Cambria" pitchFamily="34" charset="0"/>
                <a:ea typeface="Cambria" pitchFamily="34" charset="-122"/>
                <a:cs typeface="Cambria" pitchFamily="34" charset="-120"/>
              </a:rPr>
              <a:t>)</a:t>
            </a:r>
            <a:endParaRPr lang="en-US" dirty="0"/>
          </a:p>
        </p:txBody>
      </p:sp>
      <p:sp>
        <p:nvSpPr>
          <p:cNvPr id="7" name="Text 4">
            <a:extLst>
              <a:ext uri="{FF2B5EF4-FFF2-40B4-BE49-F238E27FC236}">
                <a16:creationId xmlns:a16="http://schemas.microsoft.com/office/drawing/2014/main" id="{98147F66-DF44-DD36-12A4-297D40D42696}"/>
              </a:ext>
            </a:extLst>
          </p:cNvPr>
          <p:cNvSpPr/>
          <p:nvPr/>
        </p:nvSpPr>
        <p:spPr>
          <a:xfrm>
            <a:off x="777240" y="1712686"/>
            <a:ext cx="10134472" cy="502920"/>
          </a:xfrm>
          <a:prstGeom prst="rect">
            <a:avLst/>
          </a:prstGeom>
          <a:noFill/>
          <a:ln/>
        </p:spPr>
        <p:txBody>
          <a:bodyPr wrap="square" rtlCol="0" anchor="t"/>
          <a:lstStyle/>
          <a:p>
            <a:pPr marL="0" indent="0">
              <a:buNone/>
            </a:pPr>
            <a:r>
              <a:rPr lang="sv-SE" sz="1400" dirty="0">
                <a:solidFill>
                  <a:srgbClr val="444444"/>
                </a:solidFill>
                <a:latin typeface="Calibri" pitchFamily="34" charset="0"/>
                <a:ea typeface="Calibri" pitchFamily="34" charset="-122"/>
                <a:cs typeface="Calibri" pitchFamily="34" charset="-120"/>
              </a:rPr>
              <a:t>Manajemen disarankan untuk menyediakan front-end chiller berisi aneka keju di jalur antrean kasir guna memicu pembelian impulsif, serta mengatur pajangan end-cap yang mendekatkan produk segar dengan olahan susu agar pelanggan lebih mudah melakukan cross-buying.</a:t>
            </a:r>
            <a:endParaRPr lang="en-US" sz="1400" dirty="0"/>
          </a:p>
        </p:txBody>
      </p:sp>
      <p:sp>
        <p:nvSpPr>
          <p:cNvPr id="22" name="Shape 17">
            <a:extLst>
              <a:ext uri="{FF2B5EF4-FFF2-40B4-BE49-F238E27FC236}">
                <a16:creationId xmlns:a16="http://schemas.microsoft.com/office/drawing/2014/main" id="{AAA40129-5471-0019-7312-449A7C3838BB}"/>
              </a:ext>
            </a:extLst>
          </p:cNvPr>
          <p:cNvSpPr/>
          <p:nvPr/>
        </p:nvSpPr>
        <p:spPr>
          <a:xfrm>
            <a:off x="777240" y="4983480"/>
            <a:ext cx="4983480" cy="640080"/>
          </a:xfrm>
          <a:prstGeom prst="roundRect">
            <a:avLst>
              <a:gd name="adj" fmla="val 8571"/>
            </a:avLst>
          </a:prstGeom>
          <a:solidFill>
            <a:srgbClr val="F5F7FC"/>
          </a:solidFill>
          <a:ln/>
        </p:spPr>
      </p:sp>
      <p:sp>
        <p:nvSpPr>
          <p:cNvPr id="32" name="Text 26">
            <a:extLst>
              <a:ext uri="{FF2B5EF4-FFF2-40B4-BE49-F238E27FC236}">
                <a16:creationId xmlns:a16="http://schemas.microsoft.com/office/drawing/2014/main" id="{92C42FE2-2EDD-58F4-5E6F-B770B6A2D4E6}"/>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11</a:t>
            </a:r>
            <a:endParaRPr lang="en-US" sz="850" dirty="0"/>
          </a:p>
        </p:txBody>
      </p:sp>
      <p:sp>
        <p:nvSpPr>
          <p:cNvPr id="25" name="Shape 1">
            <a:extLst>
              <a:ext uri="{FF2B5EF4-FFF2-40B4-BE49-F238E27FC236}">
                <a16:creationId xmlns:a16="http://schemas.microsoft.com/office/drawing/2014/main" id="{1BB11EE8-202A-0139-D8D6-8058A57A3969}"/>
              </a:ext>
            </a:extLst>
          </p:cNvPr>
          <p:cNvSpPr/>
          <p:nvPr/>
        </p:nvSpPr>
        <p:spPr>
          <a:xfrm>
            <a:off x="563880" y="2739636"/>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7" name="Shape 2">
            <a:extLst>
              <a:ext uri="{FF2B5EF4-FFF2-40B4-BE49-F238E27FC236}">
                <a16:creationId xmlns:a16="http://schemas.microsoft.com/office/drawing/2014/main" id="{976D72A2-6759-8CB6-AED2-3B0A4EFD9B1F}"/>
              </a:ext>
            </a:extLst>
          </p:cNvPr>
          <p:cNvSpPr/>
          <p:nvPr/>
        </p:nvSpPr>
        <p:spPr>
          <a:xfrm>
            <a:off x="890397" y="2903085"/>
            <a:ext cx="502920" cy="502920"/>
          </a:xfrm>
          <a:prstGeom prst="ellipse">
            <a:avLst/>
          </a:prstGeom>
          <a:solidFill>
            <a:srgbClr val="2E9E6D"/>
          </a:solidFill>
          <a:ln/>
        </p:spPr>
      </p:sp>
      <p:pic>
        <p:nvPicPr>
          <p:cNvPr id="30" name="Image 0" descr="icon_check.png">
            <a:extLst>
              <a:ext uri="{FF2B5EF4-FFF2-40B4-BE49-F238E27FC236}">
                <a16:creationId xmlns:a16="http://schemas.microsoft.com/office/drawing/2014/main" id="{F3ED04BB-8F33-DB8E-C2DB-F70C011CF6C2}"/>
              </a:ext>
            </a:extLst>
          </p:cNvPr>
          <p:cNvPicPr>
            <a:picLocks noChangeAspect="1"/>
          </p:cNvPicPr>
          <p:nvPr/>
        </p:nvPicPr>
        <p:blipFill>
          <a:blip r:embed="rId3"/>
          <a:stretch>
            <a:fillRect/>
          </a:stretch>
        </p:blipFill>
        <p:spPr>
          <a:xfrm>
            <a:off x="1003554" y="3016242"/>
            <a:ext cx="276606" cy="276606"/>
          </a:xfrm>
          <a:prstGeom prst="rect">
            <a:avLst/>
          </a:prstGeom>
        </p:spPr>
      </p:pic>
      <p:sp>
        <p:nvSpPr>
          <p:cNvPr id="33" name="Text 3">
            <a:extLst>
              <a:ext uri="{FF2B5EF4-FFF2-40B4-BE49-F238E27FC236}">
                <a16:creationId xmlns:a16="http://schemas.microsoft.com/office/drawing/2014/main" id="{118332A6-8F75-1BF9-792E-677E58C3ED05}"/>
              </a:ext>
            </a:extLst>
          </p:cNvPr>
          <p:cNvSpPr/>
          <p:nvPr/>
        </p:nvSpPr>
        <p:spPr>
          <a:xfrm>
            <a:off x="1417319" y="2922516"/>
            <a:ext cx="8832797" cy="435483"/>
          </a:xfrm>
          <a:prstGeom prst="rect">
            <a:avLst/>
          </a:prstGeom>
          <a:noFill/>
          <a:ln/>
        </p:spPr>
        <p:txBody>
          <a:bodyPr wrap="square" rtlCol="0" anchor="t"/>
          <a:lstStyle/>
          <a:p>
            <a:r>
              <a:rPr lang="fi-FI" b="1" dirty="0">
                <a:solidFill>
                  <a:srgbClr val="1E2761"/>
                </a:solidFill>
                <a:latin typeface="Cambria" pitchFamily="34" charset="0"/>
                <a:ea typeface="Cambria" pitchFamily="34" charset="-122"/>
                <a:cs typeface="Cambria" pitchFamily="34" charset="-120"/>
              </a:rPr>
              <a:t>Fokus Program Bundling pada Hari Puncak Transaksi</a:t>
            </a:r>
            <a:endParaRPr lang="en-US" dirty="0"/>
          </a:p>
        </p:txBody>
      </p:sp>
      <p:sp>
        <p:nvSpPr>
          <p:cNvPr id="35" name="Text 4">
            <a:extLst>
              <a:ext uri="{FF2B5EF4-FFF2-40B4-BE49-F238E27FC236}">
                <a16:creationId xmlns:a16="http://schemas.microsoft.com/office/drawing/2014/main" id="{3E7F7364-9362-DC6C-AA77-153081D49908}"/>
              </a:ext>
            </a:extLst>
          </p:cNvPr>
          <p:cNvSpPr/>
          <p:nvPr/>
        </p:nvSpPr>
        <p:spPr>
          <a:xfrm>
            <a:off x="777240" y="3479286"/>
            <a:ext cx="10134472" cy="502920"/>
          </a:xfrm>
          <a:prstGeom prst="rect">
            <a:avLst/>
          </a:prstGeom>
          <a:noFill/>
          <a:ln/>
        </p:spPr>
        <p:txBody>
          <a:bodyPr wrap="square" rtlCol="0" anchor="t"/>
          <a:lstStyle/>
          <a:p>
            <a:r>
              <a:rPr lang="sv-SE" sz="1400" dirty="0">
                <a:solidFill>
                  <a:srgbClr val="444444"/>
                </a:solidFill>
                <a:latin typeface="Calibri" pitchFamily="34" charset="0"/>
                <a:ea typeface="Calibri" pitchFamily="34" charset="-122"/>
                <a:cs typeface="Calibri" pitchFamily="34" charset="-120"/>
              </a:rPr>
              <a:t>Tim pemasaran dapat mempertimbangkan pengalokasian anggaran diskon dan paket penawaran (bundling) khusus untuk 3 kombinasi produk teratas (seperti sausage, yogurt, dan whole milk), yang pelaksanaannya difokuskan pada hari Kamis untuk memaksimalkan tingkat konversi.</a:t>
            </a:r>
          </a:p>
        </p:txBody>
      </p:sp>
      <p:sp>
        <p:nvSpPr>
          <p:cNvPr id="9" name="Shape 1">
            <a:extLst>
              <a:ext uri="{FF2B5EF4-FFF2-40B4-BE49-F238E27FC236}">
                <a16:creationId xmlns:a16="http://schemas.microsoft.com/office/drawing/2014/main" id="{E6FC4952-1762-6FB2-6D8B-AA411B1BE3E5}"/>
              </a:ext>
            </a:extLst>
          </p:cNvPr>
          <p:cNvSpPr/>
          <p:nvPr/>
        </p:nvSpPr>
        <p:spPr>
          <a:xfrm>
            <a:off x="548640" y="4557276"/>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11" name="Shape 2">
            <a:extLst>
              <a:ext uri="{FF2B5EF4-FFF2-40B4-BE49-F238E27FC236}">
                <a16:creationId xmlns:a16="http://schemas.microsoft.com/office/drawing/2014/main" id="{A172B1E3-A3C8-959F-45C6-302CF9C6D8D9}"/>
              </a:ext>
            </a:extLst>
          </p:cNvPr>
          <p:cNvSpPr/>
          <p:nvPr/>
        </p:nvSpPr>
        <p:spPr>
          <a:xfrm>
            <a:off x="875157" y="4720725"/>
            <a:ext cx="502920" cy="502920"/>
          </a:xfrm>
          <a:prstGeom prst="ellipse">
            <a:avLst/>
          </a:prstGeom>
          <a:solidFill>
            <a:srgbClr val="2E9E6D"/>
          </a:solidFill>
          <a:ln/>
        </p:spPr>
      </p:sp>
      <p:pic>
        <p:nvPicPr>
          <p:cNvPr id="13" name="Image 0" descr="icon_check.png">
            <a:extLst>
              <a:ext uri="{FF2B5EF4-FFF2-40B4-BE49-F238E27FC236}">
                <a16:creationId xmlns:a16="http://schemas.microsoft.com/office/drawing/2014/main" id="{E58CFE3A-585D-F023-7170-B8A3592486BE}"/>
              </a:ext>
            </a:extLst>
          </p:cNvPr>
          <p:cNvPicPr>
            <a:picLocks noChangeAspect="1"/>
          </p:cNvPicPr>
          <p:nvPr/>
        </p:nvPicPr>
        <p:blipFill>
          <a:blip r:embed="rId3"/>
          <a:stretch>
            <a:fillRect/>
          </a:stretch>
        </p:blipFill>
        <p:spPr>
          <a:xfrm>
            <a:off x="988314" y="4833882"/>
            <a:ext cx="276606" cy="276606"/>
          </a:xfrm>
          <a:prstGeom prst="rect">
            <a:avLst/>
          </a:prstGeom>
        </p:spPr>
      </p:pic>
      <p:sp>
        <p:nvSpPr>
          <p:cNvPr id="15" name="Text 3">
            <a:extLst>
              <a:ext uri="{FF2B5EF4-FFF2-40B4-BE49-F238E27FC236}">
                <a16:creationId xmlns:a16="http://schemas.microsoft.com/office/drawing/2014/main" id="{D30DC73B-FECA-6CA5-E19D-317B56F30A89}"/>
              </a:ext>
            </a:extLst>
          </p:cNvPr>
          <p:cNvSpPr/>
          <p:nvPr/>
        </p:nvSpPr>
        <p:spPr>
          <a:xfrm>
            <a:off x="1402079" y="4740156"/>
            <a:ext cx="8832797" cy="435483"/>
          </a:xfrm>
          <a:prstGeom prst="rect">
            <a:avLst/>
          </a:prstGeom>
          <a:noFill/>
          <a:ln/>
        </p:spPr>
        <p:txBody>
          <a:bodyPr wrap="square" rtlCol="0" anchor="t"/>
          <a:lstStyle/>
          <a:p>
            <a:r>
              <a:rPr lang="fi-FI" b="1" dirty="0">
                <a:solidFill>
                  <a:srgbClr val="1E2761"/>
                </a:solidFill>
                <a:latin typeface="Cambria" pitchFamily="34" charset="0"/>
                <a:ea typeface="Cambria" pitchFamily="34" charset="-122"/>
                <a:cs typeface="Cambria" pitchFamily="34" charset="-120"/>
              </a:rPr>
              <a:t>Pelaksanaan A/B Testing untuk Validasi Proyeksi AOV</a:t>
            </a:r>
            <a:endParaRPr lang="en-US" dirty="0"/>
          </a:p>
        </p:txBody>
      </p:sp>
      <p:sp>
        <p:nvSpPr>
          <p:cNvPr id="17" name="Text 4">
            <a:extLst>
              <a:ext uri="{FF2B5EF4-FFF2-40B4-BE49-F238E27FC236}">
                <a16:creationId xmlns:a16="http://schemas.microsoft.com/office/drawing/2014/main" id="{DA277BBB-5477-617C-2E5F-D44D39BAF01C}"/>
              </a:ext>
            </a:extLst>
          </p:cNvPr>
          <p:cNvSpPr/>
          <p:nvPr/>
        </p:nvSpPr>
        <p:spPr>
          <a:xfrm>
            <a:off x="762000" y="5289629"/>
            <a:ext cx="10134472" cy="502920"/>
          </a:xfrm>
          <a:prstGeom prst="rect">
            <a:avLst/>
          </a:prstGeom>
          <a:noFill/>
          <a:ln/>
        </p:spPr>
        <p:txBody>
          <a:bodyPr wrap="square" rtlCol="0" anchor="t"/>
          <a:lstStyle/>
          <a:p>
            <a:pPr marL="0" indent="0">
              <a:lnSpc>
                <a:spcPct val="100000"/>
              </a:lnSpc>
              <a:buNone/>
            </a:pPr>
            <a:r>
              <a:rPr lang="sv-SE" sz="1400" dirty="0">
                <a:solidFill>
                  <a:srgbClr val="444444"/>
                </a:solidFill>
                <a:latin typeface="Calibri" pitchFamily="34" charset="0"/>
                <a:ea typeface="Calibri" pitchFamily="34" charset="-122"/>
                <a:cs typeface="Calibri" pitchFamily="34" charset="-120"/>
              </a:rPr>
              <a:t>Sebagai langkah eksekusi dengan risiko terukur, tim operasional disarankan menjalankan A/B Testing selama satu bulan penuh khusus pada area lorong Whole Milk dan Sausage untuk memvalidasi efektivitas strategi ini dalam mendongkrak rata-rata keranjang (AOV) menuju target 3,28 barang.</a:t>
            </a:r>
          </a:p>
        </p:txBody>
      </p:sp>
    </p:spTree>
    <p:extLst>
      <p:ext uri="{BB962C8B-B14F-4D97-AF65-F5344CB8AC3E}">
        <p14:creationId xmlns:p14="http://schemas.microsoft.com/office/powerpoint/2010/main" val="3221160999"/>
      </p:ext>
    </p:extLst>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9661</TotalTime>
  <Words>3004</Words>
  <Application>Microsoft Office PowerPoint</Application>
  <PresentationFormat>Widescreen</PresentationFormat>
  <Paragraphs>274</Paragraphs>
  <Slides>37</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Arial</vt:lpstr>
      <vt:lpstr>Arial Nova Light</vt:lpstr>
      <vt:lpstr>Calibri</vt:lpstr>
      <vt:lpstr>Cambria</vt:lpstr>
      <vt:lpstr>Dark Gradient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64</cp:revision>
  <dcterms:created xsi:type="dcterms:W3CDTF">2026-08-17T04:02:49Z</dcterms:created>
  <dcterms:modified xsi:type="dcterms:W3CDTF">2026-10-26T07:02:24Z</dcterms:modified>
</cp:coreProperties>
</file>