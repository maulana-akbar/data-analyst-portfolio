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4" r:id="rId1"/>
  </p:sldMasterIdLst>
  <p:notesMasterIdLst>
    <p:notesMasterId r:id="rId28"/>
  </p:notesMasterIdLst>
  <p:sldIdLst>
    <p:sldId id="256" r:id="rId2"/>
    <p:sldId id="257" r:id="rId3"/>
    <p:sldId id="262" r:id="rId4"/>
    <p:sldId id="263" r:id="rId5"/>
    <p:sldId id="270"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77" r:id="rId20"/>
    <p:sldId id="293" r:id="rId21"/>
    <p:sldId id="294" r:id="rId22"/>
    <p:sldId id="295" r:id="rId23"/>
    <p:sldId id="296" r:id="rId24"/>
    <p:sldId id="297" r:id="rId25"/>
    <p:sldId id="266" r:id="rId26"/>
    <p:sldId id="279" r:id="rId2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78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56369-65C4-8615-5B45-51C7C85AE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852F1-D38D-58C3-F0D0-95564AEDF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C3A80-9908-C417-373B-098411E99B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8508BD-72E3-484F-2E45-266F3B1CD2F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73592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B3A79-470F-1A68-565F-6BC2806C2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CFC51-7FB3-984F-4962-51F1696A3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FBED8-336E-F12C-355A-B9BA771E0B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DCE4D4-665C-68F1-6749-BFAAE7ECA84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90083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93F0D-2C87-3454-D719-2BA38AC4D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1B347-386C-3E09-C516-315B4583F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185B0-D406-891D-9F1C-3084500443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A6F3E-ED56-2D5A-B07D-EAE1B2C310F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58368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2A16E-FF6A-479E-DB88-06DDC20C5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27BFB-0B8E-C085-FB6B-C4CFF272E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D34F8-199A-42CA-E267-B571975A6A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9E8B30-A187-587E-AE3F-7380E67028A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79430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BC77-9D4A-CA68-F646-4016CFC52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420C4-3ABB-E681-4881-001257726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180E50-88E0-1733-C97B-25483C8F5C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7243A0-63BF-E53D-8AFD-46A947DCCE9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36608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87551-7C29-D2F9-F0FE-58C54388B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C233E-5E6A-A05C-EEAE-2AA03601B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1826A-BC50-BF0D-FBA8-86EF4CF398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71C24C-7734-0EC2-3ACD-55A7290F0A3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94174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2C87F-E72D-05A9-31E0-77647D585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BE65F-7174-BC1C-DDD3-E600B14071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1730C-11E4-1444-616E-5DDF0A2358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897EA6-18B5-DB0C-52FE-7DC4D5C0048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9992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D3F72-73E2-9391-D3AA-46700621D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214C8-6F42-CA38-A1B4-C2FCE311B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0B03C-E027-A2CE-11F3-BE9842EA3D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AB24BE-3B5B-DFC2-A97B-37718654CA4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131387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31DED-4B86-7E5A-2E05-60D93B4AB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C1C00-04C9-4C03-4B7E-E9513EB73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A5A7A-C1EB-00B6-0199-7893168805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E71A04-8468-AFB3-B175-44448521D82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534892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AA237-CB05-DF45-872D-49EF25654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BFF2E-759E-CBC3-3443-7ECA9E3F7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9A8F0-0BDB-8BCE-8A3E-57D4B54057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C77B7C-E570-CB07-C540-9BA122C0C3C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26743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F1A2B-F268-E851-5B41-1876BAB5C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FEB99-4ADF-C204-746E-8B727636C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420E9-CFF2-1173-B769-05EF5C49B0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8AB4D1-48DE-4FF9-0268-29317C09946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85827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55177-0184-DC2E-CFE8-406B965FE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F1B57-EBE3-209A-651A-405B489B2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D110D-5B32-C83C-5BFC-969E74E4F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628D3C-6349-58AC-4848-622C2CE3F4F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84806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87D72-C0F4-81E8-CE99-3973DFC11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FC073-2291-346A-1FB3-D9741F169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4E1DB-6EC9-C65C-7043-E775EE5A46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0F1B33-BED4-D627-CF05-125DB063406B}"/>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907225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51A03-64C9-A83B-1CE5-086C47A64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0CF17-E782-7E34-BA39-DA1D51F16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DD0F2-2A2D-C432-6496-7D26083DC7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2F0E65-AED2-49E5-6683-D8CF5F1546F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209239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C7929-96BA-E700-AA71-3BCCC73EB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7213C-80D2-FCBE-3EE0-CA3630A4B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EAA1A-3D21-96D2-8A36-E3C8B045E7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514F05-CB78-25BA-5962-F7B3F62FDB4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450899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F5C2F-BECF-0B05-1866-C81A08EB4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92319A-A71D-3C85-8AB4-7B93B3E10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63A79-003E-7EA1-5EC5-0C5489607D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3CFAEE-825B-E706-8C24-A63BC8EA6148}"/>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969151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13046-70D4-BA63-BEF4-6787606AF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D2707-7363-B6C2-E6F4-4DCAA55A6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CC807-A116-461D-033C-EE4D9AB7F6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E7AEAD-1E90-22FA-83BB-E0F375C15F9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802410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98EFE-F928-E066-7E4B-8BC4CDF92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46799-E1AA-E50C-04B1-970FEA5DB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9A9EB9-56EA-1F99-3400-E2ED4B19A2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4E8AC9-49B8-3875-0FE4-06EEDFD83E1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215597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77D11-04DB-7373-A5C8-6BB2E29F9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00E6F-5BB4-B9EF-B3D8-08E27627FF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96931-00B1-270A-1318-8A9C3F9DCF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AD6AB0-678B-AADB-70D5-D4904AEE3662}"/>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760547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206C4-DFE7-6F0D-D244-96E90E88B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F50C8-F19A-6BE6-8B1F-F16289691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371188-4C1E-9F06-3B1F-3169C0B60D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EFA352-0CA2-DA96-61C7-49C01A70C296}"/>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134401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283AD-B85D-96BC-2E86-A32218BA5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1C459-4025-8D9F-EFE7-268D1E654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21449-F458-E80E-A29D-C68816FA44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D4A50A-83C7-640A-BE1F-B4AE50EAA2E4}"/>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7371012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dirty="0"/>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06794984"/>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541611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C764DE79-268F-4C1A-8933-263129D2AF90}" type="datetimeFigureOut">
              <a:rPr lang="en-US" smtClean="0"/>
              <a:t>9/14/2026</a:t>
            </a:fld>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2694597"/>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C764DE79-268F-4C1A-8933-263129D2AF90}" type="datetimeFigureOut">
              <a:rPr lang="en-US" smtClean="0"/>
              <a:t>9/14/2026</a:t>
            </a:fld>
            <a:endParaRPr lang="en-US" dirty="0"/>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dirty="0"/>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48F63A3B-78C7-47BE-AE5E-E10140E04643}" type="slidenum">
              <a:rPr lang="en-US" smtClean="0"/>
              <a:t>‹#›</a:t>
            </a:fld>
            <a:endParaRPr lang="en-US" dirty="0"/>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852861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C764DE79-268F-4C1A-8933-263129D2AF90}" type="datetimeFigureOut">
              <a:rPr lang="en-US" smtClean="0"/>
              <a:t>9/14/2026</a:t>
            </a:fld>
            <a:endParaRPr lang="en-US" dirty="0"/>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8779515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dirty="0"/>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3529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C764DE79-268F-4C1A-8933-263129D2AF90}" type="datetimeFigureOut">
              <a:rPr lang="en-US" smtClean="0"/>
              <a:t>9/14/2026</a:t>
            </a:fld>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1979615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38620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dirty="0"/>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21128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C764DE79-268F-4C1A-8933-263129D2AF90}" type="datetimeFigureOut">
              <a:rPr lang="en-US" smtClean="0"/>
              <a:t>9/14/2026</a:t>
            </a:fld>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dirty="0"/>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9726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C764DE79-268F-4C1A-8933-263129D2AF90}" type="datetimeFigureOut">
              <a:rPr lang="en-US" smtClean="0"/>
              <a:t>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48F63A3B-78C7-47BE-AE5E-E10140E04643}" type="slidenum">
              <a:rPr lang="en-US" smtClean="0"/>
              <a:t>‹#›</a:t>
            </a:fld>
            <a:endParaRPr lang="en-US" dirty="0"/>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8259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C764DE79-268F-4C1A-8933-263129D2AF90}" type="datetimeFigureOut">
              <a:rPr lang="en-US" smtClean="0"/>
              <a:t>9/14/2026</a:t>
            </a:fld>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dirty="0"/>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520143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764DE79-268F-4C1A-8933-263129D2AF90}" type="datetimeFigureOut">
              <a:rPr lang="en-US" smtClean="0"/>
              <a:t>9/14/2026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41384060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C764DE79-268F-4C1A-8933-263129D2AF90}" type="datetimeFigureOut">
              <a:rPr lang="en-US" smtClean="0"/>
              <a:t>9/14/2026</a:t>
            </a:fld>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dirty="0"/>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58119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C764DE79-268F-4C1A-8933-263129D2AF90}" type="datetimeFigureOut">
              <a:rPr lang="en-US" smtClean="0"/>
              <a:t>9/14/2026</a:t>
            </a:fld>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dirty="0"/>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83270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C764DE79-268F-4C1A-8933-263129D2AF90}" type="datetimeFigureOut">
              <a:rPr lang="en-US" smtClean="0"/>
              <a:t>9/14/2026</a:t>
            </a:fld>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dirty="0"/>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48F63A3B-78C7-47BE-AE5E-E10140E04643}" type="slidenum">
              <a:rPr lang="en-US" smtClean="0"/>
              <a:t>‹#›</a:t>
            </a:fld>
            <a:endParaRPr lang="en-US" dirty="0"/>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106067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799634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25594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25691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606935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9/14/2026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62336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C764DE79-268F-4C1A-8933-263129D2AF90}" type="datetimeFigureOut">
              <a:rPr lang="en-US" smtClean="0"/>
              <a:t>9/14/2026</a:t>
            </a:fld>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48F63A3B-78C7-47BE-AE5E-E10140E04643}" type="slidenum">
              <a:rPr lang="en-US" smtClean="0"/>
              <a:t>‹#›</a:t>
            </a:fld>
            <a:endParaRPr lang="en-US" dirty="0"/>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103834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C764DE79-268F-4C1A-8933-263129D2AF90}" type="datetimeFigureOut">
              <a:rPr lang="en-US" smtClean="0"/>
              <a:t>9/14/2026</a:t>
            </a:fld>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3765298"/>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C764DE79-268F-4C1A-8933-263129D2AF90}" type="datetimeFigureOut">
              <a:rPr lang="en-US" smtClean="0"/>
              <a:t>9/14/2026</a:t>
            </a:fld>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dirty="0"/>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88392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C764DE79-268F-4C1A-8933-263129D2AF90}" type="datetimeFigureOut">
              <a:rPr lang="en-US" smtClean="0"/>
              <a:t>9/14/2026</a:t>
            </a:fld>
            <a:endParaRPr lang="en-US" dirty="0"/>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dirty="0"/>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2908327"/>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764DE79-268F-4C1A-8933-263129D2AF90}" type="datetimeFigureOut">
              <a:rPr lang="en-US" smtClean="0"/>
              <a:t>9/14/2026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49264331"/>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764DE79-268F-4C1A-8933-263129D2AF90}" type="datetimeFigureOut">
              <a:rPr lang="en-US" smtClean="0"/>
              <a:t>9/14/2026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65871354"/>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296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C764DE79-268F-4C1A-8933-263129D2AF90}" type="datetimeFigureOut">
              <a:rPr lang="en-US" smtClean="0"/>
              <a:t>9/14/2026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48F63A3B-78C7-47BE-AE5E-E10140E04643}" type="slidenum">
              <a:rPr lang="en-US" smtClean="0"/>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164215"/>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Lst>
  <p:hf sldNum="0" hdr="0" ftr="0" dt="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8.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8.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8.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8.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8.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6" name="Text 3"/>
          <p:cNvSpPr/>
          <p:nvPr/>
        </p:nvSpPr>
        <p:spPr>
          <a:xfrm>
            <a:off x="822959" y="2377440"/>
            <a:ext cx="9558169" cy="1920240"/>
          </a:xfrm>
          <a:prstGeom prst="rect">
            <a:avLst/>
          </a:prstGeom>
          <a:noFill/>
          <a:ln/>
        </p:spPr>
        <p:txBody>
          <a:bodyPr wrap="square" rtlCol="0" anchor="ctr"/>
          <a:lstStyle/>
          <a:p>
            <a:pPr>
              <a:lnSpc>
                <a:spcPts val="5000"/>
              </a:lnSpc>
            </a:pPr>
            <a:r>
              <a:rPr lang="en-US" sz="4600" b="1" dirty="0" err="1">
                <a:solidFill>
                  <a:srgbClr val="FFFFFF"/>
                </a:solidFill>
                <a:latin typeface="Cambria" pitchFamily="34" charset="0"/>
                <a:ea typeface="Cambria" pitchFamily="34" charset="-122"/>
                <a:cs typeface="Cambria" pitchFamily="34" charset="-120"/>
              </a:rPr>
              <a:t>Analisis</a:t>
            </a:r>
            <a:r>
              <a:rPr lang="en-US" sz="4600" b="1" dirty="0">
                <a:solidFill>
                  <a:srgbClr val="FFFFFF"/>
                </a:solidFill>
                <a:latin typeface="Cambria" pitchFamily="34" charset="0"/>
                <a:ea typeface="Cambria" pitchFamily="34" charset="-122"/>
                <a:cs typeface="Cambria" pitchFamily="34" charset="-120"/>
              </a:rPr>
              <a:t> </a:t>
            </a:r>
            <a:r>
              <a:rPr lang="en-US" sz="4600" b="1" dirty="0" err="1">
                <a:solidFill>
                  <a:srgbClr val="FFFFFF"/>
                </a:solidFill>
                <a:latin typeface="Cambria" pitchFamily="34" charset="0"/>
                <a:ea typeface="Cambria" pitchFamily="34" charset="-122"/>
                <a:cs typeface="Cambria" pitchFamily="34" charset="-120"/>
              </a:rPr>
              <a:t>Pengaruh</a:t>
            </a:r>
            <a:r>
              <a:rPr lang="en-US" sz="4600" b="1" dirty="0">
                <a:solidFill>
                  <a:srgbClr val="FFFFFF"/>
                </a:solidFill>
                <a:latin typeface="Cambria" pitchFamily="34" charset="0"/>
                <a:ea typeface="Cambria" pitchFamily="34" charset="-122"/>
                <a:cs typeface="Cambria" pitchFamily="34" charset="-120"/>
              </a:rPr>
              <a:t> Harga retail dan </a:t>
            </a:r>
            <a:r>
              <a:rPr lang="en-US" sz="4600" b="1" dirty="0" err="1">
                <a:solidFill>
                  <a:srgbClr val="FFFFFF"/>
                </a:solidFill>
                <a:latin typeface="Cambria" pitchFamily="34" charset="0"/>
                <a:ea typeface="Cambria" pitchFamily="34" charset="-122"/>
                <a:cs typeface="Cambria" pitchFamily="34" charset="-120"/>
              </a:rPr>
              <a:t>Tipe</a:t>
            </a:r>
            <a:r>
              <a:rPr lang="en-US" sz="4600" b="1" dirty="0">
                <a:solidFill>
                  <a:srgbClr val="FFFFFF"/>
                </a:solidFill>
                <a:latin typeface="Cambria" pitchFamily="34" charset="0"/>
                <a:ea typeface="Cambria" pitchFamily="34" charset="-122"/>
                <a:cs typeface="Cambria" pitchFamily="34" charset="-120"/>
              </a:rPr>
              <a:t> Outlet </a:t>
            </a:r>
            <a:r>
              <a:rPr lang="en-US" sz="4600" b="1" dirty="0" err="1">
                <a:solidFill>
                  <a:srgbClr val="FFFFFF"/>
                </a:solidFill>
                <a:latin typeface="Cambria" pitchFamily="34" charset="0"/>
                <a:ea typeface="Cambria" pitchFamily="34" charset="-122"/>
                <a:cs typeface="Cambria" pitchFamily="34" charset="-120"/>
              </a:rPr>
              <a:t>Terhadap</a:t>
            </a:r>
            <a:r>
              <a:rPr lang="en-US" sz="4600" b="1" dirty="0">
                <a:solidFill>
                  <a:srgbClr val="FFFFFF"/>
                </a:solidFill>
                <a:latin typeface="Cambria" pitchFamily="34" charset="0"/>
                <a:ea typeface="Cambria" pitchFamily="34" charset="-122"/>
                <a:cs typeface="Cambria" pitchFamily="34" charset="-120"/>
              </a:rPr>
              <a:t> </a:t>
            </a:r>
            <a:r>
              <a:rPr lang="en-US" sz="4600" b="1" dirty="0" err="1">
                <a:solidFill>
                  <a:srgbClr val="FFFFFF"/>
                </a:solidFill>
                <a:latin typeface="Cambria" pitchFamily="34" charset="0"/>
                <a:ea typeface="Cambria" pitchFamily="34" charset="-122"/>
                <a:cs typeface="Cambria" pitchFamily="34" charset="-120"/>
              </a:rPr>
              <a:t>Pendapatan</a:t>
            </a:r>
            <a:r>
              <a:rPr lang="en-US" sz="4600" b="1" dirty="0">
                <a:solidFill>
                  <a:srgbClr val="FFFFFF"/>
                </a:solidFill>
                <a:latin typeface="Cambria" pitchFamily="34" charset="0"/>
                <a:ea typeface="Cambria" pitchFamily="34" charset="-122"/>
                <a:cs typeface="Cambria" pitchFamily="34" charset="-120"/>
              </a:rPr>
              <a:t> </a:t>
            </a:r>
            <a:r>
              <a:rPr lang="en-US" sz="4600" b="1" dirty="0" err="1">
                <a:solidFill>
                  <a:srgbClr val="FFFFFF"/>
                </a:solidFill>
                <a:latin typeface="Cambria" pitchFamily="34" charset="0"/>
                <a:ea typeface="Cambria" pitchFamily="34" charset="-122"/>
                <a:cs typeface="Cambria" pitchFamily="34" charset="-120"/>
              </a:rPr>
              <a:t>Penjualan</a:t>
            </a:r>
            <a:r>
              <a:rPr lang="en-US" sz="4600" b="1" dirty="0">
                <a:solidFill>
                  <a:srgbClr val="FFFFFF"/>
                </a:solidFill>
                <a:latin typeface="Cambria" pitchFamily="34" charset="0"/>
                <a:ea typeface="Cambria" pitchFamily="34" charset="-122"/>
                <a:cs typeface="Cambria" pitchFamily="34" charset="-120"/>
              </a:rPr>
              <a:t> </a:t>
            </a:r>
            <a:r>
              <a:rPr lang="en-US" sz="4600" b="1" dirty="0" err="1">
                <a:solidFill>
                  <a:srgbClr val="FFFFFF"/>
                </a:solidFill>
                <a:latin typeface="Cambria" pitchFamily="34" charset="0"/>
                <a:ea typeface="Cambria" pitchFamily="34" charset="-122"/>
                <a:cs typeface="Cambria" pitchFamily="34" charset="-120"/>
              </a:rPr>
              <a:t>Ritel</a:t>
            </a:r>
            <a:endParaRPr lang="en-US" sz="4600" dirty="0"/>
          </a:p>
        </p:txBody>
      </p:sp>
      <p:sp>
        <p:nvSpPr>
          <p:cNvPr id="8" name="Text 5"/>
          <p:cNvSpPr/>
          <p:nvPr/>
        </p:nvSpPr>
        <p:spPr>
          <a:xfrm>
            <a:off x="822960" y="6035040"/>
            <a:ext cx="7315200" cy="365760"/>
          </a:xfrm>
          <a:prstGeom prst="rect">
            <a:avLst/>
          </a:prstGeom>
          <a:noFill/>
          <a:ln/>
        </p:spPr>
        <p:txBody>
          <a:bodyPr wrap="square" rtlCol="0" anchor="ctr"/>
          <a:lstStyle/>
          <a:p>
            <a:pPr marL="0" indent="0">
              <a:buNone/>
            </a:pPr>
            <a:r>
              <a:rPr lang="en-US" sz="1200" i="1" dirty="0">
                <a:solidFill>
                  <a:srgbClr val="8E9BD1"/>
                </a:solidFill>
                <a:latin typeface="Calibri" pitchFamily="34" charset="0"/>
                <a:ea typeface="Calibri" pitchFamily="34" charset="-122"/>
                <a:cs typeface="Calibri" pitchFamily="34" charset="-120"/>
              </a:rPr>
              <a:t>Bootcamp Mini Project  •  Python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3" name="Shape 1"/>
          <p:cNvSpPr/>
          <p:nvPr/>
        </p:nvSpPr>
        <p:spPr>
          <a:xfrm>
            <a:off x="822960" y="233979"/>
            <a:ext cx="822960" cy="822960"/>
          </a:xfrm>
          <a:prstGeom prst="ellipse">
            <a:avLst/>
          </a:prstGeom>
          <a:solidFill>
            <a:srgbClr val="F2545B"/>
          </a:solidFill>
          <a:ln/>
        </p:spPr>
      </p:sp>
      <p:pic>
        <p:nvPicPr>
          <p:cNvPr id="4" name="Image 0" descr="icon_user.png"/>
          <p:cNvPicPr>
            <a:picLocks noChangeAspect="1"/>
          </p:cNvPicPr>
          <p:nvPr/>
        </p:nvPicPr>
        <p:blipFill>
          <a:blip r:embed="rId3"/>
          <a:stretch>
            <a:fillRect/>
          </a:stretch>
        </p:blipFill>
        <p:spPr>
          <a:xfrm>
            <a:off x="1008126" y="419145"/>
            <a:ext cx="452628" cy="452628"/>
          </a:xfrm>
          <a:prstGeom prst="rect">
            <a:avLst/>
          </a:prstGeom>
        </p:spPr>
      </p:pic>
      <p:sp>
        <p:nvSpPr>
          <p:cNvPr id="5" name="Text 2"/>
          <p:cNvSpPr/>
          <p:nvPr/>
        </p:nvSpPr>
        <p:spPr>
          <a:xfrm>
            <a:off x="1920240" y="53788"/>
            <a:ext cx="9144000" cy="100584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INTRODUCTION</a:t>
            </a:r>
            <a:endParaRPr lang="en-US" sz="3800" dirty="0"/>
          </a:p>
        </p:txBody>
      </p:sp>
      <p:pic>
        <p:nvPicPr>
          <p:cNvPr id="8" name="Picture 7">
            <a:extLst>
              <a:ext uri="{FF2B5EF4-FFF2-40B4-BE49-F238E27FC236}">
                <a16:creationId xmlns:a16="http://schemas.microsoft.com/office/drawing/2014/main" id="{EEA88E6F-CD97-A232-087B-297FE918B315}"/>
              </a:ext>
            </a:extLst>
          </p:cNvPr>
          <p:cNvPicPr>
            <a:picLocks noChangeAspect="1"/>
          </p:cNvPicPr>
          <p:nvPr/>
        </p:nvPicPr>
        <p:blipFill>
          <a:blip r:embed="rId4"/>
          <a:stretch>
            <a:fillRect/>
          </a:stretch>
        </p:blipFill>
        <p:spPr>
          <a:xfrm>
            <a:off x="-1234440" y="1600200"/>
            <a:ext cx="4114800" cy="5505450"/>
          </a:xfrm>
          <a:prstGeom prst="rect">
            <a:avLst/>
          </a:prstGeom>
        </p:spPr>
      </p:pic>
      <p:sp>
        <p:nvSpPr>
          <p:cNvPr id="10" name="Text 2">
            <a:extLst>
              <a:ext uri="{FF2B5EF4-FFF2-40B4-BE49-F238E27FC236}">
                <a16:creationId xmlns:a16="http://schemas.microsoft.com/office/drawing/2014/main" id="{295511A5-53DA-ABD0-1DAF-02C84F522FFD}"/>
              </a:ext>
            </a:extLst>
          </p:cNvPr>
          <p:cNvSpPr/>
          <p:nvPr/>
        </p:nvSpPr>
        <p:spPr>
          <a:xfrm>
            <a:off x="2589903" y="2312893"/>
            <a:ext cx="6997849" cy="3926541"/>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Self-Overview</a:t>
            </a:r>
            <a:endParaRPr lang="en-US" sz="1800" dirty="0"/>
          </a:p>
        </p:txBody>
      </p:sp>
      <p:sp>
        <p:nvSpPr>
          <p:cNvPr id="13" name="Text 2">
            <a:extLst>
              <a:ext uri="{FF2B5EF4-FFF2-40B4-BE49-F238E27FC236}">
                <a16:creationId xmlns:a16="http://schemas.microsoft.com/office/drawing/2014/main" id="{2501468D-4DD5-7C01-FBC1-4AFCABFC9C16}"/>
              </a:ext>
            </a:extLst>
          </p:cNvPr>
          <p:cNvSpPr/>
          <p:nvPr/>
        </p:nvSpPr>
        <p:spPr>
          <a:xfrm>
            <a:off x="1920240" y="1452281"/>
            <a:ext cx="2834640" cy="640080"/>
          </a:xfrm>
          <a:prstGeom prst="rect">
            <a:avLst/>
          </a:prstGeom>
          <a:noFill/>
          <a:ln/>
        </p:spPr>
        <p:txBody>
          <a:bodyPr wrap="square" rtlCol="0" anchor="ctr"/>
          <a:lstStyle/>
          <a:p>
            <a:pPr marL="0" indent="0">
              <a:buNone/>
            </a:pPr>
            <a:r>
              <a:rPr lang="en-US" sz="2800" b="1" dirty="0">
                <a:latin typeface="Cambria" pitchFamily="34" charset="0"/>
                <a:ea typeface="Cambria" pitchFamily="34" charset="-122"/>
                <a:cs typeface="Cambria" pitchFamily="34" charset="-120"/>
              </a:rPr>
              <a:t>Self-Overview</a:t>
            </a:r>
          </a:p>
          <a:p>
            <a:pPr marL="0" indent="0">
              <a:buNone/>
            </a:pPr>
            <a:endParaRPr lang="en-US" sz="2800" b="1" dirty="0">
              <a:latin typeface="Cambria" pitchFamily="34" charset="0"/>
              <a:ea typeface="Cambria" pitchFamily="34" charset="-122"/>
              <a:cs typeface="Cambria" pitchFamily="34" charset="-120"/>
            </a:endParaRPr>
          </a:p>
          <a:p>
            <a:pPr marL="0" indent="0">
              <a:buNone/>
            </a:pPr>
            <a:r>
              <a:rPr lang="en-US" sz="2800" b="1" dirty="0">
                <a:latin typeface="Cambria" pitchFamily="34" charset="0"/>
                <a:ea typeface="Cambria" pitchFamily="34" charset="-122"/>
                <a:cs typeface="Cambria" pitchFamily="34" charset="-120"/>
              </a:rPr>
              <a:t>Raden Maulana Akbar</a:t>
            </a:r>
            <a:r>
              <a:rPr lang="en-US" b="1" dirty="0">
                <a:latin typeface="Cambria" pitchFamily="34" charset="0"/>
                <a:ea typeface="Cambria" pitchFamily="34" charset="-122"/>
                <a:cs typeface="Cambria" pitchFamily="34" charset="-120"/>
              </a:rPr>
              <a:t> </a:t>
            </a:r>
            <a:endParaRPr lang="en-US" sz="1800" dirty="0"/>
          </a:p>
        </p:txBody>
      </p:sp>
      <p:sp>
        <p:nvSpPr>
          <p:cNvPr id="14" name="TextBox 13">
            <a:extLst>
              <a:ext uri="{FF2B5EF4-FFF2-40B4-BE49-F238E27FC236}">
                <a16:creationId xmlns:a16="http://schemas.microsoft.com/office/drawing/2014/main" id="{C0D7EFE0-12AC-7C8A-8C3A-339872B3DD74}"/>
              </a:ext>
            </a:extLst>
          </p:cNvPr>
          <p:cNvSpPr txBox="1"/>
          <p:nvPr/>
        </p:nvSpPr>
        <p:spPr>
          <a:xfrm>
            <a:off x="4754880" y="1863750"/>
            <a:ext cx="5959736"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t>Education</a:t>
            </a:r>
          </a:p>
          <a:p>
            <a:pPr marL="742950" lvl="1" indent="-285750">
              <a:buFont typeface="Arial" panose="020B0604020202020204" pitchFamily="34" charset="0"/>
              <a:buChar char="•"/>
            </a:pPr>
            <a:r>
              <a:rPr lang="en-US" sz="4000" dirty="0"/>
              <a:t>SMAN 7 Bekasi</a:t>
            </a:r>
            <a:endParaRPr lang="en-ID" sz="4000" dirty="0"/>
          </a:p>
        </p:txBody>
      </p:sp>
      <p:sp>
        <p:nvSpPr>
          <p:cNvPr id="6" name="TextBox 5">
            <a:extLst>
              <a:ext uri="{FF2B5EF4-FFF2-40B4-BE49-F238E27FC236}">
                <a16:creationId xmlns:a16="http://schemas.microsoft.com/office/drawing/2014/main" id="{5311D2CA-88D7-5598-2F96-1FC7E1C4C4F8}"/>
              </a:ext>
            </a:extLst>
          </p:cNvPr>
          <p:cNvSpPr txBox="1"/>
          <p:nvPr/>
        </p:nvSpPr>
        <p:spPr>
          <a:xfrm>
            <a:off x="4754880" y="3691205"/>
            <a:ext cx="7132320" cy="1938992"/>
          </a:xfrm>
          <a:prstGeom prst="rect">
            <a:avLst/>
          </a:prstGeom>
          <a:noFill/>
        </p:spPr>
        <p:txBody>
          <a:bodyPr wrap="square" rtlCol="0">
            <a:spAutoFit/>
          </a:bodyPr>
          <a:lstStyle/>
          <a:p>
            <a:pPr marL="285750" indent="-285750">
              <a:buFont typeface="Arial" panose="020B0604020202020204" pitchFamily="34" charset="0"/>
              <a:buChar char="•"/>
            </a:pPr>
            <a:r>
              <a:rPr lang="en-US" sz="4000" dirty="0"/>
              <a:t>Project</a:t>
            </a:r>
          </a:p>
          <a:p>
            <a:pPr marL="742950" lvl="1" indent="-285750">
              <a:buFont typeface="Arial" panose="020B0604020202020204" pitchFamily="34" charset="0"/>
              <a:buChar char="•"/>
            </a:pPr>
            <a:r>
              <a:rPr lang="en-US" sz="2000" dirty="0"/>
              <a:t>Employee Attrition &amp; High-Performance Loss Analysis</a:t>
            </a:r>
          </a:p>
          <a:p>
            <a:pPr marL="742950" lvl="1" indent="-285750">
              <a:buFont typeface="Arial" panose="020B0604020202020204" pitchFamily="34" charset="0"/>
              <a:buChar char="•"/>
            </a:pPr>
            <a:r>
              <a:rPr lang="en-US" sz="2000" dirty="0" err="1"/>
              <a:t>Analisis</a:t>
            </a:r>
            <a:r>
              <a:rPr lang="en-US" sz="2000" dirty="0"/>
              <a:t> Jenis </a:t>
            </a:r>
            <a:r>
              <a:rPr lang="en-US" sz="2000" dirty="0" err="1"/>
              <a:t>Produk</a:t>
            </a:r>
            <a:r>
              <a:rPr lang="en-US" sz="2000" dirty="0"/>
              <a:t> dan </a:t>
            </a:r>
            <a:r>
              <a:rPr lang="en-US" sz="2000" dirty="0" err="1"/>
              <a:t>Visibilitas</a:t>
            </a:r>
            <a:r>
              <a:rPr lang="en-US" sz="2000" dirty="0"/>
              <a:t> Ruang </a:t>
            </a:r>
            <a:r>
              <a:rPr lang="en-US" sz="2000" dirty="0" err="1"/>
              <a:t>Pajang</a:t>
            </a:r>
            <a:r>
              <a:rPr lang="en-US" sz="2000" dirty="0"/>
              <a:t> </a:t>
            </a:r>
            <a:r>
              <a:rPr lang="en-US" sz="2000" dirty="0" err="1"/>
              <a:t>Terhadap</a:t>
            </a:r>
            <a:r>
              <a:rPr lang="en-US" sz="2000" dirty="0"/>
              <a:t> </a:t>
            </a:r>
            <a:r>
              <a:rPr lang="en-US" sz="2000" dirty="0" err="1"/>
              <a:t>Penjualan</a:t>
            </a:r>
            <a:r>
              <a:rPr lang="en-US" sz="2000" dirty="0"/>
              <a:t> </a:t>
            </a:r>
            <a:r>
              <a:rPr lang="en-US" sz="2000" dirty="0" err="1"/>
              <a:t>Ritel</a:t>
            </a:r>
            <a:endParaRPr lang="en-US" sz="2000" dirty="0"/>
          </a:p>
          <a:p>
            <a:pPr marL="742950" lvl="1" indent="-285750">
              <a:buFont typeface="Arial" panose="020B0604020202020204" pitchFamily="34" charset="0"/>
              <a:buChar char="•"/>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Problem Statement</a:t>
            </a:r>
            <a:endParaRPr lang="en-US" sz="2800" dirty="0"/>
          </a:p>
        </p:txBody>
      </p:sp>
      <p:sp>
        <p:nvSpPr>
          <p:cNvPr id="3" name="Shape 1"/>
          <p:cNvSpPr/>
          <p:nvPr/>
        </p:nvSpPr>
        <p:spPr>
          <a:xfrm>
            <a:off x="548640" y="1371600"/>
            <a:ext cx="777240" cy="777240"/>
          </a:xfrm>
          <a:prstGeom prst="ellipse">
            <a:avLst/>
          </a:prstGeom>
          <a:solidFill>
            <a:srgbClr val="1E2761"/>
          </a:solidFill>
          <a:ln/>
        </p:spPr>
      </p:sp>
      <p:pic>
        <p:nvPicPr>
          <p:cNvPr id="4" name="Image 0" descr="icon_question.png"/>
          <p:cNvPicPr>
            <a:picLocks noChangeAspect="1"/>
          </p:cNvPicPr>
          <p:nvPr/>
        </p:nvPicPr>
        <p:blipFill>
          <a:blip r:embed="rId3"/>
          <a:stretch>
            <a:fillRect/>
          </a:stretch>
        </p:blipFill>
        <p:spPr>
          <a:xfrm>
            <a:off x="723519" y="1546479"/>
            <a:ext cx="427482" cy="427482"/>
          </a:xfrm>
          <a:prstGeom prst="rect">
            <a:avLst/>
          </a:prstGeom>
        </p:spPr>
      </p:pic>
      <p:sp>
        <p:nvSpPr>
          <p:cNvPr id="5" name="Text 2"/>
          <p:cNvSpPr/>
          <p:nvPr/>
        </p:nvSpPr>
        <p:spPr>
          <a:xfrm>
            <a:off x="1508760" y="1371600"/>
            <a:ext cx="7315200" cy="777240"/>
          </a:xfrm>
          <a:prstGeom prst="rect">
            <a:avLst/>
          </a:prstGeom>
          <a:noFill/>
          <a:ln/>
        </p:spPr>
        <p:txBody>
          <a:bodyPr wrap="square" rtlCol="0" anchor="ctr"/>
          <a:lstStyle/>
          <a:p>
            <a:r>
              <a:rPr lang="en-US" b="1" dirty="0" err="1">
                <a:solidFill>
                  <a:srgbClr val="1E2761"/>
                </a:solidFill>
                <a:latin typeface="Cambria" pitchFamily="34" charset="0"/>
                <a:ea typeface="Cambria" pitchFamily="34" charset="-122"/>
                <a:cs typeface="Cambria" pitchFamily="34" charset="-120"/>
              </a:rPr>
              <a:t>Analisis</a:t>
            </a:r>
            <a:r>
              <a:rPr lang="en-US" b="1" dirty="0">
                <a:solidFill>
                  <a:srgbClr val="1E2761"/>
                </a:solidFill>
                <a:latin typeface="Cambria" pitchFamily="34" charset="0"/>
                <a:ea typeface="Cambria" pitchFamily="34" charset="-122"/>
                <a:cs typeface="Cambria" pitchFamily="34" charset="-120"/>
              </a:rPr>
              <a:t> Jenis </a:t>
            </a:r>
            <a:r>
              <a:rPr lang="en-US" b="1" dirty="0" err="1">
                <a:solidFill>
                  <a:srgbClr val="1E2761"/>
                </a:solidFill>
                <a:latin typeface="Cambria" pitchFamily="34" charset="0"/>
                <a:ea typeface="Cambria" pitchFamily="34" charset="-122"/>
                <a:cs typeface="Cambria" pitchFamily="34" charset="-120"/>
              </a:rPr>
              <a:t>Produk</a:t>
            </a:r>
            <a:r>
              <a:rPr lang="en-US" b="1" dirty="0">
                <a:solidFill>
                  <a:srgbClr val="1E2761"/>
                </a:solidFill>
                <a:latin typeface="Cambria" pitchFamily="34" charset="0"/>
                <a:ea typeface="Cambria" pitchFamily="34" charset="-122"/>
                <a:cs typeface="Cambria" pitchFamily="34" charset="-120"/>
              </a:rPr>
              <a:t> dan </a:t>
            </a:r>
            <a:r>
              <a:rPr lang="en-US" b="1" dirty="0" err="1">
                <a:solidFill>
                  <a:srgbClr val="1E2761"/>
                </a:solidFill>
                <a:latin typeface="Cambria" pitchFamily="34" charset="0"/>
                <a:ea typeface="Cambria" pitchFamily="34" charset="-122"/>
                <a:cs typeface="Cambria" pitchFamily="34" charset="-120"/>
              </a:rPr>
              <a:t>Visibilitas</a:t>
            </a:r>
            <a:r>
              <a:rPr lang="en-US" b="1" dirty="0">
                <a:solidFill>
                  <a:srgbClr val="1E2761"/>
                </a:solidFill>
                <a:latin typeface="Cambria" pitchFamily="34" charset="0"/>
                <a:ea typeface="Cambria" pitchFamily="34" charset="-122"/>
                <a:cs typeface="Cambria" pitchFamily="34" charset="-120"/>
              </a:rPr>
              <a:t> Ruang </a:t>
            </a:r>
            <a:r>
              <a:rPr lang="en-US" b="1" dirty="0" err="1">
                <a:solidFill>
                  <a:srgbClr val="1E2761"/>
                </a:solidFill>
                <a:latin typeface="Cambria" pitchFamily="34" charset="0"/>
                <a:ea typeface="Cambria" pitchFamily="34" charset="-122"/>
                <a:cs typeface="Cambria" pitchFamily="34" charset="-120"/>
              </a:rPr>
              <a:t>Pajang</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Terhadap</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Penjualan</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Ritel</a:t>
            </a:r>
            <a:endParaRPr lang="en-US" b="1" dirty="0">
              <a:solidFill>
                <a:srgbClr val="1E2761"/>
              </a:solidFill>
              <a:latin typeface="Cambria" pitchFamily="34" charset="0"/>
              <a:ea typeface="Cambria" pitchFamily="34" charset="-122"/>
              <a:cs typeface="Cambria" pitchFamily="34" charset="-120"/>
            </a:endParaRPr>
          </a:p>
        </p:txBody>
      </p:sp>
      <p:sp>
        <p:nvSpPr>
          <p:cNvPr id="6" name="Shape 3"/>
          <p:cNvSpPr/>
          <p:nvPr/>
        </p:nvSpPr>
        <p:spPr>
          <a:xfrm>
            <a:off x="548640" y="2377440"/>
            <a:ext cx="11064240" cy="1463040"/>
          </a:xfrm>
          <a:prstGeom prst="roundRect">
            <a:avLst>
              <a:gd name="adj" fmla="val 6250"/>
            </a:avLst>
          </a:prstGeom>
          <a:solidFill>
            <a:srgbClr val="1E2761"/>
          </a:solidFill>
          <a:ln/>
        </p:spPr>
      </p:sp>
      <p:sp>
        <p:nvSpPr>
          <p:cNvPr id="7" name="Text 4"/>
          <p:cNvSpPr/>
          <p:nvPr/>
        </p:nvSpPr>
        <p:spPr>
          <a:xfrm>
            <a:off x="914400" y="2377440"/>
            <a:ext cx="10332720" cy="1463040"/>
          </a:xfrm>
          <a:prstGeom prst="rect">
            <a:avLst/>
          </a:prstGeom>
          <a:noFill/>
          <a:ln/>
        </p:spPr>
        <p:txBody>
          <a:bodyPr wrap="square" rtlCol="0" anchor="ctr"/>
          <a:lstStyle/>
          <a:p>
            <a:pPr marL="0" indent="0" algn="ctr">
              <a:lnSpc>
                <a:spcPts val="2200"/>
              </a:lnSpc>
              <a:buNone/>
            </a:pPr>
            <a:r>
              <a:rPr lang="en-US" sz="1600" i="1" dirty="0" err="1">
                <a:solidFill>
                  <a:srgbClr val="FFFFFF"/>
                </a:solidFill>
                <a:latin typeface="Calibri" pitchFamily="34" charset="0"/>
                <a:ea typeface="Calibri" pitchFamily="34" charset="-122"/>
                <a:cs typeface="Calibri" pitchFamily="34" charset="-120"/>
              </a:rPr>
              <a:t>Dalam</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industri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ritel</a:t>
            </a:r>
            <a:r>
              <a:rPr lang="en-US" sz="1600" i="1" dirty="0">
                <a:solidFill>
                  <a:srgbClr val="FFFFFF"/>
                </a:solidFill>
                <a:latin typeface="Calibri" pitchFamily="34" charset="0"/>
                <a:ea typeface="Calibri" pitchFamily="34" charset="-122"/>
                <a:cs typeface="Calibri" pitchFamily="34" charset="-120"/>
              </a:rPr>
              <a:t> modern, </a:t>
            </a:r>
            <a:r>
              <a:rPr lang="en-US" sz="1600" i="1" dirty="0" err="1">
                <a:solidFill>
                  <a:srgbClr val="FFFFFF"/>
                </a:solidFill>
                <a:latin typeface="Calibri" pitchFamily="34" charset="0"/>
                <a:ea typeface="Calibri" pitchFamily="34" charset="-122"/>
                <a:cs typeface="Calibri" pitchFamily="34" charset="-120"/>
              </a:rPr>
              <a:t>ketimpangan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performa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penjualan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antar</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gerai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sering</a:t>
            </a:r>
            <a:r>
              <a:rPr lang="en-US" sz="1600" i="1" dirty="0">
                <a:solidFill>
                  <a:srgbClr val="FFFFFF"/>
                </a:solidFill>
                <a:latin typeface="Calibri" pitchFamily="34" charset="0"/>
                <a:ea typeface="Calibri" pitchFamily="34" charset="-122"/>
                <a:cs typeface="Calibri" pitchFamily="34" charset="-120"/>
              </a:rPr>
              <a:t> kali </a:t>
            </a:r>
            <a:r>
              <a:rPr lang="en-US" sz="1600" i="1" dirty="0" err="1">
                <a:solidFill>
                  <a:srgbClr val="FFFFFF"/>
                </a:solidFill>
                <a:latin typeface="Calibri" pitchFamily="34" charset="0"/>
                <a:ea typeface="Calibri" pitchFamily="34" charset="-122"/>
                <a:cs typeface="Calibri" pitchFamily="34" charset="-120"/>
              </a:rPr>
              <a:t>menjadi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kendala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utama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dalam</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optimalisasi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pendapatan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Manajemen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kerap</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menghadapi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kesulitan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dalam</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menentukan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apakah</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fokus</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strategis</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harus</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diarahkan</a:t>
            </a:r>
            <a:r>
              <a:rPr lang="en-US" sz="1600" i="1" dirty="0">
                <a:solidFill>
                  <a:srgbClr val="FFFFFF"/>
                </a:solidFill>
                <a:latin typeface="Calibri" pitchFamily="34" charset="0"/>
                <a:ea typeface="Calibri" pitchFamily="34" charset="-122"/>
                <a:cs typeface="Calibri" pitchFamily="34" charset="-120"/>
              </a:rPr>
              <a:t> pada </a:t>
            </a:r>
            <a:r>
              <a:rPr lang="en-US" sz="1600" i="1" dirty="0" err="1">
                <a:solidFill>
                  <a:srgbClr val="FFFFFF"/>
                </a:solidFill>
                <a:latin typeface="Calibri" pitchFamily="34" charset="0"/>
                <a:ea typeface="Calibri" pitchFamily="34" charset="-122"/>
                <a:cs typeface="Calibri" pitchFamily="34" charset="-120"/>
              </a:rPr>
              <a:t>penyesuaian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harga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produk</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atau</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ekspansi</a:t>
            </a:r>
            <a:r>
              <a:rPr lang="en-US" sz="1600" i="1" dirty="0">
                <a:solidFill>
                  <a:srgbClr val="FFFFFF"/>
                </a:solidFill>
                <a:latin typeface="Calibri" pitchFamily="34" charset="0"/>
                <a:ea typeface="Calibri" pitchFamily="34" charset="-122"/>
                <a:cs typeface="Calibri" pitchFamily="34" charset="-120"/>
              </a:rPr>
              <a:t> format </a:t>
            </a:r>
            <a:r>
              <a:rPr lang="en-US" sz="1600" i="1" dirty="0" err="1">
                <a:solidFill>
                  <a:srgbClr val="FFFFFF"/>
                </a:solidFill>
                <a:latin typeface="Calibri" pitchFamily="34" charset="0"/>
                <a:ea typeface="Calibri" pitchFamily="34" charset="-122"/>
                <a:cs typeface="Calibri" pitchFamily="34" charset="-120"/>
              </a:rPr>
              <a:t>tipe</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gerai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Penelitian</a:t>
            </a:r>
            <a:r>
              <a:rPr lang="en-US" sz="1600" i="1" dirty="0">
                <a:solidFill>
                  <a:srgbClr val="FFFFFF"/>
                </a:solidFill>
                <a:latin typeface="Calibri" pitchFamily="34" charset="0"/>
                <a:ea typeface="Calibri" pitchFamily="34" charset="-122"/>
                <a:cs typeface="Calibri" pitchFamily="34" charset="-120"/>
              </a:rPr>
              <a:t> dan </a:t>
            </a:r>
            <a:r>
              <a:rPr lang="en-US" sz="1600" i="1" dirty="0" err="1">
                <a:solidFill>
                  <a:srgbClr val="FFFFFF"/>
                </a:solidFill>
                <a:latin typeface="Calibri" pitchFamily="34" charset="0"/>
                <a:ea typeface="Calibri" pitchFamily="34" charset="-122"/>
                <a:cs typeface="Calibri" pitchFamily="34" charset="-120"/>
              </a:rPr>
              <a:t>analisis</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ini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berfokus</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untuk</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mengidentifikasi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sejauh</a:t>
            </a:r>
            <a:r>
              <a:rPr lang="en-US" sz="1600" i="1" dirty="0">
                <a:solidFill>
                  <a:srgbClr val="FFFFFF"/>
                </a:solidFill>
                <a:latin typeface="Calibri" pitchFamily="34" charset="0"/>
                <a:ea typeface="Calibri" pitchFamily="34" charset="-122"/>
                <a:cs typeface="Calibri" pitchFamily="34" charset="-120"/>
              </a:rPr>
              <a:t> mana </a:t>
            </a:r>
            <a:r>
              <a:rPr lang="en-US" sz="1600" i="1" dirty="0" err="1">
                <a:solidFill>
                  <a:srgbClr val="FFFFFF"/>
                </a:solidFill>
                <a:latin typeface="Calibri" pitchFamily="34" charset="0"/>
                <a:ea typeface="Calibri" pitchFamily="34" charset="-122"/>
                <a:cs typeface="Calibri" pitchFamily="34" charset="-120"/>
              </a:rPr>
              <a:t>pengaruh</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harga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eceran</a:t>
            </a:r>
            <a:r>
              <a:rPr lang="en-US" sz="1600" i="1" dirty="0">
                <a:solidFill>
                  <a:srgbClr val="FFFFFF"/>
                </a:solidFill>
                <a:latin typeface="Calibri" pitchFamily="34" charset="0"/>
                <a:ea typeface="Calibri" pitchFamily="34" charset="-122"/>
                <a:cs typeface="Calibri" pitchFamily="34" charset="-120"/>
              </a:rPr>
              <a:t> dan </a:t>
            </a:r>
            <a:r>
              <a:rPr lang="en-US" sz="1600" i="1" dirty="0" err="1">
                <a:solidFill>
                  <a:srgbClr val="FFFFFF"/>
                </a:solidFill>
                <a:latin typeface="Calibri" pitchFamily="34" charset="0"/>
                <a:ea typeface="Calibri" pitchFamily="34" charset="-122"/>
                <a:cs typeface="Calibri" pitchFamily="34" charset="-120"/>
              </a:rPr>
              <a:t>klasifikasi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tipe</a:t>
            </a:r>
            <a:r>
              <a:rPr lang="en-US" sz="1600" i="1" dirty="0">
                <a:solidFill>
                  <a:srgbClr val="FFFFFF"/>
                </a:solidFill>
                <a:latin typeface="Calibri" pitchFamily="34" charset="0"/>
                <a:ea typeface="Calibri" pitchFamily="34" charset="-122"/>
                <a:cs typeface="Calibri" pitchFamily="34" charset="-120"/>
              </a:rPr>
              <a:t> outlet </a:t>
            </a:r>
            <a:r>
              <a:rPr lang="en-US" sz="1600" i="1" dirty="0" err="1">
                <a:solidFill>
                  <a:srgbClr val="FFFFFF"/>
                </a:solidFill>
                <a:latin typeface="Calibri" pitchFamily="34" charset="0"/>
                <a:ea typeface="Calibri" pitchFamily="34" charset="-122"/>
                <a:cs typeface="Calibri" pitchFamily="34" charset="-120"/>
              </a:rPr>
              <a:t>terhadap</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fluktuasi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pendapatan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penjualan</a:t>
            </a:r>
            <a:r>
              <a:rPr lang="en-US" sz="1600" i="1" dirty="0">
                <a:solidFill>
                  <a:srgbClr val="FFFFFF"/>
                </a:solidFill>
                <a:latin typeface="Calibri" pitchFamily="34" charset="0"/>
                <a:ea typeface="Calibri" pitchFamily="34" charset="-122"/>
                <a:cs typeface="Calibri" pitchFamily="34" charset="-120"/>
              </a:rPr>
              <a:t>, guna </a:t>
            </a:r>
            <a:r>
              <a:rPr lang="en-US" sz="1600" i="1" dirty="0" err="1">
                <a:solidFill>
                  <a:srgbClr val="FFFFFF"/>
                </a:solidFill>
                <a:latin typeface="Calibri" pitchFamily="34" charset="0"/>
                <a:ea typeface="Calibri" pitchFamily="34" charset="-122"/>
                <a:cs typeface="Calibri" pitchFamily="34" charset="-120"/>
              </a:rPr>
              <a:t>memberikan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rekomendasi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alokasi</a:t>
            </a:r>
            <a:r>
              <a:rPr lang="en-US" sz="1600" i="1" dirty="0">
                <a:solidFill>
                  <a:srgbClr val="FFFFFF"/>
                </a:solidFill>
                <a:latin typeface="Calibri" pitchFamily="34" charset="0"/>
                <a:ea typeface="Calibri" pitchFamily="34" charset="-122"/>
                <a:cs typeface="Calibri" pitchFamily="34" charset="-120"/>
              </a:rPr>
              <a:t> strategi </a:t>
            </a:r>
            <a:r>
              <a:rPr lang="en-US" sz="1600" i="1" dirty="0" err="1">
                <a:solidFill>
                  <a:srgbClr val="FFFFFF"/>
                </a:solidFill>
                <a:latin typeface="Calibri" pitchFamily="34" charset="0"/>
                <a:ea typeface="Calibri" pitchFamily="34" charset="-122"/>
                <a:cs typeface="Calibri" pitchFamily="34" charset="-120"/>
              </a:rPr>
              <a:t>bisnis</a:t>
            </a:r>
            <a:r>
              <a:rPr lang="en-US" sz="1600" i="1" dirty="0">
                <a:solidFill>
                  <a:srgbClr val="FFFFFF"/>
                </a:solidFill>
                <a:latin typeface="Calibri" pitchFamily="34" charset="0"/>
                <a:ea typeface="Calibri" pitchFamily="34" charset="-122"/>
                <a:cs typeface="Calibri" pitchFamily="34" charset="-120"/>
              </a:rPr>
              <a:t> yang </a:t>
            </a:r>
            <a:r>
              <a:rPr lang="en-US" sz="1600" i="1" dirty="0" err="1">
                <a:solidFill>
                  <a:srgbClr val="FFFFFF"/>
                </a:solidFill>
                <a:latin typeface="Calibri" pitchFamily="34" charset="0"/>
                <a:ea typeface="Calibri" pitchFamily="34" charset="-122"/>
                <a:cs typeface="Calibri" pitchFamily="34" charset="-120"/>
              </a:rPr>
              <a:t>tepat</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sasaran</a:t>
            </a:r>
            <a:r>
              <a:rPr lang="en-US" sz="1600" i="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8"/>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3" name="Shape 1"/>
          <p:cNvSpPr/>
          <p:nvPr/>
        </p:nvSpPr>
        <p:spPr>
          <a:xfrm>
            <a:off x="548640" y="1280160"/>
            <a:ext cx="640080" cy="640080"/>
          </a:xfrm>
          <a:prstGeom prst="ellipse">
            <a:avLst/>
          </a:prstGeom>
          <a:solidFill>
            <a:srgbClr val="1E2761"/>
          </a:solidFill>
          <a:ln/>
        </p:spPr>
      </p:sp>
      <p:pic>
        <p:nvPicPr>
          <p:cNvPr id="4" name="Image 0" descr="icon_database.png"/>
          <p:cNvPicPr>
            <a:picLocks noChangeAspect="1"/>
          </p:cNvPicPr>
          <p:nvPr/>
        </p:nvPicPr>
        <p:blipFill>
          <a:blip r:embed="rId3"/>
          <a:stretch>
            <a:fillRect/>
          </a:stretch>
        </p:blipFill>
        <p:spPr>
          <a:xfrm>
            <a:off x="692658" y="1424178"/>
            <a:ext cx="352044" cy="352044"/>
          </a:xfrm>
          <a:prstGeom prst="rect">
            <a:avLst/>
          </a:prstGeom>
        </p:spPr>
      </p:pic>
      <p:sp>
        <p:nvSpPr>
          <p:cNvPr id="5" name="Text 2"/>
          <p:cNvSpPr/>
          <p:nvPr/>
        </p:nvSpPr>
        <p:spPr>
          <a:xfrm>
            <a:off x="1325880" y="1280160"/>
            <a:ext cx="5486400" cy="320040"/>
          </a:xfrm>
          <a:prstGeom prst="rect">
            <a:avLst/>
          </a:prstGeom>
          <a:noFill/>
          <a:ln/>
        </p:spPr>
        <p:txBody>
          <a:bodyPr wrap="square" rtlCol="0" anchor="ctr"/>
          <a:lstStyle/>
          <a:p>
            <a:r>
              <a:rPr lang="en-US" sz="1300" b="1" dirty="0">
                <a:solidFill>
                  <a:srgbClr val="1E2761"/>
                </a:solidFill>
                <a:latin typeface="Calibri" pitchFamily="34" charset="0"/>
                <a:ea typeface="Calibri" pitchFamily="34" charset="-122"/>
                <a:cs typeface="Calibri" pitchFamily="34" charset="-120"/>
              </a:rPr>
              <a:t>Sumber: </a:t>
            </a:r>
            <a:r>
              <a:rPr lang="en-US" sz="1300" dirty="0" err="1">
                <a:solidFill>
                  <a:srgbClr val="333333"/>
                </a:solidFill>
                <a:latin typeface="Calibri" pitchFamily="34" charset="0"/>
                <a:ea typeface="Calibri" pitchFamily="34" charset="-122"/>
                <a:cs typeface="Calibri" pitchFamily="34" charset="-120"/>
              </a:rPr>
              <a:t>BigMart</a:t>
            </a:r>
            <a:r>
              <a:rPr lang="en-US" sz="1300" dirty="0">
                <a:solidFill>
                  <a:srgbClr val="333333"/>
                </a:solidFill>
                <a:latin typeface="Calibri" pitchFamily="34" charset="0"/>
                <a:ea typeface="Calibri" pitchFamily="34" charset="-122"/>
                <a:cs typeface="Calibri" pitchFamily="34" charset="-120"/>
              </a:rPr>
              <a:t> Sales Data.csv</a:t>
            </a:r>
            <a:endParaRPr lang="en-US" sz="1300" dirty="0"/>
          </a:p>
        </p:txBody>
      </p:sp>
      <p:sp>
        <p:nvSpPr>
          <p:cNvPr id="6" name="Text 3"/>
          <p:cNvSpPr/>
          <p:nvPr/>
        </p:nvSpPr>
        <p:spPr>
          <a:xfrm>
            <a:off x="1325880" y="1600200"/>
            <a:ext cx="54864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Ukuran: </a:t>
            </a:r>
            <a:r>
              <a:rPr lang="en-US" sz="1300" b="1" dirty="0">
                <a:solidFill>
                  <a:srgbClr val="333333"/>
                </a:solidFill>
                <a:latin typeface="Calibri" pitchFamily="34" charset="0"/>
                <a:ea typeface="Calibri" pitchFamily="34" charset="-122"/>
                <a:cs typeface="Calibri" pitchFamily="34" charset="-120"/>
              </a:rPr>
              <a:t>8523</a:t>
            </a:r>
            <a:r>
              <a:rPr lang="en-US" sz="1300" dirty="0">
                <a:solidFill>
                  <a:srgbClr val="333333"/>
                </a:solidFill>
                <a:latin typeface="Calibri" pitchFamily="34" charset="0"/>
                <a:ea typeface="Calibri" pitchFamily="34" charset="-122"/>
                <a:cs typeface="Calibri" pitchFamily="34" charset="-120"/>
              </a:rPr>
              <a:t> baris  ×  12 kolom</a:t>
            </a:r>
            <a:endParaRPr lang="en-US" sz="1300" dirty="0"/>
          </a:p>
        </p:txBody>
      </p:sp>
      <p:sp>
        <p:nvSpPr>
          <p:cNvPr id="7" name="Text 4"/>
          <p:cNvSpPr/>
          <p:nvPr/>
        </p:nvSpPr>
        <p:spPr>
          <a:xfrm>
            <a:off x="548640" y="2148840"/>
            <a:ext cx="54864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rPr>
              <a:t>Isi </a:t>
            </a:r>
            <a:r>
              <a:rPr lang="en-US" sz="1500" b="1" dirty="0" err="1">
                <a:solidFill>
                  <a:srgbClr val="1E2761"/>
                </a:solidFill>
                <a:latin typeface="Cambria" pitchFamily="34" charset="0"/>
                <a:ea typeface="Cambria" pitchFamily="34" charset="-122"/>
              </a:rPr>
              <a:t>dari</a:t>
            </a:r>
            <a:r>
              <a:rPr lang="en-US" sz="1500" b="1" dirty="0">
                <a:solidFill>
                  <a:srgbClr val="1E2761"/>
                </a:solidFill>
                <a:latin typeface="Cambria" pitchFamily="34" charset="0"/>
                <a:ea typeface="Cambria" pitchFamily="34" charset="-122"/>
              </a:rPr>
              <a:t> Raw Data</a:t>
            </a:r>
            <a:endParaRPr lang="en-US" sz="1500" dirty="0"/>
          </a:p>
        </p:txBody>
      </p:sp>
      <p:sp>
        <p:nvSpPr>
          <p:cNvPr id="8" name="Shape 5"/>
          <p:cNvSpPr/>
          <p:nvPr/>
        </p:nvSpPr>
        <p:spPr>
          <a:xfrm>
            <a:off x="594360" y="2633472"/>
            <a:ext cx="82296" cy="82296"/>
          </a:xfrm>
          <a:prstGeom prst="ellipse">
            <a:avLst/>
          </a:prstGeom>
          <a:solidFill>
            <a:srgbClr val="F2545B"/>
          </a:solidFill>
          <a:ln/>
        </p:spPr>
      </p:sp>
      <p:sp>
        <p:nvSpPr>
          <p:cNvPr id="9" name="Text 6"/>
          <p:cNvSpPr/>
          <p:nvPr/>
        </p:nvSpPr>
        <p:spPr>
          <a:xfrm>
            <a:off x="868680" y="2487168"/>
            <a:ext cx="5212080" cy="365760"/>
          </a:xfrm>
          <a:prstGeom prst="rect">
            <a:avLst/>
          </a:prstGeom>
          <a:noFill/>
          <a:ln/>
        </p:spPr>
        <p:txBody>
          <a:bodyPr wrap="square" rtlCol="0" anchor="t"/>
          <a:lstStyle/>
          <a:p>
            <a:r>
              <a:rPr lang="en-US" sz="1150" dirty="0">
                <a:solidFill>
                  <a:srgbClr val="333333"/>
                </a:solidFill>
                <a:latin typeface="Calibri" pitchFamily="34" charset="0"/>
                <a:ea typeface="Calibri" pitchFamily="34" charset="-122"/>
                <a:cs typeface="Calibri" pitchFamily="34" charset="-120"/>
              </a:rPr>
              <a:t>Data Outlet (</a:t>
            </a:r>
            <a:r>
              <a:rPr lang="en-US" sz="1150" dirty="0" err="1">
                <a:solidFill>
                  <a:srgbClr val="333333"/>
                </a:solidFill>
                <a:latin typeface="Calibri" pitchFamily="34" charset="0"/>
                <a:ea typeface="Calibri" pitchFamily="34" charset="-122"/>
                <a:cs typeface="Calibri" pitchFamily="34" charset="-120"/>
              </a:rPr>
              <a:t>Outlet_Identifier,Outlet_Establishment_Year</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Outlet_Size,Outlet_Location_Type,Outlet_Type,Item_Outlet_Sales</a:t>
            </a:r>
            <a:r>
              <a:rPr lang="en-US" sz="1150" dirty="0">
                <a:solidFill>
                  <a:srgbClr val="333333"/>
                </a:solidFill>
                <a:latin typeface="Calibri" pitchFamily="34" charset="0"/>
                <a:ea typeface="Calibri" pitchFamily="34" charset="-122"/>
                <a:cs typeface="Calibri" pitchFamily="34" charset="-120"/>
              </a:rPr>
              <a:t>)</a:t>
            </a:r>
            <a:endParaRPr lang="en-US" sz="1150" dirty="0"/>
          </a:p>
        </p:txBody>
      </p:sp>
      <p:sp>
        <p:nvSpPr>
          <p:cNvPr id="10" name="Shape 7"/>
          <p:cNvSpPr/>
          <p:nvPr/>
        </p:nvSpPr>
        <p:spPr>
          <a:xfrm>
            <a:off x="594360" y="3054096"/>
            <a:ext cx="82296" cy="82296"/>
          </a:xfrm>
          <a:prstGeom prst="ellipse">
            <a:avLst/>
          </a:prstGeom>
          <a:solidFill>
            <a:srgbClr val="F2545B"/>
          </a:solidFill>
          <a:ln/>
        </p:spPr>
      </p:sp>
      <p:sp>
        <p:nvSpPr>
          <p:cNvPr id="11" name="Text 8"/>
          <p:cNvSpPr/>
          <p:nvPr/>
        </p:nvSpPr>
        <p:spPr>
          <a:xfrm>
            <a:off x="868680" y="2907792"/>
            <a:ext cx="5212080" cy="567332"/>
          </a:xfrm>
          <a:prstGeom prst="rect">
            <a:avLst/>
          </a:prstGeom>
          <a:noFill/>
          <a:ln/>
        </p:spPr>
        <p:txBody>
          <a:bodyPr wrap="square" rtlCol="0" anchor="t"/>
          <a:lstStyle/>
          <a:p>
            <a:r>
              <a:rPr lang="en-US" sz="1150" dirty="0">
                <a:solidFill>
                  <a:srgbClr val="333333"/>
                </a:solidFill>
                <a:latin typeface="Calibri" pitchFamily="34" charset="0"/>
                <a:ea typeface="Calibri" pitchFamily="34" charset="-122"/>
                <a:cs typeface="Calibri" pitchFamily="34" charset="-120"/>
              </a:rPr>
              <a:t>Data </a:t>
            </a:r>
            <a:r>
              <a:rPr lang="en-US" sz="1150" dirty="0" err="1">
                <a:solidFill>
                  <a:srgbClr val="333333"/>
                </a:solidFill>
                <a:latin typeface="Calibri" pitchFamily="34" charset="0"/>
                <a:ea typeface="Calibri" pitchFamily="34" charset="-122"/>
                <a:cs typeface="Calibri" pitchFamily="34" charset="-120"/>
              </a:rPr>
              <a:t>Produk</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Item_Identifier</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Item_Weight</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Item_Fat_Content</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Item_Visibility</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Item_Type</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Item_MRP</a:t>
            </a:r>
            <a:r>
              <a:rPr lang="en-US" sz="1150" dirty="0">
                <a:solidFill>
                  <a:srgbClr val="333333"/>
                </a:solidFill>
                <a:latin typeface="Calibri" pitchFamily="34" charset="0"/>
                <a:ea typeface="Calibri" pitchFamily="34" charset="-122"/>
                <a:cs typeface="Calibri" pitchFamily="34" charset="-120"/>
              </a:rPr>
              <a:t>)</a:t>
            </a:r>
            <a:endParaRPr lang="en-US" sz="1150" dirty="0"/>
          </a:p>
        </p:txBody>
      </p:sp>
      <p:sp>
        <p:nvSpPr>
          <p:cNvPr id="29" name="Text 26"/>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pic>
        <p:nvPicPr>
          <p:cNvPr id="30" name="Picture 29">
            <a:extLst>
              <a:ext uri="{FF2B5EF4-FFF2-40B4-BE49-F238E27FC236}">
                <a16:creationId xmlns:a16="http://schemas.microsoft.com/office/drawing/2014/main" id="{C77FD87D-188E-BA29-1859-87E7E0F8BACD}"/>
              </a:ext>
            </a:extLst>
          </p:cNvPr>
          <p:cNvPicPr>
            <a:picLocks noChangeAspect="1"/>
          </p:cNvPicPr>
          <p:nvPr/>
        </p:nvPicPr>
        <p:blipFill>
          <a:blip r:embed="rId4"/>
          <a:stretch>
            <a:fillRect/>
          </a:stretch>
        </p:blipFill>
        <p:spPr>
          <a:xfrm>
            <a:off x="235533" y="3813452"/>
            <a:ext cx="7667093" cy="2137440"/>
          </a:xfrm>
          <a:prstGeom prst="rect">
            <a:avLst/>
          </a:prstGeom>
        </p:spPr>
      </p:pic>
      <p:pic>
        <p:nvPicPr>
          <p:cNvPr id="36" name="Picture 35">
            <a:extLst>
              <a:ext uri="{FF2B5EF4-FFF2-40B4-BE49-F238E27FC236}">
                <a16:creationId xmlns:a16="http://schemas.microsoft.com/office/drawing/2014/main" id="{8EB87FD2-5294-56D1-407C-F574BE22E768}"/>
              </a:ext>
            </a:extLst>
          </p:cNvPr>
          <p:cNvPicPr>
            <a:picLocks noChangeAspect="1"/>
          </p:cNvPicPr>
          <p:nvPr/>
        </p:nvPicPr>
        <p:blipFill>
          <a:blip r:embed="rId5"/>
          <a:srcRect t="3520"/>
          <a:stretch>
            <a:fillRect/>
          </a:stretch>
        </p:blipFill>
        <p:spPr>
          <a:xfrm>
            <a:off x="7902626" y="3813452"/>
            <a:ext cx="2981741" cy="2137440"/>
          </a:xfrm>
          <a:prstGeom prst="rect">
            <a:avLst/>
          </a:prstGeom>
        </p:spPr>
      </p:pic>
      <p:pic>
        <p:nvPicPr>
          <p:cNvPr id="38" name="Picture 37">
            <a:extLst>
              <a:ext uri="{FF2B5EF4-FFF2-40B4-BE49-F238E27FC236}">
                <a16:creationId xmlns:a16="http://schemas.microsoft.com/office/drawing/2014/main" id="{13DF0266-4C30-8798-F57A-2CE130D1268A}"/>
              </a:ext>
            </a:extLst>
          </p:cNvPr>
          <p:cNvPicPr>
            <a:picLocks noChangeAspect="1"/>
          </p:cNvPicPr>
          <p:nvPr/>
        </p:nvPicPr>
        <p:blipFill>
          <a:blip r:embed="rId6"/>
          <a:stretch>
            <a:fillRect/>
          </a:stretch>
        </p:blipFill>
        <p:spPr>
          <a:xfrm>
            <a:off x="868680" y="3368228"/>
            <a:ext cx="2819794" cy="3715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A32E-BE81-DD21-FD28-2ACB1D219C18}"/>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67A76E9C-7BC2-608C-1B56-FD7FB8C959F5}"/>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2249E418-E28D-E93C-82FA-4DF8D9BB3525}"/>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95D73438-3BD0-0ECC-3105-E2F9720BF9D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3B78CD0C-BB3E-EB82-4C04-9235449AE41B}"/>
              </a:ext>
            </a:extLst>
          </p:cNvPr>
          <p:cNvSpPr/>
          <p:nvPr/>
        </p:nvSpPr>
        <p:spPr>
          <a:xfrm>
            <a:off x="130229" y="4738909"/>
            <a:ext cx="11835333" cy="175378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B121CA69-E1F5-9612-26E6-2A5A0DC65C39}"/>
              </a:ext>
            </a:extLst>
          </p:cNvPr>
          <p:cNvSpPr/>
          <p:nvPr/>
        </p:nvSpPr>
        <p:spPr>
          <a:xfrm>
            <a:off x="415435" y="4708469"/>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EFB26BDE-C6B5-0210-23E0-6FDD74B2F00D}"/>
              </a:ext>
            </a:extLst>
          </p:cNvPr>
          <p:cNvSpPr/>
          <p:nvPr/>
        </p:nvSpPr>
        <p:spPr>
          <a:xfrm>
            <a:off x="367331" y="5157320"/>
            <a:ext cx="10465947" cy="1537148"/>
          </a:xfrm>
          <a:prstGeom prst="rect">
            <a:avLst/>
          </a:prstGeom>
          <a:noFill/>
          <a:ln/>
        </p:spPr>
        <p:txBody>
          <a:bodyPr wrap="square" rtlCol="0" anchor="t"/>
          <a:lstStyle/>
          <a:p>
            <a:pPr marL="0" indent="0">
              <a:lnSpc>
                <a:spcPts val="1400"/>
              </a:lnSpc>
              <a:buNone/>
            </a:pPr>
            <a:r>
              <a:rPr lang="en-US" sz="1600" dirty="0">
                <a:solidFill>
                  <a:srgbClr val="444444"/>
                </a:solidFill>
                <a:latin typeface="Calibri" pitchFamily="34" charset="0"/>
                <a:ea typeface="Calibri" pitchFamily="34" charset="-122"/>
                <a:cs typeface="Calibri" pitchFamily="34" charset="-120"/>
              </a:rPr>
              <a:t>Kolom </a:t>
            </a:r>
            <a:r>
              <a:rPr lang="en-US" sz="1600" dirty="0" err="1">
                <a:solidFill>
                  <a:srgbClr val="444444"/>
                </a:solidFill>
                <a:latin typeface="Calibri" pitchFamily="34" charset="0"/>
                <a:ea typeface="Calibri" pitchFamily="34" charset="-122"/>
                <a:cs typeface="Calibri" pitchFamily="34" charset="-120"/>
              </a:rPr>
              <a:t>Item_Identifier</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Item_Fat_Content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Item_Type</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Outlet_Identifier</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Outlet_Size</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Outlet_Location_Type</a:t>
            </a:r>
            <a:r>
              <a:rPr lang="en-US" sz="1600" dirty="0">
                <a:solidFill>
                  <a:srgbClr val="444444"/>
                </a:solidFill>
                <a:latin typeface="Calibri" pitchFamily="34" charset="0"/>
                <a:ea typeface="Calibri" pitchFamily="34" charset="-122"/>
                <a:cs typeface="Calibri" pitchFamily="34" charset="-120"/>
              </a:rPr>
              <a:t>, dan Outlet Type </a:t>
            </a:r>
            <a:r>
              <a:rPr lang="en-US" sz="1600" dirty="0" err="1">
                <a:solidFill>
                  <a:srgbClr val="444444"/>
                </a:solidFill>
                <a:latin typeface="Calibri" pitchFamily="34" charset="0"/>
                <a:ea typeface="Calibri" pitchFamily="34" charset="-122"/>
                <a:cs typeface="Calibri" pitchFamily="34" charset="-120"/>
              </a:rPr>
              <a:t>bertipe</a:t>
            </a:r>
            <a:r>
              <a:rPr lang="en-US" sz="1600" dirty="0">
                <a:solidFill>
                  <a:srgbClr val="444444"/>
                </a:solidFill>
                <a:latin typeface="Calibri" pitchFamily="34" charset="0"/>
                <a:ea typeface="Calibri" pitchFamily="34" charset="-122"/>
                <a:cs typeface="Calibri" pitchFamily="34" charset="-120"/>
              </a:rPr>
              <a:t> data </a:t>
            </a:r>
            <a:r>
              <a:rPr lang="en-US" sz="1600" dirty="0" err="1">
                <a:solidFill>
                  <a:srgbClr val="444444"/>
                </a:solidFill>
                <a:latin typeface="Calibri" pitchFamily="34" charset="0"/>
                <a:ea typeface="Calibri" pitchFamily="34" charset="-122"/>
                <a:cs typeface="Calibri" pitchFamily="34" charset="-120"/>
              </a:rPr>
              <a:t>jenis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kategorik</a:t>
            </a: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r>
              <a:rPr lang="en-US" sz="1600" dirty="0">
                <a:solidFill>
                  <a:srgbClr val="444444"/>
                </a:solidFill>
                <a:latin typeface="Calibri" pitchFamily="34" charset="0"/>
                <a:ea typeface="Calibri" pitchFamily="34" charset="-122"/>
                <a:cs typeface="Calibri" pitchFamily="34" charset="-120"/>
              </a:rPr>
              <a:t>Kolom </a:t>
            </a:r>
            <a:r>
              <a:rPr lang="en-US" sz="1600" dirty="0" err="1">
                <a:solidFill>
                  <a:srgbClr val="444444"/>
                </a:solidFill>
                <a:latin typeface="Calibri" pitchFamily="34" charset="0"/>
                <a:ea typeface="Calibri" pitchFamily="34" charset="-122"/>
                <a:cs typeface="Calibri" pitchFamily="34" charset="-120"/>
              </a:rPr>
              <a:t>Item_Weight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Item_Visibility</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Item_MRP,Outlet_Establishment_Year</a:t>
            </a:r>
            <a:r>
              <a:rPr lang="en-US" sz="1600" dirty="0">
                <a:solidFill>
                  <a:srgbClr val="444444"/>
                </a:solidFill>
                <a:latin typeface="Calibri" pitchFamily="34" charset="0"/>
                <a:ea typeface="Calibri" pitchFamily="34" charset="-122"/>
                <a:cs typeface="Calibri" pitchFamily="34" charset="-120"/>
              </a:rPr>
              <a:t>, dan </a:t>
            </a:r>
            <a:r>
              <a:rPr lang="en-US" sz="1600" dirty="0" err="1">
                <a:solidFill>
                  <a:srgbClr val="444444"/>
                </a:solidFill>
                <a:latin typeface="Calibri" pitchFamily="34" charset="0"/>
                <a:ea typeface="Calibri" pitchFamily="34" charset="-122"/>
                <a:cs typeface="Calibri" pitchFamily="34" charset="-120"/>
              </a:rPr>
              <a:t>Item_Outlet_Sales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bertipe</a:t>
            </a:r>
            <a:r>
              <a:rPr lang="en-US" sz="1600" dirty="0">
                <a:solidFill>
                  <a:srgbClr val="444444"/>
                </a:solidFill>
                <a:latin typeface="Calibri" pitchFamily="34" charset="0"/>
                <a:ea typeface="Calibri" pitchFamily="34" charset="-122"/>
                <a:cs typeface="Calibri" pitchFamily="34" charset="-120"/>
              </a:rPr>
              <a:t> data </a:t>
            </a:r>
            <a:r>
              <a:rPr lang="en-US" sz="1600" dirty="0" err="1">
                <a:solidFill>
                  <a:srgbClr val="444444"/>
                </a:solidFill>
                <a:latin typeface="Calibri" pitchFamily="34" charset="0"/>
                <a:ea typeface="Calibri" pitchFamily="34" charset="-122"/>
                <a:cs typeface="Calibri" pitchFamily="34" charset="-120"/>
              </a:rPr>
              <a:t>numerik</a:t>
            </a: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r>
              <a:rPr lang="en-US" sz="1600" dirty="0">
                <a:solidFill>
                  <a:srgbClr val="444444"/>
                </a:solidFill>
                <a:latin typeface="Calibri" pitchFamily="34" charset="0"/>
                <a:ea typeface="Calibri" pitchFamily="34" charset="-122"/>
                <a:cs typeface="Calibri" pitchFamily="34" charset="-120"/>
              </a:rPr>
              <a:t>Kolom </a:t>
            </a:r>
            <a:r>
              <a:rPr lang="en-US" sz="1600" dirty="0" err="1">
                <a:solidFill>
                  <a:srgbClr val="444444"/>
                </a:solidFill>
                <a:latin typeface="Calibri" pitchFamily="34" charset="0"/>
                <a:ea typeface="Calibri" pitchFamily="34" charset="-122"/>
                <a:cs typeface="Calibri" pitchFamily="34" charset="-120"/>
              </a:rPr>
              <a:t>Item_Weight</a:t>
            </a:r>
            <a:r>
              <a:rPr lang="en-US" sz="1600" dirty="0">
                <a:solidFill>
                  <a:srgbClr val="444444"/>
                </a:solidFill>
                <a:latin typeface="Calibri" pitchFamily="34" charset="0"/>
                <a:ea typeface="Calibri" pitchFamily="34" charset="-122"/>
                <a:cs typeface="Calibri" pitchFamily="34" charset="-120"/>
              </a:rPr>
              <a:t> dan </a:t>
            </a:r>
            <a:r>
              <a:rPr lang="en-US" sz="1600" dirty="0" err="1">
                <a:solidFill>
                  <a:srgbClr val="444444"/>
                </a:solidFill>
                <a:latin typeface="Calibri" pitchFamily="34" charset="0"/>
                <a:ea typeface="Calibri" pitchFamily="34" charset="-122"/>
                <a:cs typeface="Calibri" pitchFamily="34" charset="-120"/>
              </a:rPr>
              <a:t>Outlet_Size</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memiliki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jumlah</a:t>
            </a:r>
            <a:r>
              <a:rPr lang="en-US" sz="1600" dirty="0">
                <a:solidFill>
                  <a:srgbClr val="444444"/>
                </a:solidFill>
                <a:latin typeface="Calibri" pitchFamily="34" charset="0"/>
                <a:ea typeface="Calibri" pitchFamily="34" charset="-122"/>
                <a:cs typeface="Calibri" pitchFamily="34" charset="-120"/>
              </a:rPr>
              <a:t> data yang </a:t>
            </a:r>
            <a:r>
              <a:rPr lang="en-US" sz="1600" dirty="0" err="1">
                <a:solidFill>
                  <a:srgbClr val="444444"/>
                </a:solidFill>
                <a:latin typeface="Calibri" pitchFamily="34" charset="0"/>
                <a:ea typeface="Calibri" pitchFamily="34" charset="-122"/>
                <a:cs typeface="Calibri" pitchFamily="34" charset="-120"/>
              </a:rPr>
              <a:t>lebih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sedikit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dibandingkan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lainnya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terdapat</a:t>
            </a:r>
            <a:r>
              <a:rPr lang="en-US" sz="1600" dirty="0">
                <a:solidFill>
                  <a:srgbClr val="444444"/>
                </a:solidFill>
                <a:latin typeface="Calibri" pitchFamily="34" charset="0"/>
                <a:ea typeface="Calibri" pitchFamily="34" charset="-122"/>
                <a:cs typeface="Calibri" pitchFamily="34" charset="-120"/>
              </a:rPr>
              <a:t> missing value)</a:t>
            </a:r>
          </a:p>
          <a:p>
            <a:pPr marL="0" indent="0">
              <a:lnSpc>
                <a:spcPts val="1400"/>
              </a:lnSpc>
              <a:buNone/>
            </a:pPr>
            <a:r>
              <a:rPr lang="en-US" sz="1600" dirty="0">
                <a:solidFill>
                  <a:srgbClr val="444444"/>
                </a:solidFill>
                <a:latin typeface="Calibri" pitchFamily="34" charset="0"/>
                <a:ea typeface="Calibri" pitchFamily="34" charset="-122"/>
                <a:cs typeface="Calibri" pitchFamily="34" charset="-120"/>
              </a:rPr>
              <a:t>Kolom </a:t>
            </a:r>
            <a:r>
              <a:rPr lang="en-US" sz="1600" dirty="0" err="1">
                <a:solidFill>
                  <a:srgbClr val="444444"/>
                </a:solidFill>
                <a:latin typeface="Calibri" pitchFamily="34" charset="0"/>
                <a:ea typeface="Calibri" pitchFamily="34" charset="-122"/>
                <a:cs typeface="Calibri" pitchFamily="34" charset="-120"/>
              </a:rPr>
              <a:t>Outlet_Establishment_Year</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bertipe</a:t>
            </a:r>
            <a:r>
              <a:rPr lang="en-US" sz="1600" dirty="0">
                <a:solidFill>
                  <a:srgbClr val="444444"/>
                </a:solidFill>
                <a:latin typeface="Calibri" pitchFamily="34" charset="0"/>
                <a:ea typeface="Calibri" pitchFamily="34" charset="-122"/>
                <a:cs typeface="Calibri" pitchFamily="34" charset="-120"/>
              </a:rPr>
              <a:t> data integer </a:t>
            </a:r>
            <a:r>
              <a:rPr lang="en-US" sz="1600" dirty="0" err="1">
                <a:solidFill>
                  <a:srgbClr val="444444"/>
                </a:solidFill>
                <a:latin typeface="Calibri" pitchFamily="34" charset="0"/>
                <a:ea typeface="Calibri" pitchFamily="34" charset="-122"/>
                <a:cs typeface="Calibri" pitchFamily="34" charset="-120"/>
              </a:rPr>
              <a:t>belum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bertipe</a:t>
            </a:r>
            <a:r>
              <a:rPr lang="en-US" sz="1600" dirty="0">
                <a:solidFill>
                  <a:srgbClr val="444444"/>
                </a:solidFill>
                <a:latin typeface="Calibri" pitchFamily="34" charset="0"/>
                <a:ea typeface="Calibri" pitchFamily="34" charset="-122"/>
                <a:cs typeface="Calibri" pitchFamily="34" charset="-120"/>
              </a:rPr>
              <a:t> datetime</a:t>
            </a:r>
          </a:p>
        </p:txBody>
      </p:sp>
      <p:pic>
        <p:nvPicPr>
          <p:cNvPr id="11" name="Picture 10">
            <a:extLst>
              <a:ext uri="{FF2B5EF4-FFF2-40B4-BE49-F238E27FC236}">
                <a16:creationId xmlns:a16="http://schemas.microsoft.com/office/drawing/2014/main" id="{7135812B-6046-541F-4C1D-643DAFF84A9A}"/>
              </a:ext>
            </a:extLst>
          </p:cNvPr>
          <p:cNvPicPr>
            <a:picLocks noChangeAspect="1"/>
          </p:cNvPicPr>
          <p:nvPr/>
        </p:nvPicPr>
        <p:blipFill>
          <a:blip r:embed="rId3"/>
          <a:stretch>
            <a:fillRect/>
          </a:stretch>
        </p:blipFill>
        <p:spPr>
          <a:xfrm>
            <a:off x="3002912" y="990559"/>
            <a:ext cx="5051876" cy="3754939"/>
          </a:xfrm>
          <a:prstGeom prst="rect">
            <a:avLst/>
          </a:prstGeom>
        </p:spPr>
      </p:pic>
    </p:spTree>
    <p:extLst>
      <p:ext uri="{BB962C8B-B14F-4D97-AF65-F5344CB8AC3E}">
        <p14:creationId xmlns:p14="http://schemas.microsoft.com/office/powerpoint/2010/main" val="3464875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5C29C-2922-4EE6-6E39-F136D5496283}"/>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7AFD7D6C-9A82-5A8B-D11D-627496B2BC3F}"/>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F6416935-B877-3039-9BEE-280F36C52B9A}"/>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011C70AD-ACA9-2240-CD98-E137EFC240BA}"/>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FDB031AA-6518-796B-283D-69FA6CA2F14C}"/>
              </a:ext>
            </a:extLst>
          </p:cNvPr>
          <p:cNvSpPr/>
          <p:nvPr/>
        </p:nvSpPr>
        <p:spPr>
          <a:xfrm>
            <a:off x="133246" y="4743355"/>
            <a:ext cx="11835333" cy="175378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B7F9C9E2-459C-05AC-6BEA-C0CFA6F8F530}"/>
              </a:ext>
            </a:extLst>
          </p:cNvPr>
          <p:cNvSpPr/>
          <p:nvPr/>
        </p:nvSpPr>
        <p:spPr>
          <a:xfrm>
            <a:off x="415435" y="4708469"/>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C6B4875D-2D04-4B0F-D46F-42844BB6B4E5}"/>
              </a:ext>
            </a:extLst>
          </p:cNvPr>
          <p:cNvSpPr/>
          <p:nvPr/>
        </p:nvSpPr>
        <p:spPr>
          <a:xfrm>
            <a:off x="367331" y="5157320"/>
            <a:ext cx="11367164" cy="1537148"/>
          </a:xfrm>
          <a:prstGeom prst="rect">
            <a:avLst/>
          </a:prstGeom>
          <a:noFill/>
          <a:ln/>
        </p:spPr>
        <p:txBody>
          <a:bodyPr wrap="square" rtlCol="0" anchor="t"/>
          <a:lstStyle/>
          <a:p>
            <a:pPr marL="0" indent="0">
              <a:lnSpc>
                <a:spcPct val="150000"/>
              </a:lnSpc>
              <a:buNone/>
            </a:pPr>
            <a:r>
              <a:rPr lang="en-US" sz="2000" dirty="0" err="1">
                <a:solidFill>
                  <a:srgbClr val="444444"/>
                </a:solidFill>
                <a:latin typeface="Calibri" pitchFamily="34" charset="0"/>
                <a:ea typeface="Calibri" pitchFamily="34" charset="-122"/>
                <a:cs typeface="Calibri" pitchFamily="34" charset="-120"/>
              </a:rPr>
              <a:t>Item_Visibility</a:t>
            </a:r>
            <a:r>
              <a:rPr lang="en-US" sz="2000" dirty="0">
                <a:solidFill>
                  <a:srgbClr val="444444"/>
                </a:solidFill>
                <a:latin typeface="Calibri" pitchFamily="34" charset="0"/>
                <a:ea typeface="Calibri" pitchFamily="34" charset="-122"/>
                <a:cs typeface="Calibri" pitchFamily="34" charset="-120"/>
              </a:rPr>
              <a:t>: Nilai </a:t>
            </a:r>
            <a:r>
              <a:rPr lang="en-US" sz="2000" dirty="0" err="1">
                <a:solidFill>
                  <a:srgbClr val="444444"/>
                </a:solidFill>
                <a:latin typeface="Calibri" pitchFamily="34" charset="0"/>
                <a:ea typeface="Calibri" pitchFamily="34" charset="-122"/>
                <a:cs typeface="Calibri" pitchFamily="34" charset="-120"/>
              </a:rPr>
              <a:t>minimumnya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bernilai</a:t>
            </a:r>
            <a:r>
              <a:rPr lang="en-US" sz="2000" dirty="0">
                <a:solidFill>
                  <a:srgbClr val="444444"/>
                </a:solidFill>
                <a:latin typeface="Calibri" pitchFamily="34" charset="0"/>
                <a:ea typeface="Calibri" pitchFamily="34" charset="-122"/>
                <a:cs typeface="Calibri" pitchFamily="34" charset="-120"/>
              </a:rPr>
              <a:t> 0.00,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eksplorasi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dalam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a:t>
            </a:r>
          </a:p>
          <a:p>
            <a:pPr marL="0" indent="0">
              <a:lnSpc>
                <a:spcPct val="150000"/>
              </a:lnSpc>
              <a:buNone/>
            </a:pP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minimal pada </a:t>
            </a:r>
            <a:r>
              <a:rPr lang="en-US" sz="2000" dirty="0" err="1">
                <a:solidFill>
                  <a:srgbClr val="444444"/>
                </a:solidFill>
                <a:latin typeface="Calibri" pitchFamily="34" charset="0"/>
                <a:ea typeface="Calibri" pitchFamily="34" charset="-122"/>
                <a:cs typeface="Calibri" pitchFamily="34" charset="-120"/>
              </a:rPr>
              <a:t>item_visibility</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bernilai</a:t>
            </a:r>
            <a:r>
              <a:rPr lang="en-US" sz="2000" dirty="0">
                <a:solidFill>
                  <a:srgbClr val="444444"/>
                </a:solidFill>
                <a:latin typeface="Calibri" pitchFamily="34" charset="0"/>
                <a:ea typeface="Calibri" pitchFamily="34" charset="-122"/>
                <a:cs typeface="Calibri" pitchFamily="34" charset="-120"/>
              </a:rPr>
              <a:t> 0,0 </a:t>
            </a:r>
            <a:r>
              <a:rPr lang="en-US" sz="2000" dirty="0" err="1">
                <a:solidFill>
                  <a:srgbClr val="444444"/>
                </a:solidFill>
                <a:latin typeface="Calibri" pitchFamily="34" charset="0"/>
                <a:ea typeface="Calibri" pitchFamily="34" charset="-122"/>
                <a:cs typeface="Calibri" pitchFamily="34" charset="-120"/>
              </a:rPr>
              <a:t>perlu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diperiksa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apakah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dibutuhkan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imputasi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atau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tidak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karena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barang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yg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tidak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terlihat</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rak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masih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bisa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terjual</a:t>
            </a:r>
            <a:endParaRPr lang="en-US" sz="2000" dirty="0">
              <a:solidFill>
                <a:srgbClr val="444444"/>
              </a:solidFill>
              <a:latin typeface="Calibri" pitchFamily="34" charset="0"/>
              <a:ea typeface="Calibri" pitchFamily="34" charset="-122"/>
              <a:cs typeface="Calibri" pitchFamily="34" charset="-120"/>
            </a:endParaRPr>
          </a:p>
        </p:txBody>
      </p:sp>
      <p:pic>
        <p:nvPicPr>
          <p:cNvPr id="4" name="Picture 3">
            <a:extLst>
              <a:ext uri="{FF2B5EF4-FFF2-40B4-BE49-F238E27FC236}">
                <a16:creationId xmlns:a16="http://schemas.microsoft.com/office/drawing/2014/main" id="{0728DC3F-8AD9-2B24-18F6-2BB2A4A80BF9}"/>
              </a:ext>
            </a:extLst>
          </p:cNvPr>
          <p:cNvPicPr>
            <a:picLocks noChangeAspect="1"/>
          </p:cNvPicPr>
          <p:nvPr/>
        </p:nvPicPr>
        <p:blipFill>
          <a:blip r:embed="rId3"/>
          <a:stretch>
            <a:fillRect/>
          </a:stretch>
        </p:blipFill>
        <p:spPr>
          <a:xfrm>
            <a:off x="1779210" y="990560"/>
            <a:ext cx="7622360" cy="3789484"/>
          </a:xfrm>
          <a:prstGeom prst="rect">
            <a:avLst/>
          </a:prstGeom>
        </p:spPr>
      </p:pic>
    </p:spTree>
    <p:extLst>
      <p:ext uri="{BB962C8B-B14F-4D97-AF65-F5344CB8AC3E}">
        <p14:creationId xmlns:p14="http://schemas.microsoft.com/office/powerpoint/2010/main" val="1426892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37DA8-7358-9022-9750-94EA2B6372A3}"/>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883C00F1-D219-CEDC-A3DF-CA37B06C5941}"/>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4B114EE3-C8EC-251B-DCCC-86ED73B21561}"/>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E06FCF15-C8FE-4E43-BE65-AD27D07CD11D}"/>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3D3C87F9-4BB4-7150-35BB-D7738566000D}"/>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302B6E9F-4D96-0DE3-03B9-4CE291017E54}"/>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DA86C961-C1D4-9CC8-0812-48B8E7C051FE}"/>
              </a:ext>
            </a:extLst>
          </p:cNvPr>
          <p:cNvSpPr/>
          <p:nvPr/>
        </p:nvSpPr>
        <p:spPr>
          <a:xfrm>
            <a:off x="367330" y="5489282"/>
            <a:ext cx="11367164" cy="1171388"/>
          </a:xfrm>
          <a:prstGeom prst="rect">
            <a:avLst/>
          </a:prstGeom>
          <a:noFill/>
          <a:ln/>
        </p:spPr>
        <p:txBody>
          <a:bodyPr wrap="square" rtlCol="0" anchor="t"/>
          <a:lstStyle/>
          <a:p>
            <a:r>
              <a:rPr lang="en-US" sz="2000" dirty="0" err="1">
                <a:solidFill>
                  <a:srgbClr val="444444"/>
                </a:solidFill>
                <a:latin typeface="Calibri" pitchFamily="34" charset="0"/>
                <a:ea typeface="Calibri" pitchFamily="34" charset="-122"/>
                <a:cs typeface="Calibri" pitchFamily="34" charset="-120"/>
              </a:rPr>
              <a:t>Kolom_Visibility</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bernilai</a:t>
            </a:r>
            <a:r>
              <a:rPr lang="en-US" sz="2000" dirty="0">
                <a:solidFill>
                  <a:srgbClr val="444444"/>
                </a:solidFill>
                <a:latin typeface="Calibri" pitchFamily="34" charset="0"/>
                <a:ea typeface="Calibri" pitchFamily="34" charset="-122"/>
                <a:cs typeface="Calibri" pitchFamily="34" charset="-120"/>
              </a:rPr>
              <a:t> 0 </a:t>
            </a:r>
            <a:r>
              <a:rPr lang="en-US" sz="2000" dirty="0" err="1">
                <a:solidFill>
                  <a:srgbClr val="444444"/>
                </a:solidFill>
                <a:latin typeface="Calibri" pitchFamily="34" charset="0"/>
                <a:ea typeface="Calibri" pitchFamily="34" charset="-122"/>
                <a:cs typeface="Calibri" pitchFamily="34" charset="-120"/>
              </a:rPr>
              <a:t>berjumlah</a:t>
            </a:r>
            <a:r>
              <a:rPr lang="en-US" sz="2000" dirty="0">
                <a:solidFill>
                  <a:srgbClr val="444444"/>
                </a:solidFill>
                <a:latin typeface="Calibri" pitchFamily="34" charset="0"/>
                <a:ea typeface="Calibri" pitchFamily="34" charset="-122"/>
                <a:cs typeface="Calibri" pitchFamily="34" charset="-120"/>
              </a:rPr>
              <a:t> 526 baris dan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total </a:t>
            </a:r>
            <a:r>
              <a:rPr lang="en-US" sz="2000" dirty="0" err="1">
                <a:solidFill>
                  <a:srgbClr val="444444"/>
                </a:solidFill>
                <a:latin typeface="Calibri" pitchFamily="34" charset="0"/>
                <a:ea typeface="Calibri" pitchFamily="34" charset="-122"/>
                <a:cs typeface="Calibri" pitchFamily="34" charset="-120"/>
              </a:rPr>
              <a:t>pendapatan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penjualan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tertentu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Dalam</a:t>
            </a:r>
            <a:r>
              <a:rPr lang="en-US" sz="2000" dirty="0">
                <a:solidFill>
                  <a:srgbClr val="444444"/>
                </a:solidFill>
                <a:latin typeface="Calibri" pitchFamily="34" charset="0"/>
                <a:ea typeface="Calibri" pitchFamily="34" charset="-122"/>
                <a:cs typeface="Calibri" pitchFamily="34" charset="-120"/>
              </a:rPr>
              <a:t> dunia retail </a:t>
            </a:r>
            <a:r>
              <a:rPr lang="en-US" sz="2000" dirty="0" err="1">
                <a:solidFill>
                  <a:srgbClr val="444444"/>
                </a:solidFill>
                <a:latin typeface="Calibri" pitchFamily="34" charset="0"/>
                <a:ea typeface="Calibri" pitchFamily="34" charset="-122"/>
                <a:cs typeface="Calibri" pitchFamily="34" charset="-120"/>
              </a:rPr>
              <a:t>hal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sangat </a:t>
            </a:r>
            <a:r>
              <a:rPr lang="en-US" sz="2000" dirty="0" err="1">
                <a:solidFill>
                  <a:srgbClr val="444444"/>
                </a:solidFill>
                <a:latin typeface="Calibri" pitchFamily="34" charset="0"/>
                <a:ea typeface="Calibri" pitchFamily="34" charset="-122"/>
                <a:cs typeface="Calibri" pitchFamily="34" charset="-120"/>
              </a:rPr>
              <a:t>mustahil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karena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tidak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dipajang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tidak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mungkin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terjual</a:t>
            </a:r>
            <a:r>
              <a:rPr lang="en-US" sz="2000" dirty="0">
                <a:solidFill>
                  <a:srgbClr val="444444"/>
                </a:solidFill>
                <a:latin typeface="Calibri" pitchFamily="34" charset="0"/>
                <a:ea typeface="Calibri" pitchFamily="34" charset="-122"/>
                <a:cs typeface="Calibri" pitchFamily="34" charset="-120"/>
              </a:rPr>
              <a:t> oleh </a:t>
            </a:r>
            <a:r>
              <a:rPr lang="en-US" sz="2000" dirty="0" err="1">
                <a:solidFill>
                  <a:srgbClr val="444444"/>
                </a:solidFill>
                <a:latin typeface="Calibri" pitchFamily="34" charset="0"/>
                <a:ea typeface="Calibri" pitchFamily="34" charset="-122"/>
                <a:cs typeface="Calibri" pitchFamily="34" charset="-120"/>
              </a:rPr>
              <a:t>konsumen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dibutuhkan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eksplorasi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mengatasi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Item_Visibility</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bernilai</a:t>
            </a:r>
            <a:r>
              <a:rPr lang="en-US" sz="2000" dirty="0">
                <a:solidFill>
                  <a:srgbClr val="444444"/>
                </a:solidFill>
                <a:latin typeface="Calibri" pitchFamily="34" charset="0"/>
                <a:ea typeface="Calibri" pitchFamily="34" charset="-122"/>
                <a:cs typeface="Calibri" pitchFamily="34" charset="-120"/>
              </a:rPr>
              <a:t> 0</a:t>
            </a:r>
          </a:p>
        </p:txBody>
      </p:sp>
      <p:pic>
        <p:nvPicPr>
          <p:cNvPr id="6" name="Picture 5">
            <a:extLst>
              <a:ext uri="{FF2B5EF4-FFF2-40B4-BE49-F238E27FC236}">
                <a16:creationId xmlns:a16="http://schemas.microsoft.com/office/drawing/2014/main" id="{6C296878-BC87-E351-556A-7F9D418874F2}"/>
              </a:ext>
            </a:extLst>
          </p:cNvPr>
          <p:cNvPicPr>
            <a:picLocks noChangeAspect="1"/>
          </p:cNvPicPr>
          <p:nvPr/>
        </p:nvPicPr>
        <p:blipFill>
          <a:blip r:embed="rId3"/>
          <a:stretch>
            <a:fillRect/>
          </a:stretch>
        </p:blipFill>
        <p:spPr>
          <a:xfrm>
            <a:off x="2602917" y="1396441"/>
            <a:ext cx="5974946" cy="3532632"/>
          </a:xfrm>
          <a:prstGeom prst="rect">
            <a:avLst/>
          </a:prstGeom>
        </p:spPr>
      </p:pic>
      <p:sp>
        <p:nvSpPr>
          <p:cNvPr id="10" name="Text 6">
            <a:extLst>
              <a:ext uri="{FF2B5EF4-FFF2-40B4-BE49-F238E27FC236}">
                <a16:creationId xmlns:a16="http://schemas.microsoft.com/office/drawing/2014/main" id="{F6DC2AF7-6B64-2EE7-5543-F2AA3A4587D6}"/>
              </a:ext>
            </a:extLst>
          </p:cNvPr>
          <p:cNvSpPr/>
          <p:nvPr/>
        </p:nvSpPr>
        <p:spPr>
          <a:xfrm>
            <a:off x="367331" y="893418"/>
            <a:ext cx="5174955" cy="436321"/>
          </a:xfrm>
          <a:prstGeom prst="rect">
            <a:avLst/>
          </a:prstGeom>
          <a:noFill/>
          <a:ln/>
        </p:spPr>
        <p:txBody>
          <a:bodyPr wrap="square" rtlCol="0" anchor="ctr"/>
          <a:lstStyle/>
          <a:p>
            <a:pPr marL="0" indent="0">
              <a:buNone/>
            </a:pPr>
            <a:r>
              <a:rPr lang="en-US" sz="1600" b="1" dirty="0" err="1">
                <a:solidFill>
                  <a:srgbClr val="F2545B"/>
                </a:solidFill>
                <a:latin typeface="Cambria" pitchFamily="34" charset="0"/>
                <a:ea typeface="Cambria" pitchFamily="34" charset="-122"/>
                <a:cs typeface="Cambria" pitchFamily="34" charset="-120"/>
              </a:rPr>
              <a:t>Eksplorasi</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lebih</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dalam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Item_Visibility</a:t>
            </a:r>
            <a:endParaRPr lang="en-US" sz="1600" dirty="0"/>
          </a:p>
        </p:txBody>
      </p:sp>
    </p:spTree>
    <p:extLst>
      <p:ext uri="{BB962C8B-B14F-4D97-AF65-F5344CB8AC3E}">
        <p14:creationId xmlns:p14="http://schemas.microsoft.com/office/powerpoint/2010/main" val="675155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8DFE6-E50C-B3CF-0DCD-1EDA35B95682}"/>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DF221D54-9D24-DEC2-8A81-822848BC9B4E}"/>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20FBD869-005A-9034-6D38-7E2AD9AE5666}"/>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4B0D5120-0B59-AC16-0FC8-30DF2517BC0B}"/>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A0A025C5-FB3B-8DD3-EB34-942E88FE21C4}"/>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A8561556-077A-5FE7-D2C5-D384592D72EF}"/>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E06E4A55-94C1-F2B2-F0DF-AFE6DC4DC600}"/>
              </a:ext>
            </a:extLst>
          </p:cNvPr>
          <p:cNvSpPr/>
          <p:nvPr/>
        </p:nvSpPr>
        <p:spPr>
          <a:xfrm>
            <a:off x="367330" y="5489282"/>
            <a:ext cx="11367164" cy="1171388"/>
          </a:xfrm>
          <a:prstGeom prst="rect">
            <a:avLst/>
          </a:prstGeom>
          <a:noFill/>
          <a:ln/>
        </p:spPr>
        <p:txBody>
          <a:bodyPr wrap="square" rtlCol="0" anchor="t"/>
          <a:lstStyle/>
          <a:p>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Berdasarkan</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grafik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diatas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visibilitas</a:t>
            </a:r>
            <a:r>
              <a:rPr lang="en-US" sz="2000" dirty="0">
                <a:solidFill>
                  <a:srgbClr val="444444"/>
                </a:solidFill>
                <a:latin typeface="Calibri" pitchFamily="34" charset="0"/>
                <a:ea typeface="Calibri" pitchFamily="34" charset="-122"/>
                <a:cs typeface="Calibri" pitchFamily="34" charset="-120"/>
              </a:rPr>
              <a:t> 0 dan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pendapatan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penjualan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tersebar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diseluruh</a:t>
            </a:r>
            <a:r>
              <a:rPr lang="en-US" sz="2000" dirty="0">
                <a:solidFill>
                  <a:srgbClr val="444444"/>
                </a:solidFill>
                <a:latin typeface="Calibri" pitchFamily="34" charset="0"/>
                <a:ea typeface="Calibri" pitchFamily="34" charset="-122"/>
                <a:cs typeface="Calibri" pitchFamily="34" charset="-120"/>
              </a:rPr>
              <a:t> outlet, </a:t>
            </a:r>
            <a:r>
              <a:rPr lang="en-US" sz="2000" dirty="0" err="1">
                <a:solidFill>
                  <a:srgbClr val="444444"/>
                </a:solidFill>
                <a:latin typeface="Calibri" pitchFamily="34" charset="0"/>
                <a:ea typeface="Calibri" pitchFamily="34" charset="-122"/>
                <a:cs typeface="Calibri" pitchFamily="34" charset="-120"/>
              </a:rPr>
              <a:t>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disimpulkan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sebagai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kesalahan</a:t>
            </a:r>
            <a:r>
              <a:rPr lang="en-US" sz="2000" dirty="0">
                <a:solidFill>
                  <a:srgbClr val="444444"/>
                </a:solidFill>
                <a:latin typeface="Calibri" pitchFamily="34" charset="0"/>
                <a:ea typeface="Calibri" pitchFamily="34" charset="-122"/>
                <a:cs typeface="Calibri" pitchFamily="34" charset="-120"/>
              </a:rPr>
              <a:t> input.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visibilitas</a:t>
            </a:r>
            <a:r>
              <a:rPr lang="en-US" sz="2000" dirty="0">
                <a:solidFill>
                  <a:srgbClr val="444444"/>
                </a:solidFill>
                <a:latin typeface="Calibri" pitchFamily="34" charset="0"/>
                <a:ea typeface="Calibri" pitchFamily="34" charset="-122"/>
                <a:cs typeface="Calibri" pitchFamily="34" charset="-120"/>
              </a:rPr>
              <a:t> 0 </a:t>
            </a:r>
            <a:r>
              <a:rPr lang="en-US" sz="2000" dirty="0" err="1">
                <a:solidFill>
                  <a:srgbClr val="444444"/>
                </a:solidFill>
                <a:latin typeface="Calibri" pitchFamily="34" charset="0"/>
                <a:ea typeface="Calibri" pitchFamily="34" charset="-122"/>
                <a:cs typeface="Calibri" pitchFamily="34" charset="-120"/>
              </a:rPr>
              <a:t>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dikosongkan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angka</a:t>
            </a:r>
            <a:r>
              <a:rPr lang="en-US" sz="2000" dirty="0">
                <a:solidFill>
                  <a:srgbClr val="444444"/>
                </a:solidFill>
                <a:latin typeface="Calibri" pitchFamily="34" charset="0"/>
                <a:ea typeface="Calibri" pitchFamily="34" charset="-122"/>
                <a:cs typeface="Calibri" pitchFamily="34" charset="-120"/>
              </a:rPr>
              <a:t> 0) yang </a:t>
            </a:r>
            <a:r>
              <a:rPr lang="en-US" sz="2000" dirty="0" err="1">
                <a:solidFill>
                  <a:srgbClr val="444444"/>
                </a:solidFill>
                <a:latin typeface="Calibri" pitchFamily="34" charset="0"/>
                <a:ea typeface="Calibri" pitchFamily="34" charset="-122"/>
                <a:cs typeface="Calibri" pitchFamily="34" charset="-120"/>
              </a:rPr>
              <a:t>selanjutnya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diganti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sesuai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membuat</a:t>
            </a:r>
            <a:r>
              <a:rPr lang="en-US" sz="2000" dirty="0">
                <a:solidFill>
                  <a:srgbClr val="444444"/>
                </a:solidFill>
                <a:latin typeface="Calibri" pitchFamily="34" charset="0"/>
                <a:ea typeface="Calibri" pitchFamily="34" charset="-122"/>
                <a:cs typeface="Calibri" pitchFamily="34" charset="-120"/>
              </a:rPr>
              <a:t> data </a:t>
            </a:r>
            <a:r>
              <a:rPr lang="en-US" sz="2000" dirty="0" err="1">
                <a:solidFill>
                  <a:srgbClr val="444444"/>
                </a:solidFill>
                <a:latin typeface="Calibri" pitchFamily="34" charset="0"/>
                <a:ea typeface="Calibri" pitchFamily="34" charset="-122"/>
                <a:cs typeface="Calibri" pitchFamily="34" charset="-120"/>
              </a:rPr>
              <a:t>konsisten</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D8071861-0E55-218A-EB5C-FB6BEA7B314E}"/>
              </a:ext>
            </a:extLst>
          </p:cNvPr>
          <p:cNvSpPr/>
          <p:nvPr/>
        </p:nvSpPr>
        <p:spPr>
          <a:xfrm>
            <a:off x="367331" y="893418"/>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Melihat persebaran data visibilitas 0</a:t>
            </a:r>
            <a:endParaRPr lang="en-US" sz="1600" dirty="0"/>
          </a:p>
        </p:txBody>
      </p:sp>
      <p:pic>
        <p:nvPicPr>
          <p:cNvPr id="4" name="Picture 3">
            <a:extLst>
              <a:ext uri="{FF2B5EF4-FFF2-40B4-BE49-F238E27FC236}">
                <a16:creationId xmlns:a16="http://schemas.microsoft.com/office/drawing/2014/main" id="{D550B55C-EF4C-B572-DFA4-BD3E8156E2BF}"/>
              </a:ext>
            </a:extLst>
          </p:cNvPr>
          <p:cNvPicPr>
            <a:picLocks noChangeAspect="1"/>
          </p:cNvPicPr>
          <p:nvPr/>
        </p:nvPicPr>
        <p:blipFill>
          <a:blip r:embed="rId3"/>
          <a:stretch>
            <a:fillRect/>
          </a:stretch>
        </p:blipFill>
        <p:spPr>
          <a:xfrm>
            <a:off x="1531541" y="1323258"/>
            <a:ext cx="8464202" cy="3529354"/>
          </a:xfrm>
          <a:prstGeom prst="rect">
            <a:avLst/>
          </a:prstGeom>
        </p:spPr>
      </p:pic>
    </p:spTree>
    <p:extLst>
      <p:ext uri="{BB962C8B-B14F-4D97-AF65-F5344CB8AC3E}">
        <p14:creationId xmlns:p14="http://schemas.microsoft.com/office/powerpoint/2010/main" val="797985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3D696-1720-02FE-20A7-3820B9E474AD}"/>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1D02705-ED29-4F05-F032-D4590297E86E}"/>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06882406-BDB6-135D-17C8-4F4FA38A7F1E}"/>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50BE16A1-F5AC-74D9-00A2-BCF19C95ECAC}"/>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81CD82A8-F045-7270-8C24-F04D96FF8121}"/>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0E5467D6-1795-5D64-10D2-814367198222}"/>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80A2CDB0-C352-7E1A-E34B-7CAD0FF86FBE}"/>
              </a:ext>
            </a:extLst>
          </p:cNvPr>
          <p:cNvSpPr/>
          <p:nvPr/>
        </p:nvSpPr>
        <p:spPr>
          <a:xfrm>
            <a:off x="367330" y="5489282"/>
            <a:ext cx="11367164" cy="1171388"/>
          </a:xfrm>
          <a:prstGeom prst="rect">
            <a:avLst/>
          </a:prstGeom>
          <a:noFill/>
          <a:ln/>
        </p:spPr>
        <p:txBody>
          <a:bodyPr wrap="square" rtlCol="0" anchor="t"/>
          <a:lstStyle/>
          <a:p>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salinan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dataframe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Item_visibility</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missing value </a:t>
            </a:r>
            <a:r>
              <a:rPr lang="en-US" sz="2000" dirty="0" err="1">
                <a:solidFill>
                  <a:srgbClr val="444444"/>
                </a:solidFill>
                <a:latin typeface="Calibri" pitchFamily="34" charset="0"/>
                <a:ea typeface="Calibri" pitchFamily="34" charset="-122"/>
                <a:cs typeface="Calibri" pitchFamily="34" charset="-120"/>
              </a:rPr>
              <a:t>sebanyak</a:t>
            </a:r>
            <a:r>
              <a:rPr lang="en-US" sz="2000" dirty="0">
                <a:solidFill>
                  <a:srgbClr val="444444"/>
                </a:solidFill>
                <a:latin typeface="Calibri" pitchFamily="34" charset="0"/>
                <a:ea typeface="Calibri" pitchFamily="34" charset="-122"/>
                <a:cs typeface="Calibri" pitchFamily="34" charset="-120"/>
              </a:rPr>
              <a:t> 526 baris. </a:t>
            </a:r>
            <a:r>
              <a:rPr lang="en-US" sz="2000" dirty="0" err="1">
                <a:solidFill>
                  <a:srgbClr val="444444"/>
                </a:solidFill>
                <a:latin typeface="Calibri" pitchFamily="34" charset="0"/>
                <a:ea typeface="Calibri" pitchFamily="34" charset="-122"/>
                <a:cs typeface="Calibri" pitchFamily="34" charset="-120"/>
              </a:rPr>
              <a:t>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perhitungan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persentase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keputusan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selanjutnya</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A1013FF1-B6F7-9074-7A4D-15105F46E2A5}"/>
              </a:ext>
            </a:extLst>
          </p:cNvPr>
          <p:cNvSpPr/>
          <p:nvPr/>
        </p:nvSpPr>
        <p:spPr>
          <a:xfrm>
            <a:off x="367331" y="893418"/>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Imputasi pada kolom Item_Visibility</a:t>
            </a:r>
            <a:endParaRPr lang="en-US" sz="1600" dirty="0"/>
          </a:p>
        </p:txBody>
      </p:sp>
      <p:pic>
        <p:nvPicPr>
          <p:cNvPr id="6" name="Picture 5">
            <a:extLst>
              <a:ext uri="{FF2B5EF4-FFF2-40B4-BE49-F238E27FC236}">
                <a16:creationId xmlns:a16="http://schemas.microsoft.com/office/drawing/2014/main" id="{0ED692F5-612B-E672-C47A-C8EAEECB6EFD}"/>
              </a:ext>
            </a:extLst>
          </p:cNvPr>
          <p:cNvPicPr>
            <a:picLocks noChangeAspect="1"/>
          </p:cNvPicPr>
          <p:nvPr/>
        </p:nvPicPr>
        <p:blipFill>
          <a:blip r:embed="rId3"/>
          <a:stretch>
            <a:fillRect/>
          </a:stretch>
        </p:blipFill>
        <p:spPr>
          <a:xfrm>
            <a:off x="2846139" y="1433791"/>
            <a:ext cx="6499721" cy="2785594"/>
          </a:xfrm>
          <a:prstGeom prst="rect">
            <a:avLst/>
          </a:prstGeom>
        </p:spPr>
      </p:pic>
    </p:spTree>
    <p:extLst>
      <p:ext uri="{BB962C8B-B14F-4D97-AF65-F5344CB8AC3E}">
        <p14:creationId xmlns:p14="http://schemas.microsoft.com/office/powerpoint/2010/main" val="1499215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86D5D-142E-5AFC-F088-895D18E854D1}"/>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D040526-CABB-90F4-5A37-D81BE0FAD8F4}"/>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27A5F19B-77C6-21D4-090A-9559784A5461}"/>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2B1C1C2E-2EAB-6D35-16B5-B8F2A859917E}"/>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79C66665-C02C-00CD-555E-5983EDA6B601}"/>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539DA0F0-90D1-76BF-7991-F4806314C50E}"/>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F225A8FD-7F69-D34D-0E55-C25BE73AE561}"/>
              </a:ext>
            </a:extLst>
          </p:cNvPr>
          <p:cNvSpPr/>
          <p:nvPr/>
        </p:nvSpPr>
        <p:spPr>
          <a:xfrm>
            <a:off x="367330" y="5489282"/>
            <a:ext cx="11367164" cy="1171388"/>
          </a:xfrm>
          <a:prstGeom prst="rect">
            <a:avLst/>
          </a:prstGeom>
          <a:noFill/>
          <a:ln/>
        </p:spPr>
        <p:txBody>
          <a:bodyPr wrap="square" rtlCol="0" anchor="t"/>
          <a:lstStyle/>
          <a:p>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Item_Weight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persentase</a:t>
            </a:r>
            <a:r>
              <a:rPr lang="en-US" sz="2000" dirty="0">
                <a:solidFill>
                  <a:srgbClr val="444444"/>
                </a:solidFill>
                <a:latin typeface="Calibri" pitchFamily="34" charset="0"/>
                <a:ea typeface="Calibri" pitchFamily="34" charset="-122"/>
                <a:cs typeface="Calibri" pitchFamily="34" charset="-120"/>
              </a:rPr>
              <a:t> 17,17%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pengujian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endParaRPr lang="en-US" sz="2000" dirty="0">
              <a:solidFill>
                <a:srgbClr val="444444"/>
              </a:solidFill>
              <a:latin typeface="Calibri" pitchFamily="34" charset="0"/>
              <a:ea typeface="Calibri" pitchFamily="34" charset="-122"/>
              <a:cs typeface="Calibri" pitchFamily="34" charset="-120"/>
            </a:endParaRPr>
          </a:p>
          <a:p>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Item_Visibility</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persentase</a:t>
            </a:r>
            <a:r>
              <a:rPr lang="en-US" sz="2000" dirty="0">
                <a:solidFill>
                  <a:srgbClr val="444444"/>
                </a:solidFill>
                <a:latin typeface="Calibri" pitchFamily="34" charset="0"/>
                <a:ea typeface="Calibri" pitchFamily="34" charset="-122"/>
                <a:cs typeface="Calibri" pitchFamily="34" charset="-120"/>
              </a:rPr>
              <a:t> 6,17%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pengujian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endParaRPr lang="en-US" sz="2000" dirty="0">
              <a:solidFill>
                <a:srgbClr val="444444"/>
              </a:solidFill>
              <a:latin typeface="Calibri" pitchFamily="34" charset="0"/>
              <a:ea typeface="Calibri" pitchFamily="34" charset="-122"/>
              <a:cs typeface="Calibri" pitchFamily="34" charset="-120"/>
            </a:endParaRPr>
          </a:p>
          <a:p>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Outlet_Size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persetase</a:t>
            </a:r>
            <a:r>
              <a:rPr lang="en-US" sz="2000" dirty="0">
                <a:solidFill>
                  <a:srgbClr val="444444"/>
                </a:solidFill>
                <a:latin typeface="Calibri" pitchFamily="34" charset="0"/>
                <a:ea typeface="Calibri" pitchFamily="34" charset="-122"/>
                <a:cs typeface="Calibri" pitchFamily="34" charset="-120"/>
              </a:rPr>
              <a:t> 28.28%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pengujian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2FB7A302-83AF-7F01-D535-EB5651B1F0B5}"/>
              </a:ext>
            </a:extLst>
          </p:cNvPr>
          <p:cNvSpPr/>
          <p:nvPr/>
        </p:nvSpPr>
        <p:spPr>
          <a:xfrm>
            <a:off x="367331" y="893418"/>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 Cek Data Hilang</a:t>
            </a:r>
            <a:endParaRPr lang="en-US" sz="1600" dirty="0"/>
          </a:p>
        </p:txBody>
      </p:sp>
      <p:pic>
        <p:nvPicPr>
          <p:cNvPr id="4" name="Picture 3">
            <a:extLst>
              <a:ext uri="{FF2B5EF4-FFF2-40B4-BE49-F238E27FC236}">
                <a16:creationId xmlns:a16="http://schemas.microsoft.com/office/drawing/2014/main" id="{D1A9F28C-67B4-CFCD-0B65-172766827F51}"/>
              </a:ext>
            </a:extLst>
          </p:cNvPr>
          <p:cNvPicPr>
            <a:picLocks noChangeAspect="1"/>
          </p:cNvPicPr>
          <p:nvPr/>
        </p:nvPicPr>
        <p:blipFill>
          <a:blip r:embed="rId3"/>
          <a:stretch>
            <a:fillRect/>
          </a:stretch>
        </p:blipFill>
        <p:spPr>
          <a:xfrm>
            <a:off x="2590565" y="1366555"/>
            <a:ext cx="5571799" cy="3561519"/>
          </a:xfrm>
          <a:prstGeom prst="rect">
            <a:avLst/>
          </a:prstGeom>
        </p:spPr>
      </p:pic>
    </p:spTree>
    <p:extLst>
      <p:ext uri="{BB962C8B-B14F-4D97-AF65-F5344CB8AC3E}">
        <p14:creationId xmlns:p14="http://schemas.microsoft.com/office/powerpoint/2010/main" val="176332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82986-F61F-D981-1325-F9DD112BADD5}"/>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F9A364ED-3E95-E4A4-2E4C-3939D81CB612}"/>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7B457B66-AD06-46CF-B330-C911574457A8}"/>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585C0543-4573-7C0F-238C-7336D363D6FA}"/>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332A3941-79A0-B17C-7243-370F055DAC8F}"/>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87D7201C-2EEF-EE53-1608-A447E170A856}"/>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0DEB0EC1-6260-2F01-718A-983B825800E6}"/>
              </a:ext>
            </a:extLst>
          </p:cNvPr>
          <p:cNvSpPr/>
          <p:nvPr/>
        </p:nvSpPr>
        <p:spPr>
          <a:xfrm>
            <a:off x="367330" y="5489282"/>
            <a:ext cx="11367164" cy="1171388"/>
          </a:xfrm>
          <a:prstGeom prst="rect">
            <a:avLst/>
          </a:prstGeom>
          <a:noFill/>
          <a:ln/>
        </p:spPr>
        <p:txBody>
          <a:bodyPr wrap="square" rtlCol="0" anchor="t"/>
          <a:lstStyle/>
          <a:p>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Item_Weight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persentase</a:t>
            </a:r>
            <a:r>
              <a:rPr lang="en-US" sz="2000" dirty="0">
                <a:solidFill>
                  <a:srgbClr val="444444"/>
                </a:solidFill>
                <a:latin typeface="Calibri" pitchFamily="34" charset="0"/>
                <a:ea typeface="Calibri" pitchFamily="34" charset="-122"/>
                <a:cs typeface="Calibri" pitchFamily="34" charset="-120"/>
              </a:rPr>
              <a:t> 17,17%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pengujian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endParaRPr lang="en-US" sz="2000" dirty="0">
              <a:solidFill>
                <a:srgbClr val="444444"/>
              </a:solidFill>
              <a:latin typeface="Calibri" pitchFamily="34" charset="0"/>
              <a:ea typeface="Calibri" pitchFamily="34" charset="-122"/>
              <a:cs typeface="Calibri" pitchFamily="34" charset="-120"/>
            </a:endParaRPr>
          </a:p>
          <a:p>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Item_Visibility</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persentase</a:t>
            </a:r>
            <a:r>
              <a:rPr lang="en-US" sz="2000" dirty="0">
                <a:solidFill>
                  <a:srgbClr val="444444"/>
                </a:solidFill>
                <a:latin typeface="Calibri" pitchFamily="34" charset="0"/>
                <a:ea typeface="Calibri" pitchFamily="34" charset="-122"/>
                <a:cs typeface="Calibri" pitchFamily="34" charset="-120"/>
              </a:rPr>
              <a:t> 6,17%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pengujian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endParaRPr lang="en-US" sz="2000" dirty="0">
              <a:solidFill>
                <a:srgbClr val="444444"/>
              </a:solidFill>
              <a:latin typeface="Calibri" pitchFamily="34" charset="0"/>
              <a:ea typeface="Calibri" pitchFamily="34" charset="-122"/>
              <a:cs typeface="Calibri" pitchFamily="34" charset="-120"/>
            </a:endParaRPr>
          </a:p>
          <a:p>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Outlet_Size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memiliki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persetase</a:t>
            </a:r>
            <a:r>
              <a:rPr lang="en-US" sz="2000" dirty="0">
                <a:solidFill>
                  <a:srgbClr val="444444"/>
                </a:solidFill>
                <a:latin typeface="Calibri" pitchFamily="34" charset="0"/>
                <a:ea typeface="Calibri" pitchFamily="34" charset="-122"/>
                <a:cs typeface="Calibri" pitchFamily="34" charset="-120"/>
              </a:rPr>
              <a:t> 28.28%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pengujian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endParaRPr lang="en-US" sz="2000" dirty="0">
              <a:solidFill>
                <a:srgbClr val="444444"/>
              </a:solidFill>
              <a:latin typeface="Calibri" pitchFamily="34" charset="0"/>
              <a:ea typeface="Calibri" pitchFamily="34" charset="-122"/>
              <a:cs typeface="Calibri" pitchFamily="34" charset="-120"/>
            </a:endParaRPr>
          </a:p>
          <a:p>
            <a:r>
              <a:rPr lang="en-US" sz="2000" dirty="0">
                <a:solidFill>
                  <a:srgbClr val="444444"/>
                </a:solidFill>
                <a:latin typeface="Calibri" pitchFamily="34" charset="0"/>
                <a:ea typeface="Calibri" pitchFamily="34" charset="-122"/>
                <a:cs typeface="Calibri" pitchFamily="34" charset="-120"/>
              </a:rPr>
              <a:t>Tidak </a:t>
            </a:r>
            <a:r>
              <a:rPr lang="en-US" sz="2000" dirty="0" err="1">
                <a:solidFill>
                  <a:srgbClr val="444444"/>
                </a:solidFill>
                <a:latin typeface="Calibri" pitchFamily="34" charset="0"/>
                <a:ea typeface="Calibri" pitchFamily="34" charset="-122"/>
                <a:cs typeface="Calibri" pitchFamily="34" charset="-120"/>
              </a:rPr>
              <a:t>terdapat</a:t>
            </a:r>
            <a:r>
              <a:rPr lang="en-US" sz="2000" dirty="0">
                <a:solidFill>
                  <a:srgbClr val="444444"/>
                </a:solidFill>
                <a:latin typeface="Calibri" pitchFamily="34" charset="0"/>
                <a:ea typeface="Calibri" pitchFamily="34" charset="-122"/>
                <a:cs typeface="Calibri" pitchFamily="34" charset="-120"/>
              </a:rPr>
              <a:t> data yang </a:t>
            </a:r>
            <a:r>
              <a:rPr lang="en-US" sz="2000" dirty="0" err="1">
                <a:solidFill>
                  <a:srgbClr val="444444"/>
                </a:solidFill>
                <a:latin typeface="Calibri" pitchFamily="34" charset="0"/>
                <a:ea typeface="Calibri" pitchFamily="34" charset="-122"/>
                <a:cs typeface="Calibri" pitchFamily="34" charset="-120"/>
              </a:rPr>
              <a:t>duplikat</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29181B2D-4372-9007-5BFE-016DF1C3A815}"/>
              </a:ext>
            </a:extLst>
          </p:cNvPr>
          <p:cNvSpPr/>
          <p:nvPr/>
        </p:nvSpPr>
        <p:spPr>
          <a:xfrm>
            <a:off x="367331" y="893418"/>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 Cek Data Hilang &amp; duplikasi data</a:t>
            </a:r>
            <a:endParaRPr lang="en-US" sz="1600" dirty="0"/>
          </a:p>
        </p:txBody>
      </p:sp>
      <p:pic>
        <p:nvPicPr>
          <p:cNvPr id="4" name="Picture 3">
            <a:extLst>
              <a:ext uri="{FF2B5EF4-FFF2-40B4-BE49-F238E27FC236}">
                <a16:creationId xmlns:a16="http://schemas.microsoft.com/office/drawing/2014/main" id="{B7667300-5111-7797-658F-CA24C05F987E}"/>
              </a:ext>
            </a:extLst>
          </p:cNvPr>
          <p:cNvPicPr>
            <a:picLocks noChangeAspect="1"/>
          </p:cNvPicPr>
          <p:nvPr/>
        </p:nvPicPr>
        <p:blipFill>
          <a:blip r:embed="rId3"/>
          <a:stretch>
            <a:fillRect/>
          </a:stretch>
        </p:blipFill>
        <p:spPr>
          <a:xfrm>
            <a:off x="761765" y="1392182"/>
            <a:ext cx="5571799" cy="3561519"/>
          </a:xfrm>
          <a:prstGeom prst="rect">
            <a:avLst/>
          </a:prstGeom>
        </p:spPr>
      </p:pic>
      <p:pic>
        <p:nvPicPr>
          <p:cNvPr id="6" name="Picture 5">
            <a:extLst>
              <a:ext uri="{FF2B5EF4-FFF2-40B4-BE49-F238E27FC236}">
                <a16:creationId xmlns:a16="http://schemas.microsoft.com/office/drawing/2014/main" id="{45D06812-F0C9-1DEA-65FA-D4E32EDBC1AF}"/>
              </a:ext>
            </a:extLst>
          </p:cNvPr>
          <p:cNvPicPr>
            <a:picLocks noChangeAspect="1"/>
          </p:cNvPicPr>
          <p:nvPr/>
        </p:nvPicPr>
        <p:blipFill>
          <a:blip r:embed="rId4"/>
          <a:stretch>
            <a:fillRect/>
          </a:stretch>
        </p:blipFill>
        <p:spPr>
          <a:xfrm>
            <a:off x="6494912" y="1443982"/>
            <a:ext cx="5708028" cy="1110959"/>
          </a:xfrm>
          <a:prstGeom prst="rect">
            <a:avLst/>
          </a:prstGeom>
        </p:spPr>
      </p:pic>
    </p:spTree>
    <p:extLst>
      <p:ext uri="{BB962C8B-B14F-4D97-AF65-F5344CB8AC3E}">
        <p14:creationId xmlns:p14="http://schemas.microsoft.com/office/powerpoint/2010/main" val="2227959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D70B-F1B7-4ACF-34DD-194A004AEADC}"/>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225A6A0B-2E4D-E5A9-F4AF-2A610D58F8CA}"/>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F386681C-0A3B-9940-69FB-2C7BAEF8F6B7}"/>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BEB2BCEC-48A9-2C88-4759-252867D54A7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0B16909E-8ED7-40E9-C0A2-7FD30BA24663}"/>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10F83DA7-1872-0FD0-CE9D-2DEE053F518F}"/>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20C10AFC-EC44-114A-DC1F-3052BB6951A0}"/>
              </a:ext>
            </a:extLst>
          </p:cNvPr>
          <p:cNvSpPr/>
          <p:nvPr/>
        </p:nvSpPr>
        <p:spPr>
          <a:xfrm>
            <a:off x="367330" y="5489282"/>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terdapat inkonsistensi nilai pada kolom Item_Fat_Content dan nilai pada kolom lain sudah konsisten (tidak redundan) </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FD105AE3-5D5F-38CC-78C5-68BDC7E2A54C}"/>
              </a:ext>
            </a:extLst>
          </p:cNvPr>
          <p:cNvSpPr/>
          <p:nvPr/>
        </p:nvSpPr>
        <p:spPr>
          <a:xfrm>
            <a:off x="548640" y="912777"/>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Cek konsistensi data</a:t>
            </a:r>
            <a:endParaRPr lang="en-US" sz="1600" dirty="0"/>
          </a:p>
        </p:txBody>
      </p:sp>
      <p:pic>
        <p:nvPicPr>
          <p:cNvPr id="12" name="Picture 11">
            <a:extLst>
              <a:ext uri="{FF2B5EF4-FFF2-40B4-BE49-F238E27FC236}">
                <a16:creationId xmlns:a16="http://schemas.microsoft.com/office/drawing/2014/main" id="{75BEC829-3930-6B45-E07A-19C121E8F4B3}"/>
              </a:ext>
            </a:extLst>
          </p:cNvPr>
          <p:cNvPicPr>
            <a:picLocks noChangeAspect="1"/>
          </p:cNvPicPr>
          <p:nvPr/>
        </p:nvPicPr>
        <p:blipFill>
          <a:blip r:embed="rId3"/>
          <a:stretch>
            <a:fillRect/>
          </a:stretch>
        </p:blipFill>
        <p:spPr>
          <a:xfrm>
            <a:off x="1151595" y="1235776"/>
            <a:ext cx="9350558" cy="3186116"/>
          </a:xfrm>
          <a:prstGeom prst="rect">
            <a:avLst/>
          </a:prstGeom>
        </p:spPr>
      </p:pic>
      <p:pic>
        <p:nvPicPr>
          <p:cNvPr id="15" name="Picture 14">
            <a:extLst>
              <a:ext uri="{FF2B5EF4-FFF2-40B4-BE49-F238E27FC236}">
                <a16:creationId xmlns:a16="http://schemas.microsoft.com/office/drawing/2014/main" id="{E6ED98AE-B609-780A-0808-CA149E11A447}"/>
              </a:ext>
            </a:extLst>
          </p:cNvPr>
          <p:cNvPicPr>
            <a:picLocks noChangeAspect="1"/>
          </p:cNvPicPr>
          <p:nvPr/>
        </p:nvPicPr>
        <p:blipFill>
          <a:blip r:embed="rId4"/>
          <a:stretch>
            <a:fillRect/>
          </a:stretch>
        </p:blipFill>
        <p:spPr>
          <a:xfrm>
            <a:off x="2224636" y="4474276"/>
            <a:ext cx="5792008" cy="381053"/>
          </a:xfrm>
          <a:prstGeom prst="rect">
            <a:avLst/>
          </a:prstGeom>
        </p:spPr>
      </p:pic>
    </p:spTree>
    <p:extLst>
      <p:ext uri="{BB962C8B-B14F-4D97-AF65-F5344CB8AC3E}">
        <p14:creationId xmlns:p14="http://schemas.microsoft.com/office/powerpoint/2010/main" val="1690690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F54B-AC2C-68A4-DDDF-1CA676652B6C}"/>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2A092133-27A5-173E-42A0-6976D5F1525D}"/>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31DEC09D-7B5B-A25C-7FBA-E453ADEC6F66}"/>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FFEBB9B0-73F6-D9F9-AE97-2778C8658CA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ACFC0FFC-BDB3-57F8-78BC-1B1DA031C043}"/>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2D836D5C-B9C6-1213-DA55-BCBE73AB5649}"/>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Cleaning</a:t>
            </a:r>
            <a:endParaRPr lang="en-US" sz="1600" dirty="0"/>
          </a:p>
        </p:txBody>
      </p:sp>
      <p:sp>
        <p:nvSpPr>
          <p:cNvPr id="9" name="Text 8">
            <a:extLst>
              <a:ext uri="{FF2B5EF4-FFF2-40B4-BE49-F238E27FC236}">
                <a16:creationId xmlns:a16="http://schemas.microsoft.com/office/drawing/2014/main" id="{AE4D6633-676B-D924-698D-4E7D7EB49107}"/>
              </a:ext>
            </a:extLst>
          </p:cNvPr>
          <p:cNvSpPr/>
          <p:nvPr/>
        </p:nvSpPr>
        <p:spPr>
          <a:xfrm>
            <a:off x="367330" y="5489282"/>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 dilakukan penyeragaman nilai Low Fat, low fat,LF menjadi Low Fat begitu juga untuk Regular,reg menjadi Regular</a:t>
            </a:r>
            <a:br>
              <a:rPr lang="sv-SE" sz="2000" dirty="0">
                <a:solidFill>
                  <a:srgbClr val="444444"/>
                </a:solidFill>
                <a:latin typeface="Calibri" pitchFamily="34" charset="0"/>
                <a:ea typeface="Calibri" pitchFamily="34" charset="-122"/>
                <a:cs typeface="Calibri" pitchFamily="34" charset="-120"/>
              </a:rPr>
            </a:b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68D47E52-59C7-F08E-2493-24704D972F1E}"/>
              </a:ext>
            </a:extLst>
          </p:cNvPr>
          <p:cNvSpPr/>
          <p:nvPr/>
        </p:nvSpPr>
        <p:spPr>
          <a:xfrm>
            <a:off x="548640" y="912777"/>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Cek Inkonsistensi Data </a:t>
            </a:r>
            <a:endParaRPr lang="en-US" sz="1600" dirty="0"/>
          </a:p>
        </p:txBody>
      </p:sp>
      <p:pic>
        <p:nvPicPr>
          <p:cNvPr id="4" name="Picture 3">
            <a:extLst>
              <a:ext uri="{FF2B5EF4-FFF2-40B4-BE49-F238E27FC236}">
                <a16:creationId xmlns:a16="http://schemas.microsoft.com/office/drawing/2014/main" id="{B6520E2B-01F2-4C6A-F628-5BAA53608237}"/>
              </a:ext>
            </a:extLst>
          </p:cNvPr>
          <p:cNvPicPr>
            <a:picLocks noChangeAspect="1"/>
          </p:cNvPicPr>
          <p:nvPr/>
        </p:nvPicPr>
        <p:blipFill>
          <a:blip r:embed="rId3"/>
          <a:stretch>
            <a:fillRect/>
          </a:stretch>
        </p:blipFill>
        <p:spPr>
          <a:xfrm>
            <a:off x="513009" y="2412091"/>
            <a:ext cx="5416979" cy="1515553"/>
          </a:xfrm>
          <a:prstGeom prst="rect">
            <a:avLst/>
          </a:prstGeom>
        </p:spPr>
      </p:pic>
      <p:pic>
        <p:nvPicPr>
          <p:cNvPr id="8" name="Picture 7">
            <a:extLst>
              <a:ext uri="{FF2B5EF4-FFF2-40B4-BE49-F238E27FC236}">
                <a16:creationId xmlns:a16="http://schemas.microsoft.com/office/drawing/2014/main" id="{58405907-CDB2-C34B-0D53-DC2D9ADD6B1A}"/>
              </a:ext>
            </a:extLst>
          </p:cNvPr>
          <p:cNvPicPr>
            <a:picLocks noChangeAspect="1"/>
          </p:cNvPicPr>
          <p:nvPr/>
        </p:nvPicPr>
        <p:blipFill>
          <a:blip r:embed="rId4"/>
          <a:stretch>
            <a:fillRect/>
          </a:stretch>
        </p:blipFill>
        <p:spPr>
          <a:xfrm>
            <a:off x="6262013" y="1980924"/>
            <a:ext cx="5235221" cy="2247253"/>
          </a:xfrm>
          <a:prstGeom prst="rect">
            <a:avLst/>
          </a:prstGeom>
        </p:spPr>
      </p:pic>
    </p:spTree>
    <p:extLst>
      <p:ext uri="{BB962C8B-B14F-4D97-AF65-F5344CB8AC3E}">
        <p14:creationId xmlns:p14="http://schemas.microsoft.com/office/powerpoint/2010/main" val="3691556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A6A8-8C26-1955-D66B-283617A2146E}"/>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2A0873E-FB07-EE07-F199-AEBC8EB24F9B}"/>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4D8B9877-DBA8-6ADB-FDBF-60C22F7618CF}"/>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C83A66C9-BA1F-3995-89AC-13B059563484}"/>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AFAEC481-8B14-E563-1237-220FC1C487C1}"/>
              </a:ext>
            </a:extLst>
          </p:cNvPr>
          <p:cNvSpPr/>
          <p:nvPr/>
        </p:nvSpPr>
        <p:spPr>
          <a:xfrm>
            <a:off x="548640" y="912777"/>
            <a:ext cx="5174955" cy="436321"/>
          </a:xfrm>
          <a:prstGeom prst="rect">
            <a:avLst/>
          </a:prstGeom>
          <a:noFill/>
          <a:ln/>
        </p:spPr>
        <p:txBody>
          <a:bodyPr wrap="square" rtlCol="0" anchor="ctr"/>
          <a:lstStyle/>
          <a:p>
            <a:r>
              <a:rPr lang="en-US" sz="1600" b="1" dirty="0" err="1">
                <a:solidFill>
                  <a:srgbClr val="F2545B"/>
                </a:solidFill>
                <a:latin typeface="Cambria" pitchFamily="34" charset="0"/>
                <a:ea typeface="Cambria" pitchFamily="34" charset="-122"/>
                <a:cs typeface="Cambria" pitchFamily="34" charset="-120"/>
              </a:rPr>
              <a:t>Penanganan</a:t>
            </a:r>
            <a:r>
              <a:rPr lang="en-US" sz="1600" b="1" dirty="0">
                <a:solidFill>
                  <a:srgbClr val="F2545B"/>
                </a:solidFill>
                <a:latin typeface="Cambria" pitchFamily="34" charset="0"/>
                <a:ea typeface="Cambria" pitchFamily="34" charset="-122"/>
                <a:cs typeface="Cambria" pitchFamily="34" charset="-120"/>
              </a:rPr>
              <a:t> Missing Value pada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Item_Weight</a:t>
            </a:r>
            <a:endParaRPr lang="en-US" sz="1600" dirty="0"/>
          </a:p>
        </p:txBody>
      </p:sp>
      <p:sp>
        <p:nvSpPr>
          <p:cNvPr id="17" name="Shape 5">
            <a:extLst>
              <a:ext uri="{FF2B5EF4-FFF2-40B4-BE49-F238E27FC236}">
                <a16:creationId xmlns:a16="http://schemas.microsoft.com/office/drawing/2014/main" id="{205581E3-1970-63B5-03BE-96DE72C2360F}"/>
              </a:ext>
            </a:extLst>
          </p:cNvPr>
          <p:cNvSpPr/>
          <p:nvPr/>
        </p:nvSpPr>
        <p:spPr>
          <a:xfrm>
            <a:off x="0" y="4946272"/>
            <a:ext cx="11835333" cy="175378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BA7833AA-127D-5C1C-D93C-9156DAA21DC7}"/>
              </a:ext>
            </a:extLst>
          </p:cNvPr>
          <p:cNvSpPr/>
          <p:nvPr/>
        </p:nvSpPr>
        <p:spPr>
          <a:xfrm>
            <a:off x="111827" y="4931995"/>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21" name="Text 8">
            <a:extLst>
              <a:ext uri="{FF2B5EF4-FFF2-40B4-BE49-F238E27FC236}">
                <a16:creationId xmlns:a16="http://schemas.microsoft.com/office/drawing/2014/main" id="{526B5C68-7707-3F01-7941-107AB8165C2E}"/>
              </a:ext>
            </a:extLst>
          </p:cNvPr>
          <p:cNvSpPr/>
          <p:nvPr/>
        </p:nvSpPr>
        <p:spPr>
          <a:xfrm>
            <a:off x="111827" y="5293447"/>
            <a:ext cx="11622668" cy="1537148"/>
          </a:xfrm>
          <a:prstGeom prst="rect">
            <a:avLst/>
          </a:prstGeom>
          <a:noFill/>
          <a:ln/>
        </p:spPr>
        <p:txBody>
          <a:bodyPr wrap="square" rtlCol="0" anchor="t"/>
          <a:lstStyle/>
          <a:p>
            <a:r>
              <a:rPr lang="en-US" sz="2000" dirty="0" err="1">
                <a:solidFill>
                  <a:srgbClr val="444444"/>
                </a:solidFill>
                <a:latin typeface="Calibri" pitchFamily="34" charset="0"/>
                <a:ea typeface="Calibri" pitchFamily="34" charset="-122"/>
                <a:cs typeface="Calibri" pitchFamily="34" charset="-120"/>
              </a:rPr>
              <a:t>berdasarkan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pengamatan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sama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menggunakan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Item_Identifier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sama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semuanya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maka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dilakukan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Imputasi</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Item_Weight</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kosong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menyesuaikan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Item_Identifier</a:t>
            </a:r>
            <a:endParaRPr lang="en-US" sz="2000" dirty="0">
              <a:solidFill>
                <a:srgbClr val="444444"/>
              </a:solidFill>
              <a:latin typeface="Calibri" pitchFamily="34" charset="0"/>
              <a:ea typeface="Calibri" pitchFamily="34" charset="-122"/>
              <a:cs typeface="Calibri" pitchFamily="34" charset="-120"/>
            </a:endParaRPr>
          </a:p>
        </p:txBody>
      </p:sp>
      <p:pic>
        <p:nvPicPr>
          <p:cNvPr id="23" name="Picture 22">
            <a:extLst>
              <a:ext uri="{FF2B5EF4-FFF2-40B4-BE49-F238E27FC236}">
                <a16:creationId xmlns:a16="http://schemas.microsoft.com/office/drawing/2014/main" id="{9A6A3EB9-05B1-0088-3B3D-48789E6DCA29}"/>
              </a:ext>
            </a:extLst>
          </p:cNvPr>
          <p:cNvPicPr>
            <a:picLocks noChangeAspect="1"/>
          </p:cNvPicPr>
          <p:nvPr/>
        </p:nvPicPr>
        <p:blipFill>
          <a:blip r:embed="rId3"/>
          <a:stretch>
            <a:fillRect/>
          </a:stretch>
        </p:blipFill>
        <p:spPr>
          <a:xfrm>
            <a:off x="2082112" y="1504168"/>
            <a:ext cx="7282965" cy="3279403"/>
          </a:xfrm>
          <a:prstGeom prst="rect">
            <a:avLst/>
          </a:prstGeom>
        </p:spPr>
      </p:pic>
    </p:spTree>
    <p:extLst>
      <p:ext uri="{BB962C8B-B14F-4D97-AF65-F5344CB8AC3E}">
        <p14:creationId xmlns:p14="http://schemas.microsoft.com/office/powerpoint/2010/main" val="962019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988B-CFD0-D340-E391-7D2EBD48DC7D}"/>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9FA07BB4-2C28-A681-D658-F2F812FA9074}"/>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2C4578A0-A744-FB41-2CBF-48DFDF53892C}"/>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002A0A73-0DCD-0D11-86B7-3D357D1DD599}"/>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89C597FF-C049-D58F-39F1-DDAACA70E997}"/>
              </a:ext>
            </a:extLst>
          </p:cNvPr>
          <p:cNvSpPr/>
          <p:nvPr/>
        </p:nvSpPr>
        <p:spPr>
          <a:xfrm>
            <a:off x="548640" y="912777"/>
            <a:ext cx="5174955" cy="436321"/>
          </a:xfrm>
          <a:prstGeom prst="rect">
            <a:avLst/>
          </a:prstGeom>
          <a:noFill/>
          <a:ln/>
        </p:spPr>
        <p:txBody>
          <a:bodyPr wrap="square" rtlCol="0" anchor="ctr"/>
          <a:lstStyle/>
          <a:p>
            <a:r>
              <a:rPr lang="en-US" sz="1600" b="1" dirty="0" err="1">
                <a:solidFill>
                  <a:srgbClr val="F2545B"/>
                </a:solidFill>
                <a:latin typeface="Cambria" pitchFamily="34" charset="0"/>
                <a:ea typeface="Cambria" pitchFamily="34" charset="-122"/>
                <a:cs typeface="Cambria" pitchFamily="34" charset="-120"/>
              </a:rPr>
              <a:t>Penanganan</a:t>
            </a:r>
            <a:r>
              <a:rPr lang="en-US" sz="1600" b="1" dirty="0">
                <a:solidFill>
                  <a:srgbClr val="F2545B"/>
                </a:solidFill>
                <a:latin typeface="Cambria" pitchFamily="34" charset="0"/>
                <a:ea typeface="Cambria" pitchFamily="34" charset="-122"/>
                <a:cs typeface="Cambria" pitchFamily="34" charset="-120"/>
              </a:rPr>
              <a:t> Missing Value pada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Item_Weight</a:t>
            </a:r>
            <a:endParaRPr lang="en-US" sz="1600" dirty="0"/>
          </a:p>
        </p:txBody>
      </p:sp>
      <p:pic>
        <p:nvPicPr>
          <p:cNvPr id="12" name="Picture 11">
            <a:extLst>
              <a:ext uri="{FF2B5EF4-FFF2-40B4-BE49-F238E27FC236}">
                <a16:creationId xmlns:a16="http://schemas.microsoft.com/office/drawing/2014/main" id="{9EDA2F95-1CFE-D794-CE05-71981F1ECFF5}"/>
              </a:ext>
            </a:extLst>
          </p:cNvPr>
          <p:cNvPicPr>
            <a:picLocks noChangeAspect="1"/>
          </p:cNvPicPr>
          <p:nvPr/>
        </p:nvPicPr>
        <p:blipFill>
          <a:blip r:embed="rId3"/>
          <a:stretch>
            <a:fillRect/>
          </a:stretch>
        </p:blipFill>
        <p:spPr>
          <a:xfrm>
            <a:off x="548640" y="1368718"/>
            <a:ext cx="8539343" cy="1210388"/>
          </a:xfrm>
          <a:prstGeom prst="rect">
            <a:avLst/>
          </a:prstGeom>
        </p:spPr>
      </p:pic>
      <p:pic>
        <p:nvPicPr>
          <p:cNvPr id="15" name="Picture 14">
            <a:extLst>
              <a:ext uri="{FF2B5EF4-FFF2-40B4-BE49-F238E27FC236}">
                <a16:creationId xmlns:a16="http://schemas.microsoft.com/office/drawing/2014/main" id="{89B352FD-C1E6-4570-9510-0874A62AC6AC}"/>
              </a:ext>
            </a:extLst>
          </p:cNvPr>
          <p:cNvPicPr>
            <a:picLocks noChangeAspect="1"/>
          </p:cNvPicPr>
          <p:nvPr/>
        </p:nvPicPr>
        <p:blipFill>
          <a:blip r:embed="rId4"/>
          <a:stretch>
            <a:fillRect/>
          </a:stretch>
        </p:blipFill>
        <p:spPr>
          <a:xfrm>
            <a:off x="548639" y="2760972"/>
            <a:ext cx="8539343" cy="1731549"/>
          </a:xfrm>
          <a:prstGeom prst="rect">
            <a:avLst/>
          </a:prstGeom>
        </p:spPr>
      </p:pic>
      <p:sp>
        <p:nvSpPr>
          <p:cNvPr id="17" name="Shape 5">
            <a:extLst>
              <a:ext uri="{FF2B5EF4-FFF2-40B4-BE49-F238E27FC236}">
                <a16:creationId xmlns:a16="http://schemas.microsoft.com/office/drawing/2014/main" id="{419105F4-7239-AD34-4EF6-8BC9D1C87966}"/>
              </a:ext>
            </a:extLst>
          </p:cNvPr>
          <p:cNvSpPr/>
          <p:nvPr/>
        </p:nvSpPr>
        <p:spPr>
          <a:xfrm>
            <a:off x="0" y="4946272"/>
            <a:ext cx="11835333" cy="175378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E0A8843B-1960-038F-A748-601678CB8448}"/>
              </a:ext>
            </a:extLst>
          </p:cNvPr>
          <p:cNvSpPr/>
          <p:nvPr/>
        </p:nvSpPr>
        <p:spPr>
          <a:xfrm>
            <a:off x="111827" y="4931995"/>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Cleaning</a:t>
            </a:r>
            <a:endParaRPr lang="en-US" sz="1600" dirty="0"/>
          </a:p>
        </p:txBody>
      </p:sp>
      <p:sp>
        <p:nvSpPr>
          <p:cNvPr id="21" name="Text 8">
            <a:extLst>
              <a:ext uri="{FF2B5EF4-FFF2-40B4-BE49-F238E27FC236}">
                <a16:creationId xmlns:a16="http://schemas.microsoft.com/office/drawing/2014/main" id="{176F3FEB-5B7A-27B2-FA70-49FC67D1643B}"/>
              </a:ext>
            </a:extLst>
          </p:cNvPr>
          <p:cNvSpPr/>
          <p:nvPr/>
        </p:nvSpPr>
        <p:spPr>
          <a:xfrm>
            <a:off x="111827" y="5293447"/>
            <a:ext cx="11622668" cy="1537148"/>
          </a:xfrm>
          <a:prstGeom prst="rect">
            <a:avLst/>
          </a:prstGeom>
          <a:noFill/>
          <a:ln/>
        </p:spPr>
        <p:txBody>
          <a:bodyPr wrap="square" rtlCol="0" anchor="t"/>
          <a:lstStyle/>
          <a:p>
            <a:pPr marL="0" indent="0">
              <a:lnSpc>
                <a:spcPts val="1400"/>
              </a:lnSpc>
              <a:buNone/>
            </a:pPr>
            <a:r>
              <a:rPr lang="en-US" sz="1600" dirty="0" err="1">
                <a:solidFill>
                  <a:srgbClr val="444444"/>
                </a:solidFill>
                <a:latin typeface="Calibri" pitchFamily="34" charset="0"/>
                <a:ea typeface="Calibri" pitchFamily="34" charset="-122"/>
                <a:cs typeface="Calibri" pitchFamily="34" charset="-120"/>
              </a:rPr>
              <a:t>Imputasi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Tahap</a:t>
            </a:r>
            <a:r>
              <a:rPr lang="en-US" sz="1600" dirty="0">
                <a:solidFill>
                  <a:srgbClr val="444444"/>
                </a:solidFill>
                <a:latin typeface="Calibri" pitchFamily="34" charset="0"/>
                <a:ea typeface="Calibri" pitchFamily="34" charset="-122"/>
                <a:cs typeface="Calibri" pitchFamily="34" charset="-120"/>
              </a:rPr>
              <a:t> 1 (</a:t>
            </a:r>
            <a:r>
              <a:rPr lang="en-US" sz="1600" dirty="0" err="1">
                <a:solidFill>
                  <a:srgbClr val="444444"/>
                </a:solidFill>
                <a:latin typeface="Calibri" pitchFamily="34" charset="0"/>
                <a:ea typeface="Calibri" pitchFamily="34" charset="-122"/>
                <a:cs typeface="Calibri" pitchFamily="34" charset="-120"/>
              </a:rPr>
              <a:t>Berdasarkan</a:t>
            </a:r>
            <a:r>
              <a:rPr lang="en-US" sz="1600" dirty="0">
                <a:solidFill>
                  <a:srgbClr val="444444"/>
                </a:solidFill>
                <a:latin typeface="Calibri" pitchFamily="34" charset="0"/>
                <a:ea typeface="Calibri" pitchFamily="34" charset="-122"/>
                <a:cs typeface="Calibri" pitchFamily="34" charset="-120"/>
              </a:rPr>
              <a:t> ID </a:t>
            </a:r>
            <a:r>
              <a:rPr lang="en-US" sz="1600" dirty="0" err="1">
                <a:solidFill>
                  <a:srgbClr val="444444"/>
                </a:solidFill>
                <a:latin typeface="Calibri" pitchFamily="34" charset="0"/>
                <a:ea typeface="Calibri" pitchFamily="34" charset="-122"/>
                <a:cs typeface="Calibri" pitchFamily="34" charset="-120"/>
              </a:rPr>
              <a:t>Produk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Sebanyak</a:t>
            </a:r>
            <a:r>
              <a:rPr lang="en-US" sz="1600" dirty="0">
                <a:solidFill>
                  <a:srgbClr val="444444"/>
                </a:solidFill>
                <a:latin typeface="Calibri" pitchFamily="34" charset="0"/>
                <a:ea typeface="Calibri" pitchFamily="34" charset="-122"/>
                <a:cs typeface="Calibri" pitchFamily="34" charset="-120"/>
              </a:rPr>
              <a:t> 1.459 missing value pada </a:t>
            </a:r>
            <a:r>
              <a:rPr lang="en-US" sz="1600" dirty="0" err="1">
                <a:solidFill>
                  <a:srgbClr val="444444"/>
                </a:solidFill>
                <a:latin typeface="Calibri" pitchFamily="34" charset="0"/>
                <a:ea typeface="Calibri" pitchFamily="34" charset="-122"/>
                <a:cs typeface="Calibri" pitchFamily="34" charset="-120"/>
              </a:rPr>
              <a:t>Item_Weight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berhasil</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diisi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menggunakan</a:t>
            </a:r>
            <a:r>
              <a:rPr lang="en-US" sz="1600" dirty="0">
                <a:solidFill>
                  <a:srgbClr val="444444"/>
                </a:solidFill>
                <a:latin typeface="Calibri" pitchFamily="34" charset="0"/>
                <a:ea typeface="Calibri" pitchFamily="34" charset="-122"/>
                <a:cs typeface="Calibri" pitchFamily="34" charset="-120"/>
              </a:rPr>
              <a:t> rata-rata </a:t>
            </a:r>
            <a:r>
              <a:rPr lang="en-US" sz="1600" dirty="0" err="1">
                <a:solidFill>
                  <a:srgbClr val="444444"/>
                </a:solidFill>
                <a:latin typeface="Calibri" pitchFamily="34" charset="0"/>
                <a:ea typeface="Calibri" pitchFamily="34" charset="-122"/>
                <a:cs typeface="Calibri" pitchFamily="34" charset="-120"/>
              </a:rPr>
              <a:t>berat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Item_Identifier</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sama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karena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terbukti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setiap</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produk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memiliki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berat</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konsisten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berat</a:t>
            </a:r>
            <a:r>
              <a:rPr lang="en-US" sz="1600" dirty="0">
                <a:solidFill>
                  <a:srgbClr val="444444"/>
                </a:solidFill>
                <a:latin typeface="Calibri" pitchFamily="34" charset="0"/>
                <a:ea typeface="Calibri" pitchFamily="34" charset="-122"/>
                <a:cs typeface="Calibri" pitchFamily="34" charset="-120"/>
              </a:rPr>
              <a:t> = 0).</a:t>
            </a:r>
          </a:p>
          <a:p>
            <a:pPr marL="0" indent="0">
              <a:lnSpc>
                <a:spcPts val="1400"/>
              </a:lnSpc>
              <a:buNone/>
            </a:pP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r>
              <a:rPr lang="en-US" sz="1600" dirty="0" err="1">
                <a:solidFill>
                  <a:srgbClr val="444444"/>
                </a:solidFill>
                <a:latin typeface="Calibri" pitchFamily="34" charset="0"/>
                <a:ea typeface="Calibri" pitchFamily="34" charset="-122"/>
                <a:cs typeface="Calibri" pitchFamily="34" charset="-120"/>
              </a:rPr>
              <a:t>Imputasi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Tahap</a:t>
            </a:r>
            <a:r>
              <a:rPr lang="en-US" sz="1600" dirty="0">
                <a:solidFill>
                  <a:srgbClr val="444444"/>
                </a:solidFill>
                <a:latin typeface="Calibri" pitchFamily="34" charset="0"/>
                <a:ea typeface="Calibri" pitchFamily="34" charset="-122"/>
                <a:cs typeface="Calibri" pitchFamily="34" charset="-120"/>
              </a:rPr>
              <a:t> 2 (</a:t>
            </a:r>
            <a:r>
              <a:rPr lang="en-US" sz="1600" dirty="0" err="1">
                <a:solidFill>
                  <a:srgbClr val="444444"/>
                </a:solidFill>
                <a:latin typeface="Calibri" pitchFamily="34" charset="0"/>
                <a:ea typeface="Calibri" pitchFamily="34" charset="-122"/>
                <a:cs typeface="Calibri" pitchFamily="34" charset="-120"/>
              </a:rPr>
              <a:t>Penanganan</a:t>
            </a:r>
            <a:r>
              <a:rPr lang="en-US" sz="1600" dirty="0">
                <a:solidFill>
                  <a:srgbClr val="444444"/>
                </a:solidFill>
                <a:latin typeface="Calibri" pitchFamily="34" charset="0"/>
                <a:ea typeface="Calibri" pitchFamily="34" charset="-122"/>
                <a:cs typeface="Calibri" pitchFamily="34" charset="-120"/>
              </a:rPr>
              <a:t> Sisa 4 Data): Sisa 4 data yang </a:t>
            </a:r>
            <a:r>
              <a:rPr lang="en-US" sz="1600" dirty="0" err="1">
                <a:solidFill>
                  <a:srgbClr val="444444"/>
                </a:solidFill>
                <a:latin typeface="Calibri" pitchFamily="34" charset="0"/>
                <a:ea typeface="Calibri" pitchFamily="34" charset="-122"/>
                <a:cs typeface="Calibri" pitchFamily="34" charset="-120"/>
              </a:rPr>
              <a:t>masih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kosong</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karena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produk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tersebut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berdiri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sendiri</a:t>
            </a:r>
            <a:r>
              <a:rPr lang="en-US" sz="1600" dirty="0">
                <a:solidFill>
                  <a:srgbClr val="444444"/>
                </a:solidFill>
                <a:latin typeface="Calibri" pitchFamily="34" charset="0"/>
                <a:ea typeface="Calibri" pitchFamily="34" charset="-122"/>
                <a:cs typeface="Calibri" pitchFamily="34" charset="-120"/>
              </a:rPr>
              <a:t> dan </a:t>
            </a:r>
            <a:r>
              <a:rPr lang="en-US" sz="1600" dirty="0" err="1">
                <a:solidFill>
                  <a:srgbClr val="444444"/>
                </a:solidFill>
                <a:latin typeface="Calibri" pitchFamily="34" charset="0"/>
                <a:ea typeface="Calibri" pitchFamily="34" charset="-122"/>
                <a:cs typeface="Calibri" pitchFamily="34" charset="-120"/>
              </a:rPr>
              <a:t>tidak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memiliki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pembanding</a:t>
            </a:r>
            <a:r>
              <a:rPr lang="en-US" sz="1600" dirty="0">
                <a:solidFill>
                  <a:srgbClr val="444444"/>
                </a:solidFill>
                <a:latin typeface="Calibri" pitchFamily="34" charset="0"/>
                <a:ea typeface="Calibri" pitchFamily="34" charset="-122"/>
                <a:cs typeface="Calibri" pitchFamily="34" charset="-120"/>
              </a:rPr>
              <a:t> ID lain) </a:t>
            </a:r>
            <a:r>
              <a:rPr lang="en-US" sz="1600" dirty="0" err="1">
                <a:solidFill>
                  <a:srgbClr val="444444"/>
                </a:solidFill>
                <a:latin typeface="Calibri" pitchFamily="34" charset="0"/>
                <a:ea typeface="Calibri" pitchFamily="34" charset="-122"/>
                <a:cs typeface="Calibri" pitchFamily="34" charset="-120"/>
              </a:rPr>
              <a:t>diimputasi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menggunakan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nilai</a:t>
            </a:r>
            <a:r>
              <a:rPr lang="en-US" sz="1600" dirty="0">
                <a:solidFill>
                  <a:srgbClr val="444444"/>
                </a:solidFill>
                <a:latin typeface="Calibri" pitchFamily="34" charset="0"/>
                <a:ea typeface="Calibri" pitchFamily="34" charset="-122"/>
                <a:cs typeface="Calibri" pitchFamily="34" charset="-120"/>
              </a:rPr>
              <a:t> rata-rata </a:t>
            </a:r>
            <a:r>
              <a:rPr lang="en-US" sz="1600" dirty="0" err="1">
                <a:solidFill>
                  <a:srgbClr val="444444"/>
                </a:solidFill>
                <a:latin typeface="Calibri" pitchFamily="34" charset="0"/>
                <a:ea typeface="Calibri" pitchFamily="34" charset="-122"/>
                <a:cs typeface="Calibri" pitchFamily="34" charset="-120"/>
              </a:rPr>
              <a:t>keseluruhan</a:t>
            </a:r>
            <a:r>
              <a:rPr lang="en-US" sz="1600" dirty="0">
                <a:solidFill>
                  <a:srgbClr val="444444"/>
                </a:solidFill>
                <a:latin typeface="Calibri" pitchFamily="34" charset="0"/>
                <a:ea typeface="Calibri" pitchFamily="34" charset="-122"/>
                <a:cs typeface="Calibri" pitchFamily="34" charset="-120"/>
              </a:rPr>
              <a:t> (overall mean) </a:t>
            </a:r>
            <a:r>
              <a:rPr lang="en-US" sz="1600" dirty="0" err="1">
                <a:solidFill>
                  <a:srgbClr val="444444"/>
                </a:solidFill>
                <a:latin typeface="Calibri" pitchFamily="34" charset="0"/>
                <a:ea typeface="Calibri" pitchFamily="34" charset="-122"/>
                <a:cs typeface="Calibri" pitchFamily="34" charset="-120"/>
              </a:rPr>
              <a:t>untuk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mempertahankan</a:t>
            </a:r>
            <a:r>
              <a:rPr lang="en-US" sz="1600" dirty="0">
                <a:solidFill>
                  <a:srgbClr val="444444"/>
                </a:solidFill>
                <a:latin typeface="Calibri" pitchFamily="34" charset="0"/>
                <a:ea typeface="Calibri" pitchFamily="34" charset="-122"/>
                <a:cs typeface="Calibri" pitchFamily="34" charset="-120"/>
              </a:rPr>
              <a:t> data </a:t>
            </a:r>
            <a:r>
              <a:rPr lang="en-US" sz="1600" dirty="0" err="1">
                <a:solidFill>
                  <a:srgbClr val="444444"/>
                </a:solidFill>
                <a:latin typeface="Calibri" pitchFamily="34" charset="0"/>
                <a:ea typeface="Calibri" pitchFamily="34" charset="-122"/>
                <a:cs typeface="Calibri" pitchFamily="34" charset="-120"/>
              </a:rPr>
              <a:t>Item_Outlet_Sales</a:t>
            </a:r>
            <a:r>
              <a:rPr lang="en-US" sz="1600" dirty="0">
                <a:solidFill>
                  <a:srgbClr val="444444"/>
                </a:solidFill>
                <a:latin typeface="Calibri" pitchFamily="34" charset="0"/>
                <a:ea typeface="Calibri" pitchFamily="34" charset="-122"/>
                <a:cs typeface="Calibri" pitchFamily="34" charset="-120"/>
              </a:rPr>
              <a:t>.</a:t>
            </a:r>
          </a:p>
          <a:p>
            <a:pPr marL="0" indent="0">
              <a:lnSpc>
                <a:spcPts val="1400"/>
              </a:lnSpc>
              <a:buNone/>
            </a:pP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r>
              <a:rPr lang="en-US" sz="1600" dirty="0" err="1">
                <a:solidFill>
                  <a:srgbClr val="444444"/>
                </a:solidFill>
                <a:latin typeface="Calibri" pitchFamily="34" charset="0"/>
                <a:ea typeface="Calibri" pitchFamily="34" charset="-122"/>
                <a:cs typeface="Calibri" pitchFamily="34" charset="-120"/>
              </a:rPr>
              <a:t>Validasi</a:t>
            </a:r>
            <a:r>
              <a:rPr lang="en-US" sz="1600" dirty="0">
                <a:solidFill>
                  <a:srgbClr val="444444"/>
                </a:solidFill>
                <a:latin typeface="Calibri" pitchFamily="34" charset="0"/>
                <a:ea typeface="Calibri" pitchFamily="34" charset="-122"/>
                <a:cs typeface="Calibri" pitchFamily="34" charset="-120"/>
              </a:rPr>
              <a:t> Akhir: Sisa missing value pada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Item_Weight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berhasil</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menjadi</a:t>
            </a:r>
            <a:r>
              <a:rPr lang="en-US" sz="1600" dirty="0">
                <a:solidFill>
                  <a:srgbClr val="444444"/>
                </a:solidFill>
                <a:latin typeface="Calibri" pitchFamily="34" charset="0"/>
                <a:ea typeface="Calibri" pitchFamily="34" charset="-122"/>
                <a:cs typeface="Calibri" pitchFamily="34" charset="-120"/>
              </a:rPr>
              <a:t> 0 baris (100% </a:t>
            </a:r>
            <a:r>
              <a:rPr lang="en-US" sz="1600" dirty="0" err="1">
                <a:solidFill>
                  <a:srgbClr val="444444"/>
                </a:solidFill>
                <a:latin typeface="Calibri" pitchFamily="34" charset="0"/>
                <a:ea typeface="Calibri" pitchFamily="34" charset="-122"/>
                <a:cs typeface="Calibri" pitchFamily="34" charset="-120"/>
              </a:rPr>
              <a:t>bersih</a:t>
            </a:r>
            <a:r>
              <a:rPr lang="en-US" sz="1600" dirty="0">
                <a:solidFill>
                  <a:srgbClr val="444444"/>
                </a:solidFill>
                <a:latin typeface="Calibri" pitchFamily="34" charset="0"/>
                <a:ea typeface="Calibri" pitchFamily="34" charset="-122"/>
                <a:cs typeface="Calibri" pitchFamily="34" charset="-120"/>
              </a:rPr>
              <a:t>).</a:t>
            </a:r>
          </a:p>
        </p:txBody>
      </p:sp>
    </p:spTree>
    <p:extLst>
      <p:ext uri="{BB962C8B-B14F-4D97-AF65-F5344CB8AC3E}">
        <p14:creationId xmlns:p14="http://schemas.microsoft.com/office/powerpoint/2010/main" val="2035175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DA5A-A9ED-8F95-7AC9-E3378823314F}"/>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4529D77-C402-203A-7EBD-1C8063F22BFF}"/>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A37C5DB7-A6D5-BD38-E538-6B959666D3B6}"/>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8910B84D-258A-EB89-386E-C989CCE3BE70}"/>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5DDCF92D-4F07-F537-2C6D-6F8D0F75F3F1}"/>
              </a:ext>
            </a:extLst>
          </p:cNvPr>
          <p:cNvSpPr/>
          <p:nvPr/>
        </p:nvSpPr>
        <p:spPr>
          <a:xfrm>
            <a:off x="324956" y="614121"/>
            <a:ext cx="5174955" cy="436321"/>
          </a:xfrm>
          <a:prstGeom prst="rect">
            <a:avLst/>
          </a:prstGeom>
          <a:noFill/>
          <a:ln/>
        </p:spPr>
        <p:txBody>
          <a:bodyPr wrap="square" rtlCol="0" anchor="ctr"/>
          <a:lstStyle/>
          <a:p>
            <a:r>
              <a:rPr lang="en-US" sz="1600" b="1" dirty="0" err="1">
                <a:solidFill>
                  <a:srgbClr val="F2545B"/>
                </a:solidFill>
                <a:latin typeface="Cambria" pitchFamily="34" charset="0"/>
                <a:ea typeface="Cambria" pitchFamily="34" charset="-122"/>
                <a:cs typeface="Cambria" pitchFamily="34" charset="-120"/>
              </a:rPr>
              <a:t>Penanganan</a:t>
            </a:r>
            <a:r>
              <a:rPr lang="en-US" sz="1600" b="1" dirty="0">
                <a:solidFill>
                  <a:srgbClr val="F2545B"/>
                </a:solidFill>
                <a:latin typeface="Cambria" pitchFamily="34" charset="0"/>
                <a:ea typeface="Cambria" pitchFamily="34" charset="-122"/>
                <a:cs typeface="Cambria" pitchFamily="34" charset="-120"/>
              </a:rPr>
              <a:t> Missing Value pada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Outlet_Size</a:t>
            </a:r>
            <a:endParaRPr lang="en-US" sz="1600" dirty="0"/>
          </a:p>
        </p:txBody>
      </p:sp>
      <p:sp>
        <p:nvSpPr>
          <p:cNvPr id="17" name="Shape 5">
            <a:extLst>
              <a:ext uri="{FF2B5EF4-FFF2-40B4-BE49-F238E27FC236}">
                <a16:creationId xmlns:a16="http://schemas.microsoft.com/office/drawing/2014/main" id="{F17E24FD-17F9-53BD-DC05-E56C6BC740B3}"/>
              </a:ext>
            </a:extLst>
          </p:cNvPr>
          <p:cNvSpPr/>
          <p:nvPr/>
        </p:nvSpPr>
        <p:spPr>
          <a:xfrm>
            <a:off x="0" y="3850416"/>
            <a:ext cx="11835333" cy="2787777"/>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79D186AB-A0F9-C0C4-BC8E-F889B3439BF2}"/>
              </a:ext>
            </a:extLst>
          </p:cNvPr>
          <p:cNvSpPr/>
          <p:nvPr/>
        </p:nvSpPr>
        <p:spPr>
          <a:xfrm>
            <a:off x="111827" y="3836139"/>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21" name="Text 8">
            <a:extLst>
              <a:ext uri="{FF2B5EF4-FFF2-40B4-BE49-F238E27FC236}">
                <a16:creationId xmlns:a16="http://schemas.microsoft.com/office/drawing/2014/main" id="{03395EE2-ABE0-CAD0-6A23-A15A4098645D}"/>
              </a:ext>
            </a:extLst>
          </p:cNvPr>
          <p:cNvSpPr/>
          <p:nvPr/>
        </p:nvSpPr>
        <p:spPr>
          <a:xfrm>
            <a:off x="111827" y="4197590"/>
            <a:ext cx="11622668" cy="2377087"/>
          </a:xfrm>
          <a:prstGeom prst="rect">
            <a:avLst/>
          </a:prstGeom>
          <a:noFill/>
          <a:ln/>
        </p:spPr>
        <p:txBody>
          <a:bodyPr wrap="square" rtlCol="0" anchor="t"/>
          <a:lstStyle/>
          <a:p>
            <a:pPr marL="0" indent="0">
              <a:lnSpc>
                <a:spcPts val="1400"/>
              </a:lnSpc>
              <a:buNone/>
            </a:pPr>
            <a:r>
              <a:rPr lang="en-US" sz="1600" dirty="0" err="1">
                <a:solidFill>
                  <a:srgbClr val="444444"/>
                </a:solidFill>
                <a:latin typeface="Calibri" pitchFamily="34" charset="0"/>
                <a:ea typeface="Calibri" pitchFamily="34" charset="-122"/>
                <a:cs typeface="Calibri" pitchFamily="34" charset="-120"/>
              </a:rPr>
              <a:t>karena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tipe</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sebuah</a:t>
            </a:r>
            <a:r>
              <a:rPr lang="en-US" sz="1600" dirty="0">
                <a:solidFill>
                  <a:srgbClr val="444444"/>
                </a:solidFill>
                <a:latin typeface="Calibri" pitchFamily="34" charset="0"/>
                <a:ea typeface="Calibri" pitchFamily="34" charset="-122"/>
                <a:cs typeface="Calibri" pitchFamily="34" charset="-120"/>
              </a:rPr>
              <a:t> outlet </a:t>
            </a:r>
            <a:r>
              <a:rPr lang="en-US" sz="1600" dirty="0" err="1">
                <a:solidFill>
                  <a:srgbClr val="444444"/>
                </a:solidFill>
                <a:latin typeface="Calibri" pitchFamily="34" charset="0"/>
                <a:ea typeface="Calibri" pitchFamily="34" charset="-122"/>
                <a:cs typeface="Calibri" pitchFamily="34" charset="-120"/>
              </a:rPr>
              <a:t>mempengaruhi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sebuah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ukuran</a:t>
            </a:r>
            <a:r>
              <a:rPr lang="en-US" sz="1600" dirty="0">
                <a:solidFill>
                  <a:srgbClr val="444444"/>
                </a:solidFill>
                <a:latin typeface="Calibri" pitchFamily="34" charset="0"/>
                <a:ea typeface="Calibri" pitchFamily="34" charset="-122"/>
                <a:cs typeface="Calibri" pitchFamily="34" charset="-120"/>
              </a:rPr>
              <a:t> outlet </a:t>
            </a:r>
            <a:r>
              <a:rPr lang="en-US" sz="1600" dirty="0" err="1">
                <a:solidFill>
                  <a:srgbClr val="444444"/>
                </a:solidFill>
                <a:latin typeface="Calibri" pitchFamily="34" charset="0"/>
                <a:ea typeface="Calibri" pitchFamily="34" charset="-122"/>
                <a:cs typeface="Calibri" pitchFamily="34" charset="-120"/>
              </a:rPr>
              <a:t>maka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diuji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hubungan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antar</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Outlet_Size</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Outlet_Type</a:t>
            </a: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endParaRPr lang="en-US" sz="1600" dirty="0">
              <a:solidFill>
                <a:srgbClr val="444444"/>
              </a:solidFill>
              <a:latin typeface="Calibri" pitchFamily="34" charset="0"/>
              <a:ea typeface="Calibri" pitchFamily="34" charset="-122"/>
              <a:cs typeface="Calibri" pitchFamily="34" charset="-120"/>
            </a:endParaRPr>
          </a:p>
          <a:p>
            <a:pPr marL="0" indent="0">
              <a:lnSpc>
                <a:spcPct val="100000"/>
              </a:lnSpc>
              <a:buNone/>
            </a:pPr>
            <a:r>
              <a:rPr lang="en-US" sz="1600" dirty="0" err="1">
                <a:solidFill>
                  <a:srgbClr val="444444"/>
                </a:solidFill>
                <a:latin typeface="Calibri" pitchFamily="34" charset="0"/>
                <a:ea typeface="Calibri" pitchFamily="34" charset="-122"/>
                <a:cs typeface="Calibri" pitchFamily="34" charset="-120"/>
              </a:rPr>
              <a:t>terdapat</a:t>
            </a:r>
            <a:r>
              <a:rPr lang="en-US" sz="1600" dirty="0">
                <a:solidFill>
                  <a:srgbClr val="444444"/>
                </a:solidFill>
                <a:latin typeface="Calibri" pitchFamily="34" charset="0"/>
                <a:ea typeface="Calibri" pitchFamily="34" charset="-122"/>
                <a:cs typeface="Calibri" pitchFamily="34" charset="-120"/>
              </a:rPr>
              <a:t> data yang </a:t>
            </a:r>
            <a:r>
              <a:rPr lang="en-US" sz="1600" dirty="0" err="1">
                <a:solidFill>
                  <a:srgbClr val="444444"/>
                </a:solidFill>
                <a:latin typeface="Calibri" pitchFamily="34" charset="0"/>
                <a:ea typeface="Calibri" pitchFamily="34" charset="-122"/>
                <a:cs typeface="Calibri" pitchFamily="34" charset="-120"/>
              </a:rPr>
              <a:t>hilang</a:t>
            </a:r>
            <a:r>
              <a:rPr lang="en-US" sz="1600" dirty="0">
                <a:solidFill>
                  <a:srgbClr val="444444"/>
                </a:solidFill>
                <a:latin typeface="Calibri" pitchFamily="34" charset="0"/>
                <a:ea typeface="Calibri" pitchFamily="34" charset="-122"/>
                <a:cs typeface="Calibri" pitchFamily="34" charset="-120"/>
              </a:rPr>
              <a:t> pada data </a:t>
            </a:r>
            <a:r>
              <a:rPr lang="en-US" sz="1600" dirty="0" err="1">
                <a:solidFill>
                  <a:srgbClr val="444444"/>
                </a:solidFill>
                <a:latin typeface="Calibri" pitchFamily="34" charset="0"/>
                <a:ea typeface="Calibri" pitchFamily="34" charset="-122"/>
                <a:cs typeface="Calibri" pitchFamily="34" charset="-120"/>
              </a:rPr>
              <a:t>bertipe</a:t>
            </a:r>
            <a:r>
              <a:rPr lang="en-US" sz="1600" dirty="0">
                <a:solidFill>
                  <a:srgbClr val="444444"/>
                </a:solidFill>
                <a:latin typeface="Calibri" pitchFamily="34" charset="0"/>
                <a:ea typeface="Calibri" pitchFamily="34" charset="-122"/>
                <a:cs typeface="Calibri" pitchFamily="34" charset="-120"/>
              </a:rPr>
              <a:t> Supermarket Type 1 dan Grocery. Data </a:t>
            </a:r>
            <a:r>
              <a:rPr lang="en-US" sz="1600" dirty="0" err="1">
                <a:solidFill>
                  <a:srgbClr val="444444"/>
                </a:solidFill>
                <a:latin typeface="Calibri" pitchFamily="34" charset="0"/>
                <a:ea typeface="Calibri" pitchFamily="34" charset="-122"/>
                <a:cs typeface="Calibri" pitchFamily="34" charset="-120"/>
              </a:rPr>
              <a:t>hilang</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bertipe</a:t>
            </a:r>
            <a:r>
              <a:rPr lang="en-US" sz="1600" dirty="0">
                <a:solidFill>
                  <a:srgbClr val="444444"/>
                </a:solidFill>
                <a:latin typeface="Calibri" pitchFamily="34" charset="0"/>
                <a:ea typeface="Calibri" pitchFamily="34" charset="-122"/>
                <a:cs typeface="Calibri" pitchFamily="34" charset="-120"/>
              </a:rPr>
              <a:t> Grocery </a:t>
            </a:r>
            <a:r>
              <a:rPr lang="en-US" sz="1600" dirty="0" err="1">
                <a:solidFill>
                  <a:srgbClr val="444444"/>
                </a:solidFill>
                <a:latin typeface="Calibri" pitchFamily="34" charset="0"/>
                <a:ea typeface="Calibri" pitchFamily="34" charset="-122"/>
                <a:cs typeface="Calibri" pitchFamily="34" charset="-120"/>
              </a:rPr>
              <a:t>terkonsentrasi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dalam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ukuran</a:t>
            </a:r>
            <a:r>
              <a:rPr lang="en-US" sz="1600" dirty="0">
                <a:solidFill>
                  <a:srgbClr val="444444"/>
                </a:solidFill>
                <a:latin typeface="Calibri" pitchFamily="34" charset="0"/>
                <a:ea typeface="Calibri" pitchFamily="34" charset="-122"/>
                <a:cs typeface="Calibri" pitchFamily="34" charset="-120"/>
              </a:rPr>
              <a:t> small, data Supermarket Type1 </a:t>
            </a:r>
            <a:r>
              <a:rPr lang="en-US" sz="1600" dirty="0" err="1">
                <a:solidFill>
                  <a:srgbClr val="444444"/>
                </a:solidFill>
                <a:latin typeface="Calibri" pitchFamily="34" charset="0"/>
                <a:ea typeface="Calibri" pitchFamily="34" charset="-122"/>
                <a:cs typeface="Calibri" pitchFamily="34" charset="-120"/>
              </a:rPr>
              <a:t>tersebar</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setiap</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ukuran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dibutuhkan</a:t>
            </a:r>
            <a:r>
              <a:rPr lang="en-US" sz="1600" dirty="0">
                <a:solidFill>
                  <a:srgbClr val="444444"/>
                </a:solidFill>
                <a:latin typeface="Calibri" pitchFamily="34" charset="0"/>
                <a:ea typeface="Calibri" pitchFamily="34" charset="-122"/>
                <a:cs typeface="Calibri" pitchFamily="34" charset="-120"/>
              </a:rPr>
              <a:t> uji </a:t>
            </a:r>
            <a:r>
              <a:rPr lang="en-US" sz="1600" dirty="0" err="1">
                <a:solidFill>
                  <a:srgbClr val="444444"/>
                </a:solidFill>
                <a:latin typeface="Calibri" pitchFamily="34" charset="0"/>
                <a:ea typeface="Calibri" pitchFamily="34" charset="-122"/>
                <a:cs typeface="Calibri" pitchFamily="34" charset="-120"/>
              </a:rPr>
              <a:t>lebih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lanjut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lain yang </a:t>
            </a:r>
            <a:r>
              <a:rPr lang="en-US" sz="1600" dirty="0" err="1">
                <a:solidFill>
                  <a:srgbClr val="444444"/>
                </a:solidFill>
                <a:latin typeface="Calibri" pitchFamily="34" charset="0"/>
                <a:ea typeface="Calibri" pitchFamily="34" charset="-122"/>
                <a:cs typeface="Calibri" pitchFamily="34" charset="-120"/>
              </a:rPr>
              <a:t>berhubungan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Outlet_Type</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bernilai</a:t>
            </a:r>
            <a:r>
              <a:rPr lang="en-US" sz="1600" dirty="0">
                <a:solidFill>
                  <a:srgbClr val="444444"/>
                </a:solidFill>
                <a:latin typeface="Calibri" pitchFamily="34" charset="0"/>
                <a:ea typeface="Calibri" pitchFamily="34" charset="-122"/>
                <a:cs typeface="Calibri" pitchFamily="34" charset="-120"/>
              </a:rPr>
              <a:t> Supermarket Type1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Outlet_location</a:t>
            </a:r>
            <a:r>
              <a:rPr lang="en-US" sz="1600" dirty="0">
                <a:solidFill>
                  <a:srgbClr val="444444"/>
                </a:solidFill>
                <a:latin typeface="Calibri" pitchFamily="34" charset="0"/>
                <a:ea typeface="Calibri" pitchFamily="34" charset="-122"/>
                <a:cs typeface="Calibri" pitchFamily="34" charset="-120"/>
              </a:rPr>
              <a:t> Size</a:t>
            </a:r>
          </a:p>
          <a:p>
            <a:pPr marL="0" indent="0">
              <a:lnSpc>
                <a:spcPct val="100000"/>
              </a:lnSpc>
              <a:buNone/>
            </a:pPr>
            <a:endParaRPr lang="en-US" sz="1600" dirty="0">
              <a:solidFill>
                <a:srgbClr val="444444"/>
              </a:solidFill>
              <a:latin typeface="Calibri" pitchFamily="34" charset="0"/>
              <a:ea typeface="Calibri" pitchFamily="34" charset="-122"/>
              <a:cs typeface="Calibri" pitchFamily="34" charset="-120"/>
            </a:endParaRPr>
          </a:p>
          <a:p>
            <a:pPr marL="0" indent="0">
              <a:lnSpc>
                <a:spcPct val="100000"/>
              </a:lnSpc>
              <a:buNone/>
            </a:pPr>
            <a:r>
              <a:rPr lang="en-US" sz="1600" dirty="0" err="1">
                <a:solidFill>
                  <a:srgbClr val="444444"/>
                </a:solidFill>
                <a:latin typeface="Calibri" pitchFamily="34" charset="0"/>
                <a:ea typeface="Calibri" pitchFamily="34" charset="-122"/>
                <a:cs typeface="Calibri" pitchFamily="34" charset="-120"/>
              </a:rPr>
              <a:t>terlihat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tabel</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nilai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kosong</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berada</a:t>
            </a:r>
            <a:r>
              <a:rPr lang="en-US" sz="1600" dirty="0">
                <a:solidFill>
                  <a:srgbClr val="444444"/>
                </a:solidFill>
                <a:latin typeface="Calibri" pitchFamily="34" charset="0"/>
                <a:ea typeface="Calibri" pitchFamily="34" charset="-122"/>
                <a:cs typeface="Calibri" pitchFamily="34" charset="-120"/>
              </a:rPr>
              <a:t> pada Tier 2 dan </a:t>
            </a:r>
            <a:r>
              <a:rPr lang="en-US" sz="1600" dirty="0" err="1">
                <a:solidFill>
                  <a:srgbClr val="444444"/>
                </a:solidFill>
                <a:latin typeface="Calibri" pitchFamily="34" charset="0"/>
                <a:ea typeface="Calibri" pitchFamily="34" charset="-122"/>
                <a:cs typeface="Calibri" pitchFamily="34" charset="-120"/>
              </a:rPr>
              <a:t>jumlah</a:t>
            </a:r>
            <a:r>
              <a:rPr lang="en-US" sz="1600" dirty="0">
                <a:solidFill>
                  <a:srgbClr val="444444"/>
                </a:solidFill>
                <a:latin typeface="Calibri" pitchFamily="34" charset="0"/>
                <a:ea typeface="Calibri" pitchFamily="34" charset="-122"/>
                <a:cs typeface="Calibri" pitchFamily="34" charset="-120"/>
              </a:rPr>
              <a:t> High dan Medium </a:t>
            </a:r>
            <a:r>
              <a:rPr lang="en-US" sz="1600" dirty="0" err="1">
                <a:solidFill>
                  <a:srgbClr val="444444"/>
                </a:solidFill>
                <a:latin typeface="Calibri" pitchFamily="34" charset="0"/>
                <a:ea typeface="Calibri" pitchFamily="34" charset="-122"/>
                <a:cs typeface="Calibri" pitchFamily="34" charset="-120"/>
              </a:rPr>
              <a:t>sudah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sama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tabel</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dilakukan</a:t>
            </a:r>
            <a:r>
              <a:rPr lang="en-US" sz="1600" dirty="0">
                <a:solidFill>
                  <a:srgbClr val="444444"/>
                </a:solidFill>
                <a:latin typeface="Calibri" pitchFamily="34" charset="0"/>
                <a:ea typeface="Calibri" pitchFamily="34" charset="-122"/>
                <a:cs typeface="Calibri" pitchFamily="34" charset="-120"/>
              </a:rPr>
              <a:t> uji </a:t>
            </a:r>
            <a:r>
              <a:rPr lang="en-US" sz="1600" dirty="0" err="1">
                <a:solidFill>
                  <a:srgbClr val="444444"/>
                </a:solidFill>
                <a:latin typeface="Calibri" pitchFamily="34" charset="0"/>
                <a:ea typeface="Calibri" pitchFamily="34" charset="-122"/>
                <a:cs typeface="Calibri" pitchFamily="34" charset="-120"/>
              </a:rPr>
              <a:t>pertama</a:t>
            </a:r>
            <a:r>
              <a:rPr lang="en-US" sz="1600" dirty="0">
                <a:solidFill>
                  <a:srgbClr val="444444"/>
                </a:solidFill>
                <a:latin typeface="Calibri" pitchFamily="34" charset="0"/>
                <a:ea typeface="Calibri" pitchFamily="34" charset="-122"/>
                <a:cs typeface="Calibri" pitchFamily="34" charset="-120"/>
              </a:rPr>
              <a:t> kali </a:t>
            </a:r>
            <a:r>
              <a:rPr lang="en-US" sz="1600" dirty="0" err="1">
                <a:solidFill>
                  <a:srgbClr val="444444"/>
                </a:solidFill>
                <a:latin typeface="Calibri" pitchFamily="34" charset="0"/>
                <a:ea typeface="Calibri" pitchFamily="34" charset="-122"/>
                <a:cs typeface="Calibri" pitchFamily="34" charset="-120"/>
              </a:rPr>
              <a:t>sehingga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nilai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kosong</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bertipe</a:t>
            </a:r>
            <a:r>
              <a:rPr lang="en-US" sz="1600" dirty="0">
                <a:solidFill>
                  <a:srgbClr val="444444"/>
                </a:solidFill>
                <a:latin typeface="Calibri" pitchFamily="34" charset="0"/>
                <a:ea typeface="Calibri" pitchFamily="34" charset="-122"/>
                <a:cs typeface="Calibri" pitchFamily="34" charset="-120"/>
              </a:rPr>
              <a:t> Supermarket Type1 di </a:t>
            </a:r>
            <a:r>
              <a:rPr lang="en-US" sz="1600" dirty="0" err="1">
                <a:solidFill>
                  <a:srgbClr val="444444"/>
                </a:solidFill>
                <a:latin typeface="Calibri" pitchFamily="34" charset="0"/>
                <a:ea typeface="Calibri" pitchFamily="34" charset="-122"/>
                <a:cs typeface="Calibri" pitchFamily="34" charset="-120"/>
              </a:rPr>
              <a:t>imputasi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ukuran</a:t>
            </a:r>
            <a:r>
              <a:rPr lang="en-US" sz="1600" dirty="0">
                <a:solidFill>
                  <a:srgbClr val="444444"/>
                </a:solidFill>
                <a:latin typeface="Calibri" pitchFamily="34" charset="0"/>
                <a:ea typeface="Calibri" pitchFamily="34" charset="-122"/>
                <a:cs typeface="Calibri" pitchFamily="34" charset="-120"/>
              </a:rPr>
              <a:t> small, </a:t>
            </a:r>
            <a:r>
              <a:rPr lang="en-US" sz="1600" dirty="0" err="1">
                <a:solidFill>
                  <a:srgbClr val="444444"/>
                </a:solidFill>
                <a:latin typeface="Calibri" pitchFamily="34" charset="0"/>
                <a:ea typeface="Calibri" pitchFamily="34" charset="-122"/>
                <a:cs typeface="Calibri" pitchFamily="34" charset="-120"/>
              </a:rPr>
              <a:t>jadi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semua</a:t>
            </a:r>
            <a:r>
              <a:rPr lang="en-US" sz="1600" dirty="0">
                <a:solidFill>
                  <a:srgbClr val="444444"/>
                </a:solidFill>
                <a:latin typeface="Calibri" pitchFamily="34" charset="0"/>
                <a:ea typeface="Calibri" pitchFamily="34" charset="-122"/>
                <a:cs typeface="Calibri" pitchFamily="34" charset="-120"/>
              </a:rPr>
              <a:t> data </a:t>
            </a:r>
            <a:r>
              <a:rPr lang="en-US" sz="1600" dirty="0" err="1">
                <a:solidFill>
                  <a:srgbClr val="444444"/>
                </a:solidFill>
                <a:latin typeface="Calibri" pitchFamily="34" charset="0"/>
                <a:ea typeface="Calibri" pitchFamily="34" charset="-122"/>
                <a:cs typeface="Calibri" pitchFamily="34" charset="-120"/>
              </a:rPr>
              <a:t>Outlet_Size</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kosong</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akan</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isi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ukuran</a:t>
            </a:r>
            <a:r>
              <a:rPr lang="en-US" sz="1600" dirty="0">
                <a:solidFill>
                  <a:srgbClr val="444444"/>
                </a:solidFill>
                <a:latin typeface="Calibri" pitchFamily="34" charset="0"/>
                <a:ea typeface="Calibri" pitchFamily="34" charset="-122"/>
                <a:cs typeface="Calibri" pitchFamily="34" charset="-120"/>
              </a:rPr>
              <a:t> small</a:t>
            </a:r>
          </a:p>
        </p:txBody>
      </p:sp>
      <p:pic>
        <p:nvPicPr>
          <p:cNvPr id="4" name="Picture 3">
            <a:extLst>
              <a:ext uri="{FF2B5EF4-FFF2-40B4-BE49-F238E27FC236}">
                <a16:creationId xmlns:a16="http://schemas.microsoft.com/office/drawing/2014/main" id="{F2148AC0-8D91-A743-2865-5972643CE9A2}"/>
              </a:ext>
            </a:extLst>
          </p:cNvPr>
          <p:cNvPicPr>
            <a:picLocks noChangeAspect="1"/>
          </p:cNvPicPr>
          <p:nvPr/>
        </p:nvPicPr>
        <p:blipFill>
          <a:blip r:embed="rId3"/>
          <a:stretch>
            <a:fillRect/>
          </a:stretch>
        </p:blipFill>
        <p:spPr>
          <a:xfrm>
            <a:off x="324956" y="1253801"/>
            <a:ext cx="5224544" cy="2175199"/>
          </a:xfrm>
          <a:prstGeom prst="rect">
            <a:avLst/>
          </a:prstGeom>
        </p:spPr>
      </p:pic>
      <p:pic>
        <p:nvPicPr>
          <p:cNvPr id="6" name="Picture 5">
            <a:extLst>
              <a:ext uri="{FF2B5EF4-FFF2-40B4-BE49-F238E27FC236}">
                <a16:creationId xmlns:a16="http://schemas.microsoft.com/office/drawing/2014/main" id="{07308D05-D75E-31AF-AF3E-3644F5C34CA7}"/>
              </a:ext>
            </a:extLst>
          </p:cNvPr>
          <p:cNvPicPr>
            <a:picLocks noChangeAspect="1"/>
          </p:cNvPicPr>
          <p:nvPr/>
        </p:nvPicPr>
        <p:blipFill>
          <a:blip r:embed="rId4"/>
          <a:stretch>
            <a:fillRect/>
          </a:stretch>
        </p:blipFill>
        <p:spPr>
          <a:xfrm>
            <a:off x="5623326" y="1253801"/>
            <a:ext cx="6163153" cy="2238714"/>
          </a:xfrm>
          <a:prstGeom prst="rect">
            <a:avLst/>
          </a:prstGeom>
        </p:spPr>
      </p:pic>
    </p:spTree>
    <p:extLst>
      <p:ext uri="{BB962C8B-B14F-4D97-AF65-F5344CB8AC3E}">
        <p14:creationId xmlns:p14="http://schemas.microsoft.com/office/powerpoint/2010/main" val="1829336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777B1-3CE1-A3E7-61CB-6D6B9B8C9657}"/>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25248884-F6AB-B75F-4E46-4F7008752B2C}"/>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D523DAA0-9BA7-6200-C038-BCEF1AE28A37}"/>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CBE8EFFA-F9B3-35CD-9CF6-22EBCF23A862}"/>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89FDAF5C-6EDA-F252-FB36-C33C07D27CF7}"/>
              </a:ext>
            </a:extLst>
          </p:cNvPr>
          <p:cNvSpPr/>
          <p:nvPr/>
        </p:nvSpPr>
        <p:spPr>
          <a:xfrm>
            <a:off x="324956" y="614121"/>
            <a:ext cx="5174955" cy="436321"/>
          </a:xfrm>
          <a:prstGeom prst="rect">
            <a:avLst/>
          </a:prstGeom>
          <a:noFill/>
          <a:ln/>
        </p:spPr>
        <p:txBody>
          <a:bodyPr wrap="square" rtlCol="0" anchor="ctr"/>
          <a:lstStyle/>
          <a:p>
            <a:r>
              <a:rPr lang="en-US" sz="1600" b="1" dirty="0" err="1">
                <a:solidFill>
                  <a:srgbClr val="F2545B"/>
                </a:solidFill>
                <a:latin typeface="Cambria" pitchFamily="34" charset="0"/>
                <a:ea typeface="Cambria" pitchFamily="34" charset="-122"/>
                <a:cs typeface="Cambria" pitchFamily="34" charset="-120"/>
              </a:rPr>
              <a:t>Penanganan</a:t>
            </a:r>
            <a:r>
              <a:rPr lang="en-US" sz="1600" b="1" dirty="0">
                <a:solidFill>
                  <a:srgbClr val="F2545B"/>
                </a:solidFill>
                <a:latin typeface="Cambria" pitchFamily="34" charset="0"/>
                <a:ea typeface="Cambria" pitchFamily="34" charset="-122"/>
                <a:cs typeface="Cambria" pitchFamily="34" charset="-120"/>
              </a:rPr>
              <a:t> Missing Value pada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Outlet_Size</a:t>
            </a:r>
            <a:endParaRPr lang="en-US" sz="1600" dirty="0"/>
          </a:p>
        </p:txBody>
      </p:sp>
      <p:sp>
        <p:nvSpPr>
          <p:cNvPr id="17" name="Shape 5">
            <a:extLst>
              <a:ext uri="{FF2B5EF4-FFF2-40B4-BE49-F238E27FC236}">
                <a16:creationId xmlns:a16="http://schemas.microsoft.com/office/drawing/2014/main" id="{4CFD1273-0A49-22A3-1675-A236B2D2C3BE}"/>
              </a:ext>
            </a:extLst>
          </p:cNvPr>
          <p:cNvSpPr/>
          <p:nvPr/>
        </p:nvSpPr>
        <p:spPr>
          <a:xfrm>
            <a:off x="111827" y="5223884"/>
            <a:ext cx="11835333" cy="127291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99F8BD0E-26B6-E19B-DF69-37A9AD41E348}"/>
              </a:ext>
            </a:extLst>
          </p:cNvPr>
          <p:cNvSpPr/>
          <p:nvPr/>
        </p:nvSpPr>
        <p:spPr>
          <a:xfrm>
            <a:off x="223654" y="5209607"/>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Cleaning</a:t>
            </a:r>
            <a:endParaRPr lang="en-US" sz="1600" dirty="0"/>
          </a:p>
        </p:txBody>
      </p:sp>
      <p:sp>
        <p:nvSpPr>
          <p:cNvPr id="21" name="Text 8">
            <a:extLst>
              <a:ext uri="{FF2B5EF4-FFF2-40B4-BE49-F238E27FC236}">
                <a16:creationId xmlns:a16="http://schemas.microsoft.com/office/drawing/2014/main" id="{4BC03309-9129-B403-1E32-DF10774A3832}"/>
              </a:ext>
            </a:extLst>
          </p:cNvPr>
          <p:cNvSpPr/>
          <p:nvPr/>
        </p:nvSpPr>
        <p:spPr>
          <a:xfrm>
            <a:off x="223654" y="5571059"/>
            <a:ext cx="11622668" cy="522328"/>
          </a:xfrm>
          <a:prstGeom prst="rect">
            <a:avLst/>
          </a:prstGeom>
          <a:noFill/>
          <a:ln/>
        </p:spPr>
        <p:txBody>
          <a:bodyPr wrap="square" rtlCol="0" anchor="t"/>
          <a:lstStyle/>
          <a:p>
            <a:pPr marL="0" indent="0">
              <a:buNone/>
            </a:pPr>
            <a:r>
              <a:rPr lang="en-US" sz="1600" dirty="0" err="1">
                <a:solidFill>
                  <a:srgbClr val="444444"/>
                </a:solidFill>
                <a:latin typeface="Calibri" pitchFamily="34" charset="0"/>
                <a:ea typeface="Calibri" pitchFamily="34" charset="-122"/>
                <a:cs typeface="Calibri" pitchFamily="34" charset="-120"/>
              </a:rPr>
              <a:t>karena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tipe</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sebuah</a:t>
            </a:r>
            <a:r>
              <a:rPr lang="en-US" sz="1600" dirty="0">
                <a:solidFill>
                  <a:srgbClr val="444444"/>
                </a:solidFill>
                <a:latin typeface="Calibri" pitchFamily="34" charset="0"/>
                <a:ea typeface="Calibri" pitchFamily="34" charset="-122"/>
                <a:cs typeface="Calibri" pitchFamily="34" charset="-120"/>
              </a:rPr>
              <a:t> outlet </a:t>
            </a:r>
            <a:r>
              <a:rPr lang="en-US" sz="1600" dirty="0" err="1">
                <a:solidFill>
                  <a:srgbClr val="444444"/>
                </a:solidFill>
                <a:latin typeface="Calibri" pitchFamily="34" charset="0"/>
                <a:ea typeface="Calibri" pitchFamily="34" charset="-122"/>
                <a:cs typeface="Calibri" pitchFamily="34" charset="-120"/>
              </a:rPr>
              <a:t>mempengaruhi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sebuah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ukuran</a:t>
            </a:r>
            <a:r>
              <a:rPr lang="en-US" sz="1600" dirty="0">
                <a:solidFill>
                  <a:srgbClr val="444444"/>
                </a:solidFill>
                <a:latin typeface="Calibri" pitchFamily="34" charset="0"/>
                <a:ea typeface="Calibri" pitchFamily="34" charset="-122"/>
                <a:cs typeface="Calibri" pitchFamily="34" charset="-120"/>
              </a:rPr>
              <a:t> outlet </a:t>
            </a:r>
            <a:r>
              <a:rPr lang="en-US" sz="1600" dirty="0" err="1">
                <a:solidFill>
                  <a:srgbClr val="444444"/>
                </a:solidFill>
                <a:latin typeface="Calibri" pitchFamily="34" charset="0"/>
                <a:ea typeface="Calibri" pitchFamily="34" charset="-122"/>
                <a:cs typeface="Calibri" pitchFamily="34" charset="-120"/>
              </a:rPr>
              <a:t>maka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diuji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hubungan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antar</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Outlet_Size</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Outlet_Type</a:t>
            </a: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endParaRPr lang="en-US" sz="1600" dirty="0">
              <a:solidFill>
                <a:srgbClr val="444444"/>
              </a:solidFill>
              <a:latin typeface="Calibri" pitchFamily="34" charset="0"/>
              <a:ea typeface="Calibri" pitchFamily="34" charset="-122"/>
              <a:cs typeface="Calibri" pitchFamily="34" charset="-120"/>
            </a:endParaRPr>
          </a:p>
        </p:txBody>
      </p:sp>
      <p:pic>
        <p:nvPicPr>
          <p:cNvPr id="5" name="Picture 4">
            <a:extLst>
              <a:ext uri="{FF2B5EF4-FFF2-40B4-BE49-F238E27FC236}">
                <a16:creationId xmlns:a16="http://schemas.microsoft.com/office/drawing/2014/main" id="{6E1C8CBC-C889-7192-5B7D-47F6C4D1B1F2}"/>
              </a:ext>
            </a:extLst>
          </p:cNvPr>
          <p:cNvPicPr>
            <a:picLocks noChangeAspect="1"/>
          </p:cNvPicPr>
          <p:nvPr/>
        </p:nvPicPr>
        <p:blipFill>
          <a:blip r:embed="rId3"/>
          <a:stretch>
            <a:fillRect/>
          </a:stretch>
        </p:blipFill>
        <p:spPr>
          <a:xfrm>
            <a:off x="2437466" y="1162761"/>
            <a:ext cx="5922286" cy="3529551"/>
          </a:xfrm>
          <a:prstGeom prst="rect">
            <a:avLst/>
          </a:prstGeom>
        </p:spPr>
      </p:pic>
    </p:spTree>
    <p:extLst>
      <p:ext uri="{BB962C8B-B14F-4D97-AF65-F5344CB8AC3E}">
        <p14:creationId xmlns:p14="http://schemas.microsoft.com/office/powerpoint/2010/main" val="4021419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04A61-4B14-4F35-4574-332DC497C3D6}"/>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52E4921E-EBAD-BEFA-B788-A62E332A00A3}"/>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A6560B50-7515-06EF-9DEC-FBFB724C927A}"/>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22A6B14F-96C5-7852-5D04-4AB6FEA6B6C9}"/>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7ED8127A-B306-52CD-A888-E534BE08218C}"/>
              </a:ext>
            </a:extLst>
          </p:cNvPr>
          <p:cNvSpPr/>
          <p:nvPr/>
        </p:nvSpPr>
        <p:spPr>
          <a:xfrm>
            <a:off x="324956" y="614121"/>
            <a:ext cx="5363150" cy="436321"/>
          </a:xfrm>
          <a:prstGeom prst="rect">
            <a:avLst/>
          </a:prstGeom>
          <a:noFill/>
          <a:ln/>
        </p:spPr>
        <p:txBody>
          <a:bodyPr wrap="square" rtlCol="0" anchor="ctr"/>
          <a:lstStyle/>
          <a:p>
            <a:r>
              <a:rPr lang="en-US" sz="1600" b="1" dirty="0" err="1">
                <a:solidFill>
                  <a:srgbClr val="F2545B"/>
                </a:solidFill>
                <a:latin typeface="Cambria" pitchFamily="34" charset="0"/>
                <a:ea typeface="Cambria" pitchFamily="34" charset="-122"/>
                <a:cs typeface="Cambria" pitchFamily="34" charset="-120"/>
              </a:rPr>
              <a:t>Penanganan</a:t>
            </a:r>
            <a:r>
              <a:rPr lang="en-US" sz="1600" b="1" dirty="0">
                <a:solidFill>
                  <a:srgbClr val="F2545B"/>
                </a:solidFill>
                <a:latin typeface="Cambria" pitchFamily="34" charset="0"/>
                <a:ea typeface="Cambria" pitchFamily="34" charset="-122"/>
                <a:cs typeface="Cambria" pitchFamily="34" charset="-120"/>
              </a:rPr>
              <a:t> Missing Value pada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Item_Visibility</a:t>
            </a:r>
            <a:endParaRPr lang="en-US" sz="1600" dirty="0"/>
          </a:p>
        </p:txBody>
      </p:sp>
      <p:sp>
        <p:nvSpPr>
          <p:cNvPr id="17" name="Shape 5">
            <a:extLst>
              <a:ext uri="{FF2B5EF4-FFF2-40B4-BE49-F238E27FC236}">
                <a16:creationId xmlns:a16="http://schemas.microsoft.com/office/drawing/2014/main" id="{7D9CEB12-FA8A-B61D-8902-987C47D0EB7E}"/>
              </a:ext>
            </a:extLst>
          </p:cNvPr>
          <p:cNvSpPr/>
          <p:nvPr/>
        </p:nvSpPr>
        <p:spPr>
          <a:xfrm>
            <a:off x="178333" y="5462929"/>
            <a:ext cx="11835333" cy="127291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109EA426-1AA1-37E9-1DDD-CBCB18386F7E}"/>
              </a:ext>
            </a:extLst>
          </p:cNvPr>
          <p:cNvSpPr/>
          <p:nvPr/>
        </p:nvSpPr>
        <p:spPr>
          <a:xfrm>
            <a:off x="290160" y="5448652"/>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Cleaning</a:t>
            </a:r>
            <a:endParaRPr lang="en-US" sz="1600" dirty="0"/>
          </a:p>
        </p:txBody>
      </p:sp>
      <p:sp>
        <p:nvSpPr>
          <p:cNvPr id="21" name="Text 8">
            <a:extLst>
              <a:ext uri="{FF2B5EF4-FFF2-40B4-BE49-F238E27FC236}">
                <a16:creationId xmlns:a16="http://schemas.microsoft.com/office/drawing/2014/main" id="{52F99881-AC87-1D47-C6FC-E8547A2E33DC}"/>
              </a:ext>
            </a:extLst>
          </p:cNvPr>
          <p:cNvSpPr/>
          <p:nvPr/>
        </p:nvSpPr>
        <p:spPr>
          <a:xfrm>
            <a:off x="290160" y="5810104"/>
            <a:ext cx="11622668" cy="522328"/>
          </a:xfrm>
          <a:prstGeom prst="rect">
            <a:avLst/>
          </a:prstGeom>
          <a:noFill/>
          <a:ln/>
        </p:spPr>
        <p:txBody>
          <a:bodyPr wrap="square" rtlCol="0" anchor="t"/>
          <a:lstStyle/>
          <a:p>
            <a:pPr marL="0" indent="0">
              <a:lnSpc>
                <a:spcPts val="1400"/>
              </a:lnSpc>
              <a:buNone/>
            </a:pPr>
            <a:r>
              <a:rPr lang="en-US" sz="1600" dirty="0" err="1">
                <a:solidFill>
                  <a:srgbClr val="444444"/>
                </a:solidFill>
                <a:latin typeface="Calibri" pitchFamily="34" charset="0"/>
                <a:ea typeface="Calibri" pitchFamily="34" charset="-122"/>
                <a:cs typeface="Calibri" pitchFamily="34" charset="-120"/>
              </a:rPr>
              <a:t>nilai</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kosong</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diisi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nilai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tengah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Item_Visibility</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berdasarkan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produknya</a:t>
            </a: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endParaRPr lang="en-US" sz="1600" dirty="0">
              <a:solidFill>
                <a:srgbClr val="444444"/>
              </a:solidFill>
              <a:latin typeface="Calibri" pitchFamily="34" charset="0"/>
              <a:ea typeface="Calibri" pitchFamily="34" charset="-122"/>
              <a:cs typeface="Calibri" pitchFamily="34" charset="-120"/>
            </a:endParaRPr>
          </a:p>
          <a:p>
            <a:pPr>
              <a:lnSpc>
                <a:spcPts val="1400"/>
              </a:lnSpc>
            </a:pPr>
            <a:r>
              <a:rPr lang="en-US" sz="1600" dirty="0" err="1">
                <a:solidFill>
                  <a:srgbClr val="444444"/>
                </a:solidFill>
                <a:latin typeface="Calibri" pitchFamily="34" charset="0"/>
                <a:ea typeface="Calibri" pitchFamily="34" charset="-122"/>
                <a:cs typeface="Calibri" pitchFamily="34" charset="-120"/>
              </a:rPr>
              <a:t>hasil</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visualisasi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hampir</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menyerupai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data </a:t>
            </a:r>
            <a:r>
              <a:rPr lang="en-US" sz="1600" dirty="0" err="1">
                <a:solidFill>
                  <a:srgbClr val="444444"/>
                </a:solidFill>
                <a:latin typeface="Calibri" pitchFamily="34" charset="0"/>
                <a:ea typeface="Calibri" pitchFamily="34" charset="-122"/>
                <a:cs typeface="Calibri" pitchFamily="34" charset="-120"/>
              </a:rPr>
              <a:t>aslinya</a:t>
            </a:r>
            <a:endParaRPr lang="en-US" sz="1600" dirty="0">
              <a:solidFill>
                <a:srgbClr val="444444"/>
              </a:solidFill>
              <a:latin typeface="Calibri" pitchFamily="34" charset="0"/>
              <a:ea typeface="Calibri" pitchFamily="34" charset="-122"/>
              <a:cs typeface="Calibri" pitchFamily="34" charset="-120"/>
            </a:endParaRPr>
          </a:p>
        </p:txBody>
      </p:sp>
      <p:pic>
        <p:nvPicPr>
          <p:cNvPr id="4" name="Picture 3">
            <a:extLst>
              <a:ext uri="{FF2B5EF4-FFF2-40B4-BE49-F238E27FC236}">
                <a16:creationId xmlns:a16="http://schemas.microsoft.com/office/drawing/2014/main" id="{8EBFF367-82CA-6F29-4F2C-8306F2B45364}"/>
              </a:ext>
            </a:extLst>
          </p:cNvPr>
          <p:cNvPicPr>
            <a:picLocks noChangeAspect="1"/>
          </p:cNvPicPr>
          <p:nvPr/>
        </p:nvPicPr>
        <p:blipFill>
          <a:blip r:embed="rId3"/>
          <a:stretch>
            <a:fillRect/>
          </a:stretch>
        </p:blipFill>
        <p:spPr>
          <a:xfrm>
            <a:off x="2564526" y="1193633"/>
            <a:ext cx="5668166" cy="943107"/>
          </a:xfrm>
          <a:prstGeom prst="rect">
            <a:avLst/>
          </a:prstGeom>
        </p:spPr>
      </p:pic>
      <p:pic>
        <p:nvPicPr>
          <p:cNvPr id="7" name="Picture 6">
            <a:extLst>
              <a:ext uri="{FF2B5EF4-FFF2-40B4-BE49-F238E27FC236}">
                <a16:creationId xmlns:a16="http://schemas.microsoft.com/office/drawing/2014/main" id="{DBD6BA98-5171-728D-4C93-6547A0ED01B1}"/>
              </a:ext>
            </a:extLst>
          </p:cNvPr>
          <p:cNvPicPr>
            <a:picLocks noChangeAspect="1"/>
          </p:cNvPicPr>
          <p:nvPr/>
        </p:nvPicPr>
        <p:blipFill>
          <a:blip r:embed="rId4"/>
          <a:stretch>
            <a:fillRect/>
          </a:stretch>
        </p:blipFill>
        <p:spPr>
          <a:xfrm>
            <a:off x="1788130" y="2068597"/>
            <a:ext cx="7220958" cy="3505689"/>
          </a:xfrm>
          <a:prstGeom prst="rect">
            <a:avLst/>
          </a:prstGeom>
        </p:spPr>
      </p:pic>
    </p:spTree>
    <p:extLst>
      <p:ext uri="{BB962C8B-B14F-4D97-AF65-F5344CB8AC3E}">
        <p14:creationId xmlns:p14="http://schemas.microsoft.com/office/powerpoint/2010/main" val="3089504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67BC5-C99A-E091-82E1-3BFA4B836A11}"/>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8242ECE8-121F-7CF0-9AB2-781E27137A20}"/>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CF1BCAE0-3627-29A8-62E3-A2FC96EDF335}"/>
              </a:ext>
            </a:extLst>
          </p:cNvPr>
          <p:cNvSpPr/>
          <p:nvPr/>
        </p:nvSpPr>
        <p:spPr>
          <a:xfrm>
            <a:off x="548640" y="55794"/>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4CCF6CB5-01B7-B8AF-EAA1-07B5C6D9A813}"/>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4" name="Shape 5">
            <a:extLst>
              <a:ext uri="{FF2B5EF4-FFF2-40B4-BE49-F238E27FC236}">
                <a16:creationId xmlns:a16="http://schemas.microsoft.com/office/drawing/2014/main" id="{DF124894-1CBC-FE2B-8C64-10460D411A84}"/>
              </a:ext>
            </a:extLst>
          </p:cNvPr>
          <p:cNvSpPr/>
          <p:nvPr/>
        </p:nvSpPr>
        <p:spPr>
          <a:xfrm>
            <a:off x="0" y="4946272"/>
            <a:ext cx="11835333" cy="175378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6" name="Text 6">
            <a:extLst>
              <a:ext uri="{FF2B5EF4-FFF2-40B4-BE49-F238E27FC236}">
                <a16:creationId xmlns:a16="http://schemas.microsoft.com/office/drawing/2014/main" id="{5B8879D7-7587-49F5-301D-7D827FD78BB1}"/>
              </a:ext>
            </a:extLst>
          </p:cNvPr>
          <p:cNvSpPr/>
          <p:nvPr/>
        </p:nvSpPr>
        <p:spPr>
          <a:xfrm>
            <a:off x="111827" y="4931995"/>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Cleaning</a:t>
            </a:r>
            <a:endParaRPr lang="en-US" sz="1600" dirty="0"/>
          </a:p>
        </p:txBody>
      </p:sp>
      <p:sp>
        <p:nvSpPr>
          <p:cNvPr id="23" name="Text 8">
            <a:extLst>
              <a:ext uri="{FF2B5EF4-FFF2-40B4-BE49-F238E27FC236}">
                <a16:creationId xmlns:a16="http://schemas.microsoft.com/office/drawing/2014/main" id="{A5A305F5-A292-CCAA-87D1-7C6924F24A50}"/>
              </a:ext>
            </a:extLst>
          </p:cNvPr>
          <p:cNvSpPr/>
          <p:nvPr/>
        </p:nvSpPr>
        <p:spPr>
          <a:xfrm>
            <a:off x="111827" y="5293447"/>
            <a:ext cx="11622668" cy="1537148"/>
          </a:xfrm>
          <a:prstGeom prst="rect">
            <a:avLst/>
          </a:prstGeom>
          <a:noFill/>
          <a:ln/>
        </p:spPr>
        <p:txBody>
          <a:bodyPr wrap="square" rtlCol="0" anchor="t"/>
          <a:lstStyle/>
          <a:p>
            <a:pPr marL="0" indent="0">
              <a:lnSpc>
                <a:spcPts val="1400"/>
              </a:lnSpc>
              <a:buNone/>
            </a:pPr>
            <a:r>
              <a:rPr lang="en-US" sz="1600" dirty="0">
                <a:solidFill>
                  <a:srgbClr val="444444"/>
                </a:solidFill>
                <a:latin typeface="Calibri" pitchFamily="34" charset="0"/>
                <a:ea typeface="Calibri" pitchFamily="34" charset="-122"/>
                <a:cs typeface="Calibri" pitchFamily="34" charset="-120"/>
              </a:rPr>
              <a:t>Outlier </a:t>
            </a:r>
            <a:r>
              <a:rPr lang="en-US" sz="1600" dirty="0" err="1">
                <a:solidFill>
                  <a:srgbClr val="444444"/>
                </a:solidFill>
                <a:latin typeface="Calibri" pitchFamily="34" charset="0"/>
                <a:ea typeface="Calibri" pitchFamily="34" charset="-122"/>
                <a:cs typeface="Calibri" pitchFamily="34" charset="-120"/>
              </a:rPr>
              <a:t>Penjualan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Item_Outlet_Sales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Teridentifikasi</a:t>
            </a:r>
            <a:r>
              <a:rPr lang="en-US" sz="1600" dirty="0">
                <a:solidFill>
                  <a:srgbClr val="444444"/>
                </a:solidFill>
                <a:latin typeface="Calibri" pitchFamily="34" charset="0"/>
                <a:ea typeface="Calibri" pitchFamily="34" charset="-122"/>
                <a:cs typeface="Calibri" pitchFamily="34" charset="-120"/>
              </a:rPr>
              <a:t> 186 baris data di </a:t>
            </a:r>
            <a:r>
              <a:rPr lang="en-US" sz="1600" dirty="0" err="1">
                <a:solidFill>
                  <a:srgbClr val="444444"/>
                </a:solidFill>
                <a:latin typeface="Calibri" pitchFamily="34" charset="0"/>
                <a:ea typeface="Calibri" pitchFamily="34" charset="-122"/>
                <a:cs typeface="Calibri" pitchFamily="34" charset="-120"/>
              </a:rPr>
              <a:t>atas</a:t>
            </a:r>
            <a:r>
              <a:rPr lang="en-US" sz="1600" dirty="0">
                <a:solidFill>
                  <a:srgbClr val="444444"/>
                </a:solidFill>
                <a:latin typeface="Calibri" pitchFamily="34" charset="0"/>
                <a:ea typeface="Calibri" pitchFamily="34" charset="-122"/>
                <a:cs typeface="Calibri" pitchFamily="34" charset="-120"/>
              </a:rPr>
              <a:t> batas normal IQR (&gt; 6.501,87).</a:t>
            </a:r>
          </a:p>
          <a:p>
            <a:pPr marL="0" indent="0">
              <a:lnSpc>
                <a:spcPts val="1400"/>
              </a:lnSpc>
              <a:buNone/>
            </a:pP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r>
              <a:rPr lang="en-US" sz="1600" dirty="0">
                <a:solidFill>
                  <a:srgbClr val="444444"/>
                </a:solidFill>
                <a:latin typeface="Calibri" pitchFamily="34" charset="0"/>
                <a:ea typeface="Calibri" pitchFamily="34" charset="-122"/>
                <a:cs typeface="Calibri" pitchFamily="34" charset="-120"/>
              </a:rPr>
              <a:t>Outlier </a:t>
            </a:r>
            <a:r>
              <a:rPr lang="en-US" sz="1600" dirty="0" err="1">
                <a:solidFill>
                  <a:srgbClr val="444444"/>
                </a:solidFill>
                <a:latin typeface="Calibri" pitchFamily="34" charset="0"/>
                <a:ea typeface="Calibri" pitchFamily="34" charset="-122"/>
                <a:cs typeface="Calibri" pitchFamily="34" charset="-120"/>
              </a:rPr>
              <a:t>Visibilitas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Item_Visibility</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Teridentifikasi</a:t>
            </a:r>
            <a:r>
              <a:rPr lang="en-US" sz="1600" dirty="0">
                <a:solidFill>
                  <a:srgbClr val="444444"/>
                </a:solidFill>
                <a:latin typeface="Calibri" pitchFamily="34" charset="0"/>
                <a:ea typeface="Calibri" pitchFamily="34" charset="-122"/>
                <a:cs typeface="Calibri" pitchFamily="34" charset="-120"/>
              </a:rPr>
              <a:t> 154 baris data di </a:t>
            </a:r>
            <a:r>
              <a:rPr lang="en-US" sz="1600" dirty="0" err="1">
                <a:solidFill>
                  <a:srgbClr val="444444"/>
                </a:solidFill>
                <a:latin typeface="Calibri" pitchFamily="34" charset="0"/>
                <a:ea typeface="Calibri" pitchFamily="34" charset="-122"/>
                <a:cs typeface="Calibri" pitchFamily="34" charset="-120"/>
              </a:rPr>
              <a:t>atas</a:t>
            </a:r>
            <a:r>
              <a:rPr lang="en-US" sz="1600" dirty="0">
                <a:solidFill>
                  <a:srgbClr val="444444"/>
                </a:solidFill>
                <a:latin typeface="Calibri" pitchFamily="34" charset="0"/>
                <a:ea typeface="Calibri" pitchFamily="34" charset="-122"/>
                <a:cs typeface="Calibri" pitchFamily="34" charset="-120"/>
              </a:rPr>
              <a:t> batas normal IQR (&gt; 0,1916).</a:t>
            </a:r>
          </a:p>
          <a:p>
            <a:pPr marL="0" indent="0">
              <a:lnSpc>
                <a:spcPts val="1400"/>
              </a:lnSpc>
              <a:buNone/>
            </a:pPr>
            <a:endParaRPr lang="en-US" sz="1600" dirty="0">
              <a:solidFill>
                <a:srgbClr val="444444"/>
              </a:solidFill>
              <a:latin typeface="Calibri" pitchFamily="34" charset="0"/>
              <a:ea typeface="Calibri" pitchFamily="34" charset="-122"/>
              <a:cs typeface="Calibri" pitchFamily="34" charset="-120"/>
            </a:endParaRPr>
          </a:p>
          <a:p>
            <a:pPr marL="0" indent="0">
              <a:lnSpc>
                <a:spcPts val="1400"/>
              </a:lnSpc>
              <a:buNone/>
            </a:pPr>
            <a:r>
              <a:rPr lang="en-US" sz="1600" dirty="0">
                <a:solidFill>
                  <a:srgbClr val="444444"/>
                </a:solidFill>
                <a:latin typeface="Calibri" pitchFamily="34" charset="0"/>
                <a:ea typeface="Calibri" pitchFamily="34" charset="-122"/>
                <a:cs typeface="Calibri" pitchFamily="34" charset="-120"/>
              </a:rPr>
              <a:t>Keputusan </a:t>
            </a:r>
            <a:r>
              <a:rPr lang="en-US" sz="1600" dirty="0" err="1">
                <a:solidFill>
                  <a:srgbClr val="444444"/>
                </a:solidFill>
                <a:latin typeface="Calibri" pitchFamily="34" charset="0"/>
                <a:ea typeface="Calibri" pitchFamily="34" charset="-122"/>
                <a:cs typeface="Calibri" pitchFamily="34" charset="-120"/>
              </a:rPr>
              <a:t>Penanganan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Seluruh</a:t>
            </a:r>
            <a:r>
              <a:rPr lang="en-US" sz="1600" dirty="0">
                <a:solidFill>
                  <a:srgbClr val="444444"/>
                </a:solidFill>
                <a:latin typeface="Calibri" pitchFamily="34" charset="0"/>
                <a:ea typeface="Calibri" pitchFamily="34" charset="-122"/>
                <a:cs typeface="Calibri" pitchFamily="34" charset="-120"/>
              </a:rPr>
              <a:t> outlier </a:t>
            </a:r>
            <a:r>
              <a:rPr lang="en-US" sz="1600" dirty="0" err="1">
                <a:solidFill>
                  <a:srgbClr val="444444"/>
                </a:solidFill>
                <a:latin typeface="Calibri" pitchFamily="34" charset="0"/>
                <a:ea typeface="Calibri" pitchFamily="34" charset="-122"/>
                <a:cs typeface="Calibri" pitchFamily="34" charset="-120"/>
              </a:rPr>
              <a:t>dipertahankan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tidak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dihapus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karena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mewakili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kondisi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bisnis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nyata</a:t>
            </a:r>
            <a:r>
              <a:rPr lang="en-US" sz="1600" dirty="0">
                <a:solidFill>
                  <a:srgbClr val="444444"/>
                </a:solidFill>
                <a:latin typeface="Calibri" pitchFamily="34" charset="0"/>
                <a:ea typeface="Calibri" pitchFamily="34" charset="-122"/>
                <a:cs typeface="Calibri" pitchFamily="34" charset="-120"/>
              </a:rPr>
              <a:t> (high-performing products/outlets), </a:t>
            </a:r>
            <a:r>
              <a:rPr lang="en-US" sz="1600" dirty="0" err="1">
                <a:solidFill>
                  <a:srgbClr val="444444"/>
                </a:solidFill>
                <a:latin typeface="Calibri" pitchFamily="34" charset="0"/>
                <a:ea typeface="Calibri" pitchFamily="34" charset="-122"/>
                <a:cs typeface="Calibri" pitchFamily="34" charset="-120"/>
              </a:rPr>
              <a:t>bukan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disebabkan</a:t>
            </a:r>
            <a:r>
              <a:rPr lang="en-US" sz="1600" dirty="0">
                <a:solidFill>
                  <a:srgbClr val="444444"/>
                </a:solidFill>
                <a:latin typeface="Calibri" pitchFamily="34" charset="0"/>
                <a:ea typeface="Calibri" pitchFamily="34" charset="-122"/>
                <a:cs typeface="Calibri" pitchFamily="34" charset="-120"/>
              </a:rPr>
              <a:t> oleh </a:t>
            </a:r>
            <a:r>
              <a:rPr lang="en-US" sz="1600" dirty="0" err="1">
                <a:solidFill>
                  <a:srgbClr val="444444"/>
                </a:solidFill>
                <a:latin typeface="Calibri" pitchFamily="34" charset="0"/>
                <a:ea typeface="Calibri" pitchFamily="34" charset="-122"/>
                <a:cs typeface="Calibri" pitchFamily="34" charset="-120"/>
              </a:rPr>
              <a:t>kesalahan</a:t>
            </a:r>
            <a:r>
              <a:rPr lang="en-US" sz="1600" dirty="0">
                <a:solidFill>
                  <a:srgbClr val="444444"/>
                </a:solidFill>
                <a:latin typeface="Calibri" pitchFamily="34" charset="0"/>
                <a:ea typeface="Calibri" pitchFamily="34" charset="-122"/>
                <a:cs typeface="Calibri" pitchFamily="34" charset="-120"/>
              </a:rPr>
              <a:t> input data (data entry error).</a:t>
            </a:r>
          </a:p>
        </p:txBody>
      </p:sp>
      <p:sp>
        <p:nvSpPr>
          <p:cNvPr id="9" name="Text 4">
            <a:extLst>
              <a:ext uri="{FF2B5EF4-FFF2-40B4-BE49-F238E27FC236}">
                <a16:creationId xmlns:a16="http://schemas.microsoft.com/office/drawing/2014/main" id="{B65F87D7-A2A3-8386-B27F-84D746B36042}"/>
              </a:ext>
            </a:extLst>
          </p:cNvPr>
          <p:cNvSpPr/>
          <p:nvPr/>
        </p:nvSpPr>
        <p:spPr>
          <a:xfrm>
            <a:off x="548640" y="619578"/>
            <a:ext cx="54864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rPr>
              <a:t>5. </a:t>
            </a:r>
            <a:r>
              <a:rPr lang="en-US" sz="1500" b="1" dirty="0" err="1">
                <a:solidFill>
                  <a:srgbClr val="1E2761"/>
                </a:solidFill>
                <a:latin typeface="Cambria" pitchFamily="34" charset="0"/>
                <a:ea typeface="Cambria" pitchFamily="34" charset="-122"/>
              </a:rPr>
              <a:t>Mengidentifikasi</a:t>
            </a:r>
            <a:r>
              <a:rPr lang="en-US" sz="1500" b="1" dirty="0">
                <a:solidFill>
                  <a:srgbClr val="1E2761"/>
                </a:solidFill>
                <a:latin typeface="Cambria" pitchFamily="34" charset="0"/>
                <a:ea typeface="Cambria" pitchFamily="34" charset="-122"/>
              </a:rPr>
              <a:t> Outlier dan </a:t>
            </a:r>
            <a:r>
              <a:rPr lang="en-US" sz="1500" b="1" dirty="0" err="1">
                <a:solidFill>
                  <a:srgbClr val="1E2761"/>
                </a:solidFill>
                <a:latin typeface="Cambria" pitchFamily="34" charset="0"/>
                <a:ea typeface="Cambria" pitchFamily="34" charset="-122"/>
              </a:rPr>
              <a:t>Menangani</a:t>
            </a:r>
            <a:r>
              <a:rPr lang="en-US" sz="1500" b="1" dirty="0">
                <a:solidFill>
                  <a:srgbClr val="1E2761"/>
                </a:solidFill>
                <a:latin typeface="Cambria" pitchFamily="34" charset="0"/>
                <a:ea typeface="Cambria" pitchFamily="34" charset="-122"/>
              </a:rPr>
              <a:t> Outlier</a:t>
            </a:r>
            <a:endParaRPr lang="en-US" sz="1500" dirty="0"/>
          </a:p>
        </p:txBody>
      </p:sp>
      <p:pic>
        <p:nvPicPr>
          <p:cNvPr id="5" name="Picture 4">
            <a:extLst>
              <a:ext uri="{FF2B5EF4-FFF2-40B4-BE49-F238E27FC236}">
                <a16:creationId xmlns:a16="http://schemas.microsoft.com/office/drawing/2014/main" id="{C05ED630-A53E-2F0B-823F-31C586DAECD5}"/>
              </a:ext>
            </a:extLst>
          </p:cNvPr>
          <p:cNvPicPr>
            <a:picLocks noChangeAspect="1"/>
          </p:cNvPicPr>
          <p:nvPr/>
        </p:nvPicPr>
        <p:blipFill>
          <a:blip r:embed="rId3"/>
          <a:stretch>
            <a:fillRect/>
          </a:stretch>
        </p:blipFill>
        <p:spPr>
          <a:xfrm>
            <a:off x="110046" y="1002522"/>
            <a:ext cx="5486777" cy="3071938"/>
          </a:xfrm>
          <a:prstGeom prst="rect">
            <a:avLst/>
          </a:prstGeom>
        </p:spPr>
      </p:pic>
      <p:pic>
        <p:nvPicPr>
          <p:cNvPr id="8" name="Picture 7">
            <a:extLst>
              <a:ext uri="{FF2B5EF4-FFF2-40B4-BE49-F238E27FC236}">
                <a16:creationId xmlns:a16="http://schemas.microsoft.com/office/drawing/2014/main" id="{1BCEEDDE-6D26-E05B-4358-26E2363807D5}"/>
              </a:ext>
            </a:extLst>
          </p:cNvPr>
          <p:cNvPicPr>
            <a:picLocks noChangeAspect="1"/>
          </p:cNvPicPr>
          <p:nvPr/>
        </p:nvPicPr>
        <p:blipFill>
          <a:blip r:embed="rId4"/>
          <a:stretch>
            <a:fillRect/>
          </a:stretch>
        </p:blipFill>
        <p:spPr>
          <a:xfrm>
            <a:off x="5752589" y="1002522"/>
            <a:ext cx="6082744" cy="1748582"/>
          </a:xfrm>
          <a:prstGeom prst="rect">
            <a:avLst/>
          </a:prstGeom>
        </p:spPr>
      </p:pic>
    </p:spTree>
    <p:extLst>
      <p:ext uri="{BB962C8B-B14F-4D97-AF65-F5344CB8AC3E}">
        <p14:creationId xmlns:p14="http://schemas.microsoft.com/office/powerpoint/2010/main" val="1743707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1C8ED-91E9-C070-2178-6F56C306A401}"/>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F48D534C-9FA4-C644-C89E-C9317331FB05}"/>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F2356A58-1249-4F35-30DA-C2C5BB9C19F3}"/>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Manipulation</a:t>
            </a:r>
            <a:endParaRPr lang="en-US" sz="2800" dirty="0"/>
          </a:p>
        </p:txBody>
      </p:sp>
      <p:sp>
        <p:nvSpPr>
          <p:cNvPr id="29" name="Text 26">
            <a:extLst>
              <a:ext uri="{FF2B5EF4-FFF2-40B4-BE49-F238E27FC236}">
                <a16:creationId xmlns:a16="http://schemas.microsoft.com/office/drawing/2014/main" id="{609FE5E0-64D7-E06A-192F-A372C172EBEE}"/>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A4B3FCB2-4351-2CE8-8F30-E61586D9AD81}"/>
              </a:ext>
            </a:extLst>
          </p:cNvPr>
          <p:cNvSpPr/>
          <p:nvPr/>
        </p:nvSpPr>
        <p:spPr>
          <a:xfrm>
            <a:off x="324956" y="614121"/>
            <a:ext cx="5363150" cy="436321"/>
          </a:xfrm>
          <a:prstGeom prst="rect">
            <a:avLst/>
          </a:prstGeom>
          <a:noFill/>
          <a:ln/>
        </p:spPr>
        <p:txBody>
          <a:bodyPr wrap="square" rtlCol="0" anchor="ctr"/>
          <a:lstStyle/>
          <a:p>
            <a:r>
              <a:rPr lang="en-US" sz="1600" b="1" dirty="0" err="1">
                <a:solidFill>
                  <a:srgbClr val="F2545B"/>
                </a:solidFill>
                <a:latin typeface="Cambria" pitchFamily="34" charset="0"/>
                <a:ea typeface="Cambria" pitchFamily="34" charset="-122"/>
                <a:cs typeface="Cambria" pitchFamily="34" charset="-120"/>
              </a:rPr>
              <a:t>Penentuan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analisa</a:t>
            </a:r>
            <a:endParaRPr lang="en-US" sz="1600" dirty="0"/>
          </a:p>
        </p:txBody>
      </p:sp>
      <p:sp>
        <p:nvSpPr>
          <p:cNvPr id="17" name="Shape 5">
            <a:extLst>
              <a:ext uri="{FF2B5EF4-FFF2-40B4-BE49-F238E27FC236}">
                <a16:creationId xmlns:a16="http://schemas.microsoft.com/office/drawing/2014/main" id="{4B8D7194-BB0E-76DD-50CE-83A554749DCF}"/>
              </a:ext>
            </a:extLst>
          </p:cNvPr>
          <p:cNvSpPr/>
          <p:nvPr/>
        </p:nvSpPr>
        <p:spPr>
          <a:xfrm>
            <a:off x="178333" y="5462929"/>
            <a:ext cx="11835333" cy="127291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E2DFD214-E30E-70DD-186B-3CC9E0A630F3}"/>
              </a:ext>
            </a:extLst>
          </p:cNvPr>
          <p:cNvSpPr/>
          <p:nvPr/>
        </p:nvSpPr>
        <p:spPr>
          <a:xfrm>
            <a:off x="290160" y="5448652"/>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21" name="Text 8">
            <a:extLst>
              <a:ext uri="{FF2B5EF4-FFF2-40B4-BE49-F238E27FC236}">
                <a16:creationId xmlns:a16="http://schemas.microsoft.com/office/drawing/2014/main" id="{4DE32DBF-3753-8ECC-6E4B-44817B6C3A2A}"/>
              </a:ext>
            </a:extLst>
          </p:cNvPr>
          <p:cNvSpPr/>
          <p:nvPr/>
        </p:nvSpPr>
        <p:spPr>
          <a:xfrm>
            <a:off x="290160" y="5810104"/>
            <a:ext cx="11622668" cy="522328"/>
          </a:xfrm>
          <a:prstGeom prst="rect">
            <a:avLst/>
          </a:prstGeom>
          <a:noFill/>
          <a:ln/>
        </p:spPr>
        <p:txBody>
          <a:bodyPr wrap="square" rtlCol="0" anchor="t"/>
          <a:lstStyle/>
          <a:p>
            <a:pPr>
              <a:lnSpc>
                <a:spcPts val="1400"/>
              </a:lnSpc>
            </a:pP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Item_MRP</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Item_Outlet_Sales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memiliki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korelasi</a:t>
            </a:r>
            <a:r>
              <a:rPr lang="en-US" sz="1600" dirty="0">
                <a:solidFill>
                  <a:srgbClr val="444444"/>
                </a:solidFill>
                <a:latin typeface="Calibri" pitchFamily="34" charset="0"/>
                <a:ea typeface="Calibri" pitchFamily="34" charset="-122"/>
                <a:cs typeface="Calibri" pitchFamily="34" charset="-120"/>
              </a:rPr>
              <a:t> paling </a:t>
            </a:r>
            <a:r>
              <a:rPr lang="en-US" sz="1600" dirty="0" err="1">
                <a:solidFill>
                  <a:srgbClr val="444444"/>
                </a:solidFill>
                <a:latin typeface="Calibri" pitchFamily="34" charset="0"/>
                <a:ea typeface="Calibri" pitchFamily="34" charset="-122"/>
                <a:cs typeface="Calibri" pitchFamily="34" charset="-120"/>
              </a:rPr>
              <a:t>kuat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sebesar</a:t>
            </a:r>
            <a:r>
              <a:rPr lang="en-US" sz="1600" dirty="0">
                <a:solidFill>
                  <a:srgbClr val="444444"/>
                </a:solidFill>
                <a:latin typeface="Calibri" pitchFamily="34" charset="0"/>
                <a:ea typeface="Calibri" pitchFamily="34" charset="-122"/>
                <a:cs typeface="Calibri" pitchFamily="34" charset="-120"/>
              </a:rPr>
              <a:t> 0.57, </a:t>
            </a:r>
            <a:r>
              <a:rPr lang="en-US" sz="1600" dirty="0" err="1">
                <a:solidFill>
                  <a:srgbClr val="444444"/>
                </a:solidFill>
                <a:latin typeface="Calibri" pitchFamily="34" charset="0"/>
                <a:ea typeface="Calibri" pitchFamily="34" charset="-122"/>
                <a:cs typeface="Calibri" pitchFamily="34" charset="-120"/>
              </a:rPr>
              <a:t>maka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arah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analisa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menuju</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kepada</a:t>
            </a:r>
            <a:r>
              <a:rPr lang="en-US" sz="1600" dirty="0">
                <a:solidFill>
                  <a:srgbClr val="444444"/>
                </a:solidFill>
                <a:latin typeface="Calibri" pitchFamily="34" charset="0"/>
                <a:ea typeface="Calibri" pitchFamily="34" charset="-122"/>
                <a:cs typeface="Calibri" pitchFamily="34" charset="-120"/>
              </a:rPr>
              <a:t> dua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ini</a:t>
            </a:r>
            <a:endParaRPr lang="en-US" sz="1600" dirty="0">
              <a:solidFill>
                <a:srgbClr val="444444"/>
              </a:solidFill>
              <a:latin typeface="Calibri" pitchFamily="34" charset="0"/>
              <a:ea typeface="Calibri" pitchFamily="34" charset="-122"/>
              <a:cs typeface="Calibri" pitchFamily="34" charset="-120"/>
            </a:endParaRPr>
          </a:p>
        </p:txBody>
      </p:sp>
      <p:pic>
        <p:nvPicPr>
          <p:cNvPr id="5" name="Picture 4">
            <a:extLst>
              <a:ext uri="{FF2B5EF4-FFF2-40B4-BE49-F238E27FC236}">
                <a16:creationId xmlns:a16="http://schemas.microsoft.com/office/drawing/2014/main" id="{A60165EE-1075-9CD3-ED44-62E4A0B330F2}"/>
              </a:ext>
            </a:extLst>
          </p:cNvPr>
          <p:cNvPicPr>
            <a:picLocks noChangeAspect="1"/>
          </p:cNvPicPr>
          <p:nvPr/>
        </p:nvPicPr>
        <p:blipFill>
          <a:blip r:embed="rId3"/>
          <a:stretch>
            <a:fillRect/>
          </a:stretch>
        </p:blipFill>
        <p:spPr>
          <a:xfrm>
            <a:off x="4383400" y="471132"/>
            <a:ext cx="6001588" cy="4991797"/>
          </a:xfrm>
          <a:prstGeom prst="rect">
            <a:avLst/>
          </a:prstGeom>
        </p:spPr>
      </p:pic>
      <p:pic>
        <p:nvPicPr>
          <p:cNvPr id="8" name="Picture 7">
            <a:extLst>
              <a:ext uri="{FF2B5EF4-FFF2-40B4-BE49-F238E27FC236}">
                <a16:creationId xmlns:a16="http://schemas.microsoft.com/office/drawing/2014/main" id="{54053456-1B23-BADF-4C1B-CF8F757447F6}"/>
              </a:ext>
            </a:extLst>
          </p:cNvPr>
          <p:cNvPicPr>
            <a:picLocks noChangeAspect="1"/>
          </p:cNvPicPr>
          <p:nvPr/>
        </p:nvPicPr>
        <p:blipFill>
          <a:blip r:embed="rId4"/>
          <a:stretch>
            <a:fillRect/>
          </a:stretch>
        </p:blipFill>
        <p:spPr>
          <a:xfrm>
            <a:off x="40232" y="1565787"/>
            <a:ext cx="4343168" cy="2441051"/>
          </a:xfrm>
          <a:prstGeom prst="rect">
            <a:avLst/>
          </a:prstGeom>
        </p:spPr>
      </p:pic>
    </p:spTree>
    <p:extLst>
      <p:ext uri="{BB962C8B-B14F-4D97-AF65-F5344CB8AC3E}">
        <p14:creationId xmlns:p14="http://schemas.microsoft.com/office/powerpoint/2010/main" val="1406498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77D14-458D-5212-4656-275F314306DD}"/>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650983FB-EB45-E9F3-6C3E-A56CC1E7C82A}"/>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008CC006-C5B7-71B1-CE6D-B1945E9AD84E}"/>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Manipulation</a:t>
            </a:r>
            <a:endParaRPr lang="en-US" sz="2800" dirty="0"/>
          </a:p>
        </p:txBody>
      </p:sp>
      <p:sp>
        <p:nvSpPr>
          <p:cNvPr id="29" name="Text 26">
            <a:extLst>
              <a:ext uri="{FF2B5EF4-FFF2-40B4-BE49-F238E27FC236}">
                <a16:creationId xmlns:a16="http://schemas.microsoft.com/office/drawing/2014/main" id="{77A993CE-C83A-D1BF-2794-55C75694CAFB}"/>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60464E22-96E5-5583-66F8-79440EE10F7E}"/>
              </a:ext>
            </a:extLst>
          </p:cNvPr>
          <p:cNvSpPr/>
          <p:nvPr/>
        </p:nvSpPr>
        <p:spPr>
          <a:xfrm>
            <a:off x="324956" y="614121"/>
            <a:ext cx="5363150"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filter </a:t>
            </a:r>
            <a:r>
              <a:rPr lang="en-US" sz="1600" b="1" dirty="0" err="1">
                <a:solidFill>
                  <a:srgbClr val="F2545B"/>
                </a:solidFill>
                <a:latin typeface="Cambria" pitchFamily="34" charset="0"/>
                <a:ea typeface="Cambria" pitchFamily="34" charset="-122"/>
                <a:cs typeface="Cambria" pitchFamily="34" charset="-120"/>
              </a:rPr>
              <a:t>kolom</a:t>
            </a:r>
            <a:r>
              <a:rPr lang="en-US" sz="1600" b="1" dirty="0">
                <a:solidFill>
                  <a:srgbClr val="F2545B"/>
                </a:solidFill>
                <a:latin typeface="Cambria" pitchFamily="34" charset="0"/>
                <a:ea typeface="Cambria" pitchFamily="34" charset="-122"/>
                <a:cs typeface="Cambria" pitchFamily="34" charset="-120"/>
              </a:rPr>
              <a:t> yang </a:t>
            </a:r>
            <a:r>
              <a:rPr lang="en-US" sz="1600" b="1" dirty="0" err="1">
                <a:solidFill>
                  <a:srgbClr val="F2545B"/>
                </a:solidFill>
                <a:latin typeface="Cambria" pitchFamily="34" charset="0"/>
                <a:ea typeface="Cambria" pitchFamily="34" charset="-122"/>
                <a:cs typeface="Cambria" pitchFamily="34" charset="-120"/>
              </a:rPr>
              <a:t>dibutuhkan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untuk</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analisa</a:t>
            </a:r>
            <a:endParaRPr lang="en-US" sz="1600" dirty="0"/>
          </a:p>
        </p:txBody>
      </p:sp>
      <p:sp>
        <p:nvSpPr>
          <p:cNvPr id="17" name="Shape 5">
            <a:extLst>
              <a:ext uri="{FF2B5EF4-FFF2-40B4-BE49-F238E27FC236}">
                <a16:creationId xmlns:a16="http://schemas.microsoft.com/office/drawing/2014/main" id="{C83337B1-6F8F-CA4A-1FA0-50DC20C45706}"/>
              </a:ext>
            </a:extLst>
          </p:cNvPr>
          <p:cNvSpPr/>
          <p:nvPr/>
        </p:nvSpPr>
        <p:spPr>
          <a:xfrm>
            <a:off x="0" y="5129295"/>
            <a:ext cx="11835333" cy="158688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88986EA7-E271-0F94-8848-98867CD21EFB}"/>
              </a:ext>
            </a:extLst>
          </p:cNvPr>
          <p:cNvSpPr/>
          <p:nvPr/>
        </p:nvSpPr>
        <p:spPr>
          <a:xfrm>
            <a:off x="111827" y="5115018"/>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21" name="Text 8">
            <a:extLst>
              <a:ext uri="{FF2B5EF4-FFF2-40B4-BE49-F238E27FC236}">
                <a16:creationId xmlns:a16="http://schemas.microsoft.com/office/drawing/2014/main" id="{772010A3-3D03-3989-F041-7954FA265BA0}"/>
              </a:ext>
            </a:extLst>
          </p:cNvPr>
          <p:cNvSpPr/>
          <p:nvPr/>
        </p:nvSpPr>
        <p:spPr>
          <a:xfrm>
            <a:off x="111827" y="5476469"/>
            <a:ext cx="11622668" cy="1239709"/>
          </a:xfrm>
          <a:prstGeom prst="rect">
            <a:avLst/>
          </a:prstGeom>
          <a:noFill/>
          <a:ln/>
        </p:spPr>
        <p:txBody>
          <a:bodyPr wrap="square" rtlCol="0" anchor="t"/>
          <a:lstStyle/>
          <a:p>
            <a:pPr>
              <a:lnSpc>
                <a:spcPts val="1400"/>
              </a:lnSpc>
            </a:pP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Item_MRP</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Item_Outlet_Sales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memiliki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korelasi</a:t>
            </a:r>
            <a:r>
              <a:rPr lang="en-US" sz="1600" dirty="0">
                <a:solidFill>
                  <a:srgbClr val="444444"/>
                </a:solidFill>
                <a:latin typeface="Calibri" pitchFamily="34" charset="0"/>
                <a:ea typeface="Calibri" pitchFamily="34" charset="-122"/>
                <a:cs typeface="Calibri" pitchFamily="34" charset="-120"/>
              </a:rPr>
              <a:t> paling </a:t>
            </a:r>
            <a:r>
              <a:rPr lang="en-US" sz="1600" dirty="0" err="1">
                <a:solidFill>
                  <a:srgbClr val="444444"/>
                </a:solidFill>
                <a:latin typeface="Calibri" pitchFamily="34" charset="0"/>
                <a:ea typeface="Calibri" pitchFamily="34" charset="-122"/>
                <a:cs typeface="Calibri" pitchFamily="34" charset="-120"/>
              </a:rPr>
              <a:t>kuat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sebesar</a:t>
            </a:r>
            <a:r>
              <a:rPr lang="en-US" sz="1600" dirty="0">
                <a:solidFill>
                  <a:srgbClr val="444444"/>
                </a:solidFill>
                <a:latin typeface="Calibri" pitchFamily="34" charset="0"/>
                <a:ea typeface="Calibri" pitchFamily="34" charset="-122"/>
                <a:cs typeface="Calibri" pitchFamily="34" charset="-120"/>
              </a:rPr>
              <a:t> 0.57, </a:t>
            </a:r>
            <a:r>
              <a:rPr lang="en-US" sz="1600" dirty="0" err="1">
                <a:solidFill>
                  <a:srgbClr val="444444"/>
                </a:solidFill>
                <a:latin typeface="Calibri" pitchFamily="34" charset="0"/>
                <a:ea typeface="Calibri" pitchFamily="34" charset="-122"/>
                <a:cs typeface="Calibri" pitchFamily="34" charset="-120"/>
              </a:rPr>
              <a:t>maka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arah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analisa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menuju</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kepada</a:t>
            </a:r>
            <a:r>
              <a:rPr lang="en-US" sz="1600" dirty="0">
                <a:solidFill>
                  <a:srgbClr val="444444"/>
                </a:solidFill>
                <a:latin typeface="Calibri" pitchFamily="34" charset="0"/>
                <a:ea typeface="Calibri" pitchFamily="34" charset="-122"/>
                <a:cs typeface="Calibri" pitchFamily="34" charset="-120"/>
              </a:rPr>
              <a:t> dua </a:t>
            </a:r>
            <a:r>
              <a:rPr lang="en-US" sz="1600" dirty="0" err="1">
                <a:solidFill>
                  <a:srgbClr val="444444"/>
                </a:solidFill>
                <a:latin typeface="Calibri" pitchFamily="34" charset="0"/>
                <a:ea typeface="Calibri" pitchFamily="34" charset="-122"/>
                <a:cs typeface="Calibri" pitchFamily="34" charset="-120"/>
              </a:rPr>
              <a:t>kolom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ini</a:t>
            </a:r>
            <a:endParaRPr lang="en-US" sz="1600" dirty="0">
              <a:solidFill>
                <a:srgbClr val="444444"/>
              </a:solidFill>
              <a:latin typeface="Calibri" pitchFamily="34" charset="0"/>
              <a:ea typeface="Calibri" pitchFamily="34" charset="-122"/>
              <a:cs typeface="Calibri" pitchFamily="34" charset="-120"/>
            </a:endParaRPr>
          </a:p>
        </p:txBody>
      </p:sp>
      <p:pic>
        <p:nvPicPr>
          <p:cNvPr id="7" name="Picture 6">
            <a:extLst>
              <a:ext uri="{FF2B5EF4-FFF2-40B4-BE49-F238E27FC236}">
                <a16:creationId xmlns:a16="http://schemas.microsoft.com/office/drawing/2014/main" id="{7A130132-44ED-7C51-1746-02DA2D2EB5B4}"/>
              </a:ext>
            </a:extLst>
          </p:cNvPr>
          <p:cNvPicPr>
            <a:picLocks noChangeAspect="1"/>
          </p:cNvPicPr>
          <p:nvPr/>
        </p:nvPicPr>
        <p:blipFill>
          <a:blip r:embed="rId3"/>
          <a:stretch>
            <a:fillRect/>
          </a:stretch>
        </p:blipFill>
        <p:spPr>
          <a:xfrm>
            <a:off x="2126759" y="1092248"/>
            <a:ext cx="7669107" cy="4010700"/>
          </a:xfrm>
          <a:prstGeom prst="rect">
            <a:avLst/>
          </a:prstGeom>
        </p:spPr>
      </p:pic>
    </p:spTree>
    <p:extLst>
      <p:ext uri="{BB962C8B-B14F-4D97-AF65-F5344CB8AC3E}">
        <p14:creationId xmlns:p14="http://schemas.microsoft.com/office/powerpoint/2010/main" val="1430755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667C3-9E82-5EC2-C738-CACE328A8D7F}"/>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010C8C98-B5DB-85F4-36B2-BBDA49DD41AF}"/>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D91870FD-685F-4A5C-DBEA-7C996648D6F6}"/>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Manipulation</a:t>
            </a:r>
            <a:endParaRPr lang="en-US" sz="2800" dirty="0"/>
          </a:p>
        </p:txBody>
      </p:sp>
      <p:sp>
        <p:nvSpPr>
          <p:cNvPr id="29" name="Text 26">
            <a:extLst>
              <a:ext uri="{FF2B5EF4-FFF2-40B4-BE49-F238E27FC236}">
                <a16:creationId xmlns:a16="http://schemas.microsoft.com/office/drawing/2014/main" id="{A6F9B541-CEEA-55C8-B163-07FC960A5AB8}"/>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D4601BF0-5393-4663-A065-251A0910378F}"/>
              </a:ext>
            </a:extLst>
          </p:cNvPr>
          <p:cNvSpPr/>
          <p:nvPr/>
        </p:nvSpPr>
        <p:spPr>
          <a:xfrm>
            <a:off x="324956" y="614121"/>
            <a:ext cx="6358232" cy="436321"/>
          </a:xfrm>
          <a:prstGeom prst="rect">
            <a:avLst/>
          </a:prstGeom>
          <a:noFill/>
          <a:ln/>
        </p:spPr>
        <p:txBody>
          <a:bodyPr wrap="square" rtlCol="0" anchor="ctr"/>
          <a:lstStyle/>
          <a:p>
            <a:r>
              <a:rPr lang="en-US" sz="1600" b="1" dirty="0" err="1">
                <a:solidFill>
                  <a:srgbClr val="F2545B"/>
                </a:solidFill>
                <a:latin typeface="Cambria" pitchFamily="34" charset="0"/>
                <a:ea typeface="Cambria" pitchFamily="34" charset="-122"/>
                <a:cs typeface="Cambria" pitchFamily="34" charset="-120"/>
              </a:rPr>
              <a:t>Visualisasi</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harga</a:t>
            </a:r>
            <a:r>
              <a:rPr lang="en-US" sz="1600" b="1" dirty="0">
                <a:solidFill>
                  <a:srgbClr val="F2545B"/>
                </a:solidFill>
                <a:latin typeface="Cambria" pitchFamily="34" charset="0"/>
                <a:ea typeface="Cambria" pitchFamily="34" charset="-122"/>
                <a:cs typeface="Cambria" pitchFamily="34" charset="-120"/>
              </a:rPr>
              <a:t> retail dan </a:t>
            </a:r>
            <a:r>
              <a:rPr lang="en-US" sz="1600" b="1" dirty="0" err="1">
                <a:solidFill>
                  <a:srgbClr val="F2545B"/>
                </a:solidFill>
                <a:latin typeface="Cambria" pitchFamily="34" charset="0"/>
                <a:ea typeface="Cambria" pitchFamily="34" charset="-122"/>
                <a:cs typeface="Cambria" pitchFamily="34" charset="-120"/>
              </a:rPr>
              <a:t>Penjualan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Berdasarkan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Tipe</a:t>
            </a:r>
            <a:r>
              <a:rPr lang="en-US" sz="1600" b="1" dirty="0">
                <a:solidFill>
                  <a:srgbClr val="F2545B"/>
                </a:solidFill>
                <a:latin typeface="Cambria" pitchFamily="34" charset="0"/>
                <a:ea typeface="Cambria" pitchFamily="34" charset="-122"/>
                <a:cs typeface="Cambria" pitchFamily="34" charset="-120"/>
              </a:rPr>
              <a:t> Outlet</a:t>
            </a:r>
            <a:endParaRPr lang="en-US" sz="1600" dirty="0"/>
          </a:p>
        </p:txBody>
      </p:sp>
      <p:sp>
        <p:nvSpPr>
          <p:cNvPr id="17" name="Shape 5">
            <a:extLst>
              <a:ext uri="{FF2B5EF4-FFF2-40B4-BE49-F238E27FC236}">
                <a16:creationId xmlns:a16="http://schemas.microsoft.com/office/drawing/2014/main" id="{662ED5FC-64EB-FD1F-AA03-D59C0BFD77CF}"/>
              </a:ext>
            </a:extLst>
          </p:cNvPr>
          <p:cNvSpPr/>
          <p:nvPr/>
        </p:nvSpPr>
        <p:spPr>
          <a:xfrm>
            <a:off x="0" y="5129295"/>
            <a:ext cx="11835333" cy="158688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EECB34BA-1CB3-FEA8-CBA6-68AC81287935}"/>
              </a:ext>
            </a:extLst>
          </p:cNvPr>
          <p:cNvSpPr/>
          <p:nvPr/>
        </p:nvSpPr>
        <p:spPr>
          <a:xfrm>
            <a:off x="111827" y="5115018"/>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21" name="Text 8">
            <a:extLst>
              <a:ext uri="{FF2B5EF4-FFF2-40B4-BE49-F238E27FC236}">
                <a16:creationId xmlns:a16="http://schemas.microsoft.com/office/drawing/2014/main" id="{03F8238A-D2A8-5A05-3FB1-9351B9D2A342}"/>
              </a:ext>
            </a:extLst>
          </p:cNvPr>
          <p:cNvSpPr/>
          <p:nvPr/>
        </p:nvSpPr>
        <p:spPr>
          <a:xfrm>
            <a:off x="111827" y="5476469"/>
            <a:ext cx="11622668" cy="1239709"/>
          </a:xfrm>
          <a:prstGeom prst="rect">
            <a:avLst/>
          </a:prstGeom>
          <a:noFill/>
          <a:ln/>
        </p:spPr>
        <p:txBody>
          <a:bodyPr wrap="square" rtlCol="0" anchor="t"/>
          <a:lstStyle/>
          <a:p>
            <a:pPr>
              <a:lnSpc>
                <a:spcPts val="1400"/>
              </a:lnSpc>
            </a:pPr>
            <a:r>
              <a:rPr lang="en-US" sz="1600" dirty="0">
                <a:solidFill>
                  <a:srgbClr val="444444"/>
                </a:solidFill>
                <a:latin typeface="Calibri" pitchFamily="34" charset="0"/>
                <a:ea typeface="Calibri" pitchFamily="34" charset="-122"/>
                <a:cs typeface="Calibri" pitchFamily="34" charset="-120"/>
              </a:rPr>
              <a:t>Dari </a:t>
            </a:r>
            <a:r>
              <a:rPr lang="en-US" sz="1600" dirty="0" err="1">
                <a:solidFill>
                  <a:srgbClr val="444444"/>
                </a:solidFill>
                <a:latin typeface="Calibri" pitchFamily="34" charset="0"/>
                <a:ea typeface="Calibri" pitchFamily="34" charset="-122"/>
                <a:cs typeface="Calibri" pitchFamily="34" charset="-120"/>
              </a:rPr>
              <a:t>grafik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dapat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dilihat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bahwa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harga</a:t>
            </a:r>
            <a:r>
              <a:rPr lang="en-US" sz="1600" dirty="0">
                <a:solidFill>
                  <a:srgbClr val="444444"/>
                </a:solidFill>
                <a:latin typeface="Calibri" pitchFamily="34" charset="0"/>
                <a:ea typeface="Calibri" pitchFamily="34" charset="-122"/>
                <a:cs typeface="Calibri" pitchFamily="34" charset="-120"/>
              </a:rPr>
              <a:t> retail </a:t>
            </a:r>
            <a:r>
              <a:rPr lang="en-US" sz="1600" dirty="0" err="1">
                <a:solidFill>
                  <a:srgbClr val="444444"/>
                </a:solidFill>
                <a:latin typeface="Calibri" pitchFamily="34" charset="0"/>
                <a:ea typeface="Calibri" pitchFamily="34" charset="-122"/>
                <a:cs typeface="Calibri" pitchFamily="34" charset="-120"/>
              </a:rPr>
              <a:t>memang</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menentukan</a:t>
            </a:r>
            <a:r>
              <a:rPr lang="en-US" sz="1600" dirty="0">
                <a:solidFill>
                  <a:srgbClr val="444444"/>
                </a:solidFill>
                <a:latin typeface="Calibri" pitchFamily="34" charset="0"/>
                <a:ea typeface="Calibri" pitchFamily="34" charset="-122"/>
                <a:cs typeface="Calibri" pitchFamily="34" charset="-120"/>
              </a:rPr>
              <a:t> batas </a:t>
            </a:r>
            <a:r>
              <a:rPr lang="en-US" sz="1600" dirty="0" err="1">
                <a:solidFill>
                  <a:srgbClr val="444444"/>
                </a:solidFill>
                <a:latin typeface="Calibri" pitchFamily="34" charset="0"/>
                <a:ea typeface="Calibri" pitchFamily="34" charset="-122"/>
                <a:cs typeface="Calibri" pitchFamily="34" charset="-120"/>
              </a:rPr>
              <a:t>potensi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penjualan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semakin</a:t>
            </a:r>
            <a:r>
              <a:rPr lang="en-US" sz="1600" dirty="0">
                <a:solidFill>
                  <a:srgbClr val="444444"/>
                </a:solidFill>
                <a:latin typeface="Calibri" pitchFamily="34" charset="0"/>
                <a:ea typeface="Calibri" pitchFamily="34" charset="-122"/>
                <a:cs typeface="Calibri" pitchFamily="34" charset="-120"/>
              </a:rPr>
              <a:t> mahal </a:t>
            </a:r>
            <a:r>
              <a:rPr lang="en-US" sz="1600" dirty="0" err="1">
                <a:solidFill>
                  <a:srgbClr val="444444"/>
                </a:solidFill>
                <a:latin typeface="Calibri" pitchFamily="34" charset="0"/>
                <a:ea typeface="Calibri" pitchFamily="34" charset="-122"/>
                <a:cs typeface="Calibri" pitchFamily="34" charset="-120"/>
              </a:rPr>
              <a:t>barangnya</a:t>
            </a:r>
            <a:r>
              <a:rPr lang="en-US" sz="1600" dirty="0">
                <a:solidFill>
                  <a:srgbClr val="444444"/>
                </a:solidFill>
                <a:latin typeface="Calibri" pitchFamily="34" charset="0"/>
                <a:ea typeface="Calibri" pitchFamily="34" charset="-122"/>
                <a:cs typeface="Calibri" pitchFamily="34" charset="-120"/>
              </a:rPr>
              <a:t>, batas </a:t>
            </a:r>
            <a:r>
              <a:rPr lang="en-US" sz="1600" dirty="0" err="1">
                <a:solidFill>
                  <a:srgbClr val="444444"/>
                </a:solidFill>
                <a:latin typeface="Calibri" pitchFamily="34" charset="0"/>
                <a:ea typeface="Calibri" pitchFamily="34" charset="-122"/>
                <a:cs typeface="Calibri" pitchFamily="34" charset="-120"/>
              </a:rPr>
              <a:t>ata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penjualannya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makin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tinggi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Tetapi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berdasarkan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titik-titik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hijau</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bagian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bawah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meskipun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sebuah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produk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berharga</a:t>
            </a:r>
            <a:r>
              <a:rPr lang="en-US" sz="1600" dirty="0">
                <a:solidFill>
                  <a:srgbClr val="444444"/>
                </a:solidFill>
                <a:latin typeface="Calibri" pitchFamily="34" charset="0"/>
                <a:ea typeface="Calibri" pitchFamily="34" charset="-122"/>
                <a:cs typeface="Calibri" pitchFamily="34" charset="-120"/>
              </a:rPr>
              <a:t> mahal </a:t>
            </a:r>
            <a:r>
              <a:rPr lang="en-US" sz="1600" dirty="0" err="1">
                <a:solidFill>
                  <a:srgbClr val="444444"/>
                </a:solidFill>
                <a:latin typeface="Calibri" pitchFamily="34" charset="0"/>
                <a:ea typeface="Calibri" pitchFamily="34" charset="-122"/>
                <a:cs typeface="Calibri" pitchFamily="34" charset="-120"/>
              </a:rPr>
              <a:t>dijual</a:t>
            </a:r>
            <a:r>
              <a:rPr lang="en-US" sz="1600" dirty="0">
                <a:solidFill>
                  <a:srgbClr val="444444"/>
                </a:solidFill>
                <a:latin typeface="Calibri" pitchFamily="34" charset="0"/>
                <a:ea typeface="Calibri" pitchFamily="34" charset="-122"/>
                <a:cs typeface="Calibri" pitchFamily="34" charset="-120"/>
              </a:rPr>
              <a:t> di Grocery Store, </a:t>
            </a:r>
            <a:r>
              <a:rPr lang="en-US" sz="1600" dirty="0" err="1">
                <a:solidFill>
                  <a:srgbClr val="444444"/>
                </a:solidFill>
                <a:latin typeface="Calibri" pitchFamily="34" charset="0"/>
                <a:ea typeface="Calibri" pitchFamily="34" charset="-122"/>
                <a:cs typeface="Calibri" pitchFamily="34" charset="-120"/>
              </a:rPr>
              <a:t>omzetnya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tetap</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tertahan</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bawah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Sebaliknya</a:t>
            </a:r>
            <a:r>
              <a:rPr lang="en-US" sz="1600" dirty="0">
                <a:solidFill>
                  <a:srgbClr val="444444"/>
                </a:solidFill>
                <a:latin typeface="Calibri" pitchFamily="34" charset="0"/>
                <a:ea typeface="Calibri" pitchFamily="34" charset="-122"/>
                <a:cs typeface="Calibri" pitchFamily="34" charset="-120"/>
              </a:rPr>
              <a:t>, Supermarket Type 3 (</a:t>
            </a:r>
            <a:r>
              <a:rPr lang="en-US" sz="1600" dirty="0" err="1">
                <a:solidFill>
                  <a:srgbClr val="444444"/>
                </a:solidFill>
                <a:latin typeface="Calibri" pitchFamily="34" charset="0"/>
                <a:ea typeface="Calibri" pitchFamily="34" charset="-122"/>
                <a:cs typeface="Calibri" pitchFamily="34" charset="-120"/>
              </a:rPr>
              <a:t>warna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ungu</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secara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konsisten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mampu</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mendongkrak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penjualan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ke</a:t>
            </a:r>
            <a:r>
              <a:rPr lang="en-US" sz="1600" dirty="0">
                <a:solidFill>
                  <a:srgbClr val="444444"/>
                </a:solidFill>
                <a:latin typeface="Calibri" pitchFamily="34" charset="0"/>
                <a:ea typeface="Calibri" pitchFamily="34" charset="-122"/>
                <a:cs typeface="Calibri" pitchFamily="34" charset="-120"/>
              </a:rPr>
              <a:t> level </a:t>
            </a:r>
            <a:r>
              <a:rPr lang="en-US" sz="1600" dirty="0" err="1">
                <a:solidFill>
                  <a:srgbClr val="444444"/>
                </a:solidFill>
                <a:latin typeface="Calibri" pitchFamily="34" charset="0"/>
                <a:ea typeface="Calibri" pitchFamily="34" charset="-122"/>
                <a:cs typeface="Calibri" pitchFamily="34" charset="-120"/>
              </a:rPr>
              <a:t>tertinggi</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setiap</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kategori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harga</a:t>
            </a:r>
            <a:r>
              <a:rPr lang="en-US" sz="1600" dirty="0">
                <a:solidFill>
                  <a:srgbClr val="444444"/>
                </a:solidFill>
                <a:latin typeface="Calibri" pitchFamily="34" charset="0"/>
                <a:ea typeface="Calibri" pitchFamily="34" charset="-122"/>
                <a:cs typeface="Calibri" pitchFamily="34" charset="-120"/>
              </a:rPr>
              <a:t>. Artinya, </a:t>
            </a:r>
            <a:r>
              <a:rPr lang="en-US" sz="1600" dirty="0" err="1">
                <a:solidFill>
                  <a:srgbClr val="444444"/>
                </a:solidFill>
                <a:latin typeface="Calibri" pitchFamily="34" charset="0"/>
                <a:ea typeface="Calibri" pitchFamily="34" charset="-122"/>
                <a:cs typeface="Calibri" pitchFamily="34" charset="-120"/>
              </a:rPr>
              <a:t>pemilihan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tipe</a:t>
            </a:r>
            <a:r>
              <a:rPr lang="en-US" sz="1600" dirty="0">
                <a:solidFill>
                  <a:srgbClr val="444444"/>
                </a:solidFill>
                <a:latin typeface="Calibri" pitchFamily="34" charset="0"/>
                <a:ea typeface="Calibri" pitchFamily="34" charset="-122"/>
                <a:cs typeface="Calibri" pitchFamily="34" charset="-120"/>
              </a:rPr>
              <a:t> outlet </a:t>
            </a:r>
            <a:r>
              <a:rPr lang="en-US" sz="1600" dirty="0" err="1">
                <a:solidFill>
                  <a:srgbClr val="444444"/>
                </a:solidFill>
                <a:latin typeface="Calibri" pitchFamily="34" charset="0"/>
                <a:ea typeface="Calibri" pitchFamily="34" charset="-122"/>
                <a:cs typeface="Calibri" pitchFamily="34" charset="-120"/>
              </a:rPr>
              <a:t>jauh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lebih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krusial</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dalam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menentukan</a:t>
            </a:r>
            <a:r>
              <a:rPr lang="en-US" sz="1600" dirty="0">
                <a:solidFill>
                  <a:srgbClr val="444444"/>
                </a:solidFill>
                <a:latin typeface="Calibri" pitchFamily="34" charset="0"/>
                <a:ea typeface="Calibri" pitchFamily="34" charset="-122"/>
                <a:cs typeface="Calibri" pitchFamily="34" charset="-120"/>
              </a:rPr>
              <a:t> volume </a:t>
            </a:r>
            <a:r>
              <a:rPr lang="en-US" sz="1600" dirty="0" err="1">
                <a:solidFill>
                  <a:srgbClr val="444444"/>
                </a:solidFill>
                <a:latin typeface="Calibri" pitchFamily="34" charset="0"/>
                <a:ea typeface="Calibri" pitchFamily="34" charset="-122"/>
                <a:cs typeface="Calibri" pitchFamily="34" charset="-120"/>
              </a:rPr>
              <a:t>omzet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akhir</a:t>
            </a:r>
            <a:r>
              <a:rPr lang="en-US" sz="1600" dirty="0">
                <a:solidFill>
                  <a:srgbClr val="444444"/>
                </a:solidFill>
                <a:latin typeface="Calibri" pitchFamily="34" charset="0"/>
                <a:ea typeface="Calibri" pitchFamily="34" charset="-122"/>
                <a:cs typeface="Calibri" pitchFamily="34" charset="-120"/>
              </a:rPr>
              <a:t>.</a:t>
            </a:r>
          </a:p>
        </p:txBody>
      </p:sp>
      <p:pic>
        <p:nvPicPr>
          <p:cNvPr id="4" name="Picture 3">
            <a:extLst>
              <a:ext uri="{FF2B5EF4-FFF2-40B4-BE49-F238E27FC236}">
                <a16:creationId xmlns:a16="http://schemas.microsoft.com/office/drawing/2014/main" id="{0A5B226B-2578-68DC-3AF8-E910B263A87A}"/>
              </a:ext>
            </a:extLst>
          </p:cNvPr>
          <p:cNvPicPr>
            <a:picLocks noChangeAspect="1"/>
          </p:cNvPicPr>
          <p:nvPr/>
        </p:nvPicPr>
        <p:blipFill>
          <a:blip r:embed="rId3"/>
          <a:stretch>
            <a:fillRect/>
          </a:stretch>
        </p:blipFill>
        <p:spPr>
          <a:xfrm>
            <a:off x="2378623" y="1064719"/>
            <a:ext cx="6358232" cy="4056114"/>
          </a:xfrm>
          <a:prstGeom prst="rect">
            <a:avLst/>
          </a:prstGeom>
        </p:spPr>
      </p:pic>
    </p:spTree>
    <p:extLst>
      <p:ext uri="{BB962C8B-B14F-4D97-AF65-F5344CB8AC3E}">
        <p14:creationId xmlns:p14="http://schemas.microsoft.com/office/powerpoint/2010/main" val="3176159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504C9-1A00-F0FF-F334-4B7CD2909D78}"/>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CC0ACD50-1603-DD2B-6AE3-6D869D18E080}"/>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11AD8C06-38A1-3FB6-2F2D-D485BAEBCCF4}"/>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Manipulation</a:t>
            </a:r>
            <a:endParaRPr lang="en-US" sz="2800" dirty="0"/>
          </a:p>
        </p:txBody>
      </p:sp>
      <p:sp>
        <p:nvSpPr>
          <p:cNvPr id="29" name="Text 26">
            <a:extLst>
              <a:ext uri="{FF2B5EF4-FFF2-40B4-BE49-F238E27FC236}">
                <a16:creationId xmlns:a16="http://schemas.microsoft.com/office/drawing/2014/main" id="{409B34AC-3F74-28A6-D4FD-2B32FB3E4BE2}"/>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F93E8509-1065-8288-1FD9-F9393EE96684}"/>
              </a:ext>
            </a:extLst>
          </p:cNvPr>
          <p:cNvSpPr/>
          <p:nvPr/>
        </p:nvSpPr>
        <p:spPr>
          <a:xfrm>
            <a:off x="324956" y="614121"/>
            <a:ext cx="6909562" cy="436321"/>
          </a:xfrm>
          <a:prstGeom prst="rect">
            <a:avLst/>
          </a:prstGeom>
          <a:noFill/>
          <a:ln/>
        </p:spPr>
        <p:txBody>
          <a:bodyPr wrap="square" rtlCol="0" anchor="ctr"/>
          <a:lstStyle/>
          <a:p>
            <a:r>
              <a:rPr lang="en-US" sz="1600" b="1" dirty="0" err="1">
                <a:solidFill>
                  <a:srgbClr val="F2545B"/>
                </a:solidFill>
                <a:latin typeface="Cambria" pitchFamily="34" charset="0"/>
                <a:ea typeface="Cambria" pitchFamily="34" charset="-122"/>
                <a:cs typeface="Cambria" pitchFamily="34" charset="-120"/>
              </a:rPr>
              <a:t>Visualisasi</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Sebaran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Penjualan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Berdasarkan</a:t>
            </a:r>
            <a:r>
              <a:rPr lang="en-US" sz="1600" b="1" dirty="0">
                <a:solidFill>
                  <a:srgbClr val="F2545B"/>
                </a:solidFill>
                <a:latin typeface="Cambria" pitchFamily="34" charset="0"/>
                <a:ea typeface="Cambria" pitchFamily="34" charset="-122"/>
                <a:cs typeface="Cambria" pitchFamily="34" charset="-120"/>
              </a:rPr>
              <a:t> Masing-masing </a:t>
            </a:r>
            <a:r>
              <a:rPr lang="en-US" sz="1600" b="1" dirty="0" err="1">
                <a:solidFill>
                  <a:srgbClr val="F2545B"/>
                </a:solidFill>
                <a:latin typeface="Cambria" pitchFamily="34" charset="0"/>
                <a:ea typeface="Cambria" pitchFamily="34" charset="-122"/>
                <a:cs typeface="Cambria" pitchFamily="34" charset="-120"/>
              </a:rPr>
              <a:t>Tipe</a:t>
            </a:r>
            <a:r>
              <a:rPr lang="en-US" sz="1600" b="1" dirty="0">
                <a:solidFill>
                  <a:srgbClr val="F2545B"/>
                </a:solidFill>
                <a:latin typeface="Cambria" pitchFamily="34" charset="0"/>
                <a:ea typeface="Cambria" pitchFamily="34" charset="-122"/>
                <a:cs typeface="Cambria" pitchFamily="34" charset="-120"/>
              </a:rPr>
              <a:t> Outlet</a:t>
            </a:r>
            <a:endParaRPr lang="en-US" sz="1600" dirty="0"/>
          </a:p>
        </p:txBody>
      </p:sp>
      <p:sp>
        <p:nvSpPr>
          <p:cNvPr id="17" name="Shape 5">
            <a:extLst>
              <a:ext uri="{FF2B5EF4-FFF2-40B4-BE49-F238E27FC236}">
                <a16:creationId xmlns:a16="http://schemas.microsoft.com/office/drawing/2014/main" id="{A8BE3158-E171-3BFC-99A6-5A3EC4532305}"/>
              </a:ext>
            </a:extLst>
          </p:cNvPr>
          <p:cNvSpPr/>
          <p:nvPr/>
        </p:nvSpPr>
        <p:spPr>
          <a:xfrm>
            <a:off x="0" y="5129295"/>
            <a:ext cx="11835333" cy="158688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AF73C389-01F9-8DDC-E9DA-09066508CEB3}"/>
              </a:ext>
            </a:extLst>
          </p:cNvPr>
          <p:cNvSpPr/>
          <p:nvPr/>
        </p:nvSpPr>
        <p:spPr>
          <a:xfrm>
            <a:off x="111827" y="5115018"/>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21" name="Text 8">
            <a:extLst>
              <a:ext uri="{FF2B5EF4-FFF2-40B4-BE49-F238E27FC236}">
                <a16:creationId xmlns:a16="http://schemas.microsoft.com/office/drawing/2014/main" id="{CA9E4D33-4890-79BF-01F9-2EBDD4171123}"/>
              </a:ext>
            </a:extLst>
          </p:cNvPr>
          <p:cNvSpPr/>
          <p:nvPr/>
        </p:nvSpPr>
        <p:spPr>
          <a:xfrm>
            <a:off x="111827" y="5476469"/>
            <a:ext cx="11622668" cy="1239709"/>
          </a:xfrm>
          <a:prstGeom prst="rect">
            <a:avLst/>
          </a:prstGeom>
          <a:noFill/>
          <a:ln/>
        </p:spPr>
        <p:txBody>
          <a:bodyPr wrap="square" rtlCol="0" anchor="t"/>
          <a:lstStyle/>
          <a:p>
            <a:pPr>
              <a:lnSpc>
                <a:spcPts val="1400"/>
              </a:lnSpc>
            </a:pP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Pemisahan</a:t>
            </a:r>
            <a:r>
              <a:rPr lang="en-US" sz="1600" dirty="0">
                <a:solidFill>
                  <a:srgbClr val="444444"/>
                </a:solidFill>
                <a:latin typeface="Calibri" pitchFamily="34" charset="0"/>
                <a:ea typeface="Calibri" pitchFamily="34" charset="-122"/>
                <a:cs typeface="Calibri" pitchFamily="34" charset="-120"/>
              </a:rPr>
              <a:t> panel </a:t>
            </a:r>
            <a:r>
              <a:rPr lang="en-US" sz="1600" dirty="0" err="1">
                <a:solidFill>
                  <a:srgbClr val="444444"/>
                </a:solidFill>
                <a:latin typeface="Calibri" pitchFamily="34" charset="0"/>
                <a:ea typeface="Calibri" pitchFamily="34" charset="-122"/>
                <a:cs typeface="Calibri" pitchFamily="34" charset="-120"/>
              </a:rPr>
              <a:t>ini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membuktikan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secara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mutlak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bahwa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tipe</a:t>
            </a:r>
            <a:r>
              <a:rPr lang="en-US" sz="1600" dirty="0">
                <a:solidFill>
                  <a:srgbClr val="444444"/>
                </a:solidFill>
                <a:latin typeface="Calibri" pitchFamily="34" charset="0"/>
                <a:ea typeface="Calibri" pitchFamily="34" charset="-122"/>
                <a:cs typeface="Calibri" pitchFamily="34" charset="-120"/>
              </a:rPr>
              <a:t> outlet </a:t>
            </a:r>
            <a:r>
              <a:rPr lang="en-US" sz="1600" dirty="0" err="1">
                <a:solidFill>
                  <a:srgbClr val="444444"/>
                </a:solidFill>
                <a:latin typeface="Calibri" pitchFamily="34" charset="0"/>
                <a:ea typeface="Calibri" pitchFamily="34" charset="-122"/>
                <a:cs typeface="Calibri" pitchFamily="34" charset="-120"/>
              </a:rPr>
              <a:t>adalah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pembeda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performa</a:t>
            </a:r>
            <a:r>
              <a:rPr lang="en-US" sz="1600" dirty="0">
                <a:solidFill>
                  <a:srgbClr val="444444"/>
                </a:solidFill>
                <a:latin typeface="Calibri" pitchFamily="34" charset="0"/>
                <a:ea typeface="Calibri" pitchFamily="34" charset="-122"/>
                <a:cs typeface="Calibri" pitchFamily="34" charset="-120"/>
              </a:rPr>
              <a:t> yang sangat </a:t>
            </a:r>
            <a:r>
              <a:rPr lang="en-US" sz="1600" dirty="0" err="1">
                <a:solidFill>
                  <a:srgbClr val="444444"/>
                </a:solidFill>
                <a:latin typeface="Calibri" pitchFamily="34" charset="0"/>
                <a:ea typeface="Calibri" pitchFamily="34" charset="-122"/>
                <a:cs typeface="Calibri" pitchFamily="34" charset="-120"/>
              </a:rPr>
              <a:t>ekstrem</a:t>
            </a:r>
            <a:r>
              <a:rPr lang="en-US" sz="1600" dirty="0">
                <a:solidFill>
                  <a:srgbClr val="444444"/>
                </a:solidFill>
                <a:latin typeface="Calibri" pitchFamily="34" charset="0"/>
                <a:ea typeface="Calibri" pitchFamily="34" charset="-122"/>
                <a:cs typeface="Calibri" pitchFamily="34" charset="-120"/>
              </a:rPr>
              <a:t>. Jika </a:t>
            </a:r>
            <a:r>
              <a:rPr lang="en-US" sz="1600" dirty="0" err="1">
                <a:solidFill>
                  <a:srgbClr val="444444"/>
                </a:solidFill>
                <a:latin typeface="Calibri" pitchFamily="34" charset="0"/>
                <a:ea typeface="Calibri" pitchFamily="34" charset="-122"/>
                <a:cs typeface="Calibri" pitchFamily="34" charset="-120"/>
              </a:rPr>
              <a:t>sebelumnya</a:t>
            </a:r>
            <a:r>
              <a:rPr lang="en-US" sz="1600" dirty="0">
                <a:solidFill>
                  <a:srgbClr val="444444"/>
                </a:solidFill>
                <a:latin typeface="Calibri" pitchFamily="34" charset="0"/>
                <a:ea typeface="Calibri" pitchFamily="34" charset="-122"/>
                <a:cs typeface="Calibri" pitchFamily="34" charset="-120"/>
              </a:rPr>
              <a:t> pada </a:t>
            </a:r>
            <a:r>
              <a:rPr lang="en-US" sz="1600" dirty="0" err="1">
                <a:solidFill>
                  <a:srgbClr val="444444"/>
                </a:solidFill>
                <a:latin typeface="Calibri" pitchFamily="34" charset="0"/>
                <a:ea typeface="Calibri" pitchFamily="34" charset="-122"/>
                <a:cs typeface="Calibri" pitchFamily="34" charset="-120"/>
              </a:rPr>
              <a:t>grafik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gabungan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titik-titiknya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tampak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menumpuk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pemecahan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memperjelas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mengapa</a:t>
            </a:r>
            <a:r>
              <a:rPr lang="en-US" sz="1600" dirty="0">
                <a:solidFill>
                  <a:srgbClr val="444444"/>
                </a:solidFill>
                <a:latin typeface="Calibri" pitchFamily="34" charset="0"/>
                <a:ea typeface="Calibri" pitchFamily="34" charset="-122"/>
                <a:cs typeface="Calibri" pitchFamily="34" charset="-120"/>
              </a:rPr>
              <a:t> Supermarket Type 3 </a:t>
            </a:r>
            <a:r>
              <a:rPr lang="en-US" sz="1600" dirty="0" err="1">
                <a:solidFill>
                  <a:srgbClr val="444444"/>
                </a:solidFill>
                <a:latin typeface="Calibri" pitchFamily="34" charset="0"/>
                <a:ea typeface="Calibri" pitchFamily="34" charset="-122"/>
                <a:cs typeface="Calibri" pitchFamily="34" charset="-120"/>
              </a:rPr>
              <a:t>bisa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menghasilkan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penjualan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belasan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ribu</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sementara</a:t>
            </a:r>
            <a:r>
              <a:rPr lang="en-US" sz="1600" dirty="0">
                <a:solidFill>
                  <a:srgbClr val="444444"/>
                </a:solidFill>
                <a:latin typeface="Calibri" pitchFamily="34" charset="0"/>
                <a:ea typeface="Calibri" pitchFamily="34" charset="-122"/>
                <a:cs typeface="Calibri" pitchFamily="34" charset="-120"/>
              </a:rPr>
              <a:t> Grocery Store </a:t>
            </a:r>
            <a:r>
              <a:rPr lang="en-US" sz="1600" dirty="0" err="1">
                <a:solidFill>
                  <a:srgbClr val="444444"/>
                </a:solidFill>
                <a:latin typeface="Calibri" pitchFamily="34" charset="0"/>
                <a:ea typeface="Calibri" pitchFamily="34" charset="-122"/>
                <a:cs typeface="Calibri" pitchFamily="34" charset="-120"/>
              </a:rPr>
              <a:t>hanya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mampu</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mencetak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angka</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bawah</a:t>
            </a:r>
            <a:r>
              <a:rPr lang="en-US" sz="1600" dirty="0">
                <a:solidFill>
                  <a:srgbClr val="444444"/>
                </a:solidFill>
                <a:latin typeface="Calibri" pitchFamily="34" charset="0"/>
                <a:ea typeface="Calibri" pitchFamily="34" charset="-122"/>
                <a:cs typeface="Calibri" pitchFamily="34" charset="-120"/>
              </a:rPr>
              <a:t> 2.000.</a:t>
            </a:r>
          </a:p>
        </p:txBody>
      </p:sp>
      <p:pic>
        <p:nvPicPr>
          <p:cNvPr id="5" name="Picture 4">
            <a:extLst>
              <a:ext uri="{FF2B5EF4-FFF2-40B4-BE49-F238E27FC236}">
                <a16:creationId xmlns:a16="http://schemas.microsoft.com/office/drawing/2014/main" id="{8DD726BB-C85B-27E3-BC91-1A3643CDA239}"/>
              </a:ext>
            </a:extLst>
          </p:cNvPr>
          <p:cNvPicPr>
            <a:picLocks noChangeAspect="1"/>
          </p:cNvPicPr>
          <p:nvPr/>
        </p:nvPicPr>
        <p:blipFill>
          <a:blip r:embed="rId3"/>
          <a:stretch>
            <a:fillRect/>
          </a:stretch>
        </p:blipFill>
        <p:spPr>
          <a:xfrm>
            <a:off x="2302609" y="1037635"/>
            <a:ext cx="6887536" cy="3934374"/>
          </a:xfrm>
          <a:prstGeom prst="rect">
            <a:avLst/>
          </a:prstGeom>
        </p:spPr>
      </p:pic>
    </p:spTree>
    <p:extLst>
      <p:ext uri="{BB962C8B-B14F-4D97-AF65-F5344CB8AC3E}">
        <p14:creationId xmlns:p14="http://schemas.microsoft.com/office/powerpoint/2010/main" val="2709631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10D9F-176B-2E5A-8D2B-C674751B35DB}"/>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1A2FF3C9-E7AB-DD9E-001F-0407F62EA680}"/>
              </a:ext>
            </a:extLst>
          </p:cNvPr>
          <p:cNvSpPr/>
          <p:nvPr/>
        </p:nvSpPr>
        <p:spPr>
          <a:xfrm>
            <a:off x="-157547" y="-43098"/>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36896827-A107-DF5A-04F9-796CDDBFF628}"/>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Manipulation</a:t>
            </a:r>
            <a:endParaRPr lang="en-US" sz="2800" dirty="0"/>
          </a:p>
        </p:txBody>
      </p:sp>
      <p:sp>
        <p:nvSpPr>
          <p:cNvPr id="29" name="Text 26">
            <a:extLst>
              <a:ext uri="{FF2B5EF4-FFF2-40B4-BE49-F238E27FC236}">
                <a16:creationId xmlns:a16="http://schemas.microsoft.com/office/drawing/2014/main" id="{8C59EA19-9208-C8BE-69BC-DC65E279E9F2}"/>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15D09418-BE16-B721-752B-45307AD69490}"/>
              </a:ext>
            </a:extLst>
          </p:cNvPr>
          <p:cNvSpPr/>
          <p:nvPr/>
        </p:nvSpPr>
        <p:spPr>
          <a:xfrm>
            <a:off x="324956" y="614121"/>
            <a:ext cx="6909562" cy="436321"/>
          </a:xfrm>
          <a:prstGeom prst="rect">
            <a:avLst/>
          </a:prstGeom>
          <a:noFill/>
          <a:ln/>
        </p:spPr>
        <p:txBody>
          <a:bodyPr wrap="square" rtlCol="0" anchor="ctr"/>
          <a:lstStyle/>
          <a:p>
            <a:r>
              <a:rPr lang="sv-SE" sz="1600" b="1" dirty="0">
                <a:solidFill>
                  <a:srgbClr val="F2545B"/>
                </a:solidFill>
                <a:latin typeface="Cambria" pitchFamily="34" charset="0"/>
                <a:ea typeface="Cambria" pitchFamily="34" charset="-122"/>
                <a:cs typeface="Cambria" pitchFamily="34" charset="-120"/>
              </a:rPr>
              <a:t>Visualisasi Rata-rata omzet Berdasarkan Kategori Produk</a:t>
            </a:r>
            <a:endParaRPr lang="en-US" sz="1600" dirty="0"/>
          </a:p>
        </p:txBody>
      </p:sp>
      <p:sp>
        <p:nvSpPr>
          <p:cNvPr id="17" name="Shape 5">
            <a:extLst>
              <a:ext uri="{FF2B5EF4-FFF2-40B4-BE49-F238E27FC236}">
                <a16:creationId xmlns:a16="http://schemas.microsoft.com/office/drawing/2014/main" id="{6FB7E5F8-6EF3-3E75-B297-AAB88BE6F339}"/>
              </a:ext>
            </a:extLst>
          </p:cNvPr>
          <p:cNvSpPr/>
          <p:nvPr/>
        </p:nvSpPr>
        <p:spPr>
          <a:xfrm>
            <a:off x="0" y="5129295"/>
            <a:ext cx="11835333" cy="158688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79C74A09-5FBD-4EE3-EA8C-BF72C9095E1D}"/>
              </a:ext>
            </a:extLst>
          </p:cNvPr>
          <p:cNvSpPr/>
          <p:nvPr/>
        </p:nvSpPr>
        <p:spPr>
          <a:xfrm>
            <a:off x="111827" y="5115018"/>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21" name="Text 8">
            <a:extLst>
              <a:ext uri="{FF2B5EF4-FFF2-40B4-BE49-F238E27FC236}">
                <a16:creationId xmlns:a16="http://schemas.microsoft.com/office/drawing/2014/main" id="{0CA0DB6F-F512-6581-2DCC-6A69AF9B3028}"/>
              </a:ext>
            </a:extLst>
          </p:cNvPr>
          <p:cNvSpPr/>
          <p:nvPr/>
        </p:nvSpPr>
        <p:spPr>
          <a:xfrm>
            <a:off x="111827" y="5476469"/>
            <a:ext cx="11622668" cy="1239709"/>
          </a:xfrm>
          <a:prstGeom prst="rect">
            <a:avLst/>
          </a:prstGeom>
          <a:noFill/>
          <a:ln/>
        </p:spPr>
        <p:txBody>
          <a:bodyPr wrap="square" rtlCol="0" anchor="t"/>
          <a:lstStyle/>
          <a:p>
            <a:r>
              <a:rPr lang="en-US" sz="1600" dirty="0" err="1">
                <a:solidFill>
                  <a:srgbClr val="444444"/>
                </a:solidFill>
                <a:latin typeface="Calibri" pitchFamily="34" charset="0"/>
                <a:ea typeface="Calibri" pitchFamily="34" charset="-122"/>
                <a:cs typeface="Calibri" pitchFamily="34" charset="-120"/>
              </a:rPr>
              <a:t>Secara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keseluruhan</a:t>
            </a:r>
            <a:r>
              <a:rPr lang="en-US" sz="1600" dirty="0">
                <a:solidFill>
                  <a:srgbClr val="444444"/>
                </a:solidFill>
                <a:latin typeface="Calibri" pitchFamily="34" charset="0"/>
                <a:ea typeface="Calibri" pitchFamily="34" charset="-122"/>
                <a:cs typeface="Calibri" pitchFamily="34" charset="-120"/>
              </a:rPr>
              <a:t>, rata-rata </a:t>
            </a:r>
            <a:r>
              <a:rPr lang="en-US" sz="1600" dirty="0" err="1">
                <a:solidFill>
                  <a:srgbClr val="444444"/>
                </a:solidFill>
                <a:latin typeface="Calibri" pitchFamily="34" charset="0"/>
                <a:ea typeface="Calibri" pitchFamily="34" charset="-122"/>
                <a:cs typeface="Calibri" pitchFamily="34" charset="-120"/>
              </a:rPr>
              <a:t>omzet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tiap</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kategori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produk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cenderung</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stabil</a:t>
            </a:r>
            <a:r>
              <a:rPr lang="en-US" sz="1600" dirty="0">
                <a:solidFill>
                  <a:srgbClr val="444444"/>
                </a:solidFill>
                <a:latin typeface="Calibri" pitchFamily="34" charset="0"/>
                <a:ea typeface="Calibri" pitchFamily="34" charset="-122"/>
                <a:cs typeface="Calibri" pitchFamily="34" charset="-120"/>
              </a:rPr>
              <a:t> dan </a:t>
            </a:r>
            <a:r>
              <a:rPr lang="en-US" sz="1600" dirty="0" err="1">
                <a:solidFill>
                  <a:srgbClr val="444444"/>
                </a:solidFill>
                <a:latin typeface="Calibri" pitchFamily="34" charset="0"/>
                <a:ea typeface="Calibri" pitchFamily="34" charset="-122"/>
                <a:cs typeface="Calibri" pitchFamily="34" charset="-120"/>
              </a:rPr>
              <a:t>membentuk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kurva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landai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dengan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selisih</a:t>
            </a:r>
            <a:r>
              <a:rPr lang="en-US" sz="1600" dirty="0">
                <a:solidFill>
                  <a:srgbClr val="444444"/>
                </a:solidFill>
                <a:latin typeface="Calibri" pitchFamily="34" charset="0"/>
                <a:ea typeface="Calibri" pitchFamily="34" charset="-122"/>
                <a:cs typeface="Calibri" pitchFamily="34" charset="-120"/>
              </a:rPr>
              <a:t> yang sangat tipis (~1.900 </a:t>
            </a:r>
            <a:r>
              <a:rPr lang="en-US" sz="1600" dirty="0" err="1">
                <a:solidFill>
                  <a:srgbClr val="444444"/>
                </a:solidFill>
                <a:latin typeface="Calibri" pitchFamily="34" charset="0"/>
                <a:ea typeface="Calibri" pitchFamily="34" charset="-122"/>
                <a:cs typeface="Calibri" pitchFamily="34" charset="-120"/>
              </a:rPr>
              <a:t>hingga</a:t>
            </a:r>
            <a:r>
              <a:rPr lang="en-US" sz="1600" dirty="0">
                <a:solidFill>
                  <a:srgbClr val="444444"/>
                </a:solidFill>
                <a:latin typeface="Calibri" pitchFamily="34" charset="0"/>
                <a:ea typeface="Calibri" pitchFamily="34" charset="-122"/>
                <a:cs typeface="Calibri" pitchFamily="34" charset="-120"/>
              </a:rPr>
              <a:t> 2.350). </a:t>
            </a:r>
            <a:r>
              <a:rPr lang="en-US" sz="1600" dirty="0" err="1">
                <a:solidFill>
                  <a:srgbClr val="444444"/>
                </a:solidFill>
                <a:latin typeface="Calibri" pitchFamily="34" charset="0"/>
                <a:ea typeface="Calibri" pitchFamily="34" charset="-122"/>
                <a:cs typeface="Calibri" pitchFamily="34" charset="-120"/>
              </a:rPr>
              <a:t>Kategori</a:t>
            </a:r>
            <a:r>
              <a:rPr lang="en-US" sz="1600" dirty="0">
                <a:solidFill>
                  <a:srgbClr val="444444"/>
                </a:solidFill>
                <a:latin typeface="Calibri" pitchFamily="34" charset="0"/>
                <a:ea typeface="Calibri" pitchFamily="34" charset="-122"/>
                <a:cs typeface="Calibri" pitchFamily="34" charset="-120"/>
              </a:rPr>
              <a:t> Starchy Foods, Seafood, Fruits and Vegetables, </a:t>
            </a:r>
            <a:r>
              <a:rPr lang="en-US" sz="1600" dirty="0" err="1">
                <a:solidFill>
                  <a:srgbClr val="444444"/>
                </a:solidFill>
                <a:latin typeface="Calibri" pitchFamily="34" charset="0"/>
                <a:ea typeface="Calibri" pitchFamily="34" charset="-122"/>
                <a:cs typeface="Calibri" pitchFamily="34" charset="-120"/>
              </a:rPr>
              <a:t>serta</a:t>
            </a:r>
            <a:r>
              <a:rPr lang="en-US" sz="1600" dirty="0">
                <a:solidFill>
                  <a:srgbClr val="444444"/>
                </a:solidFill>
                <a:latin typeface="Calibri" pitchFamily="34" charset="0"/>
                <a:ea typeface="Calibri" pitchFamily="34" charset="-122"/>
                <a:cs typeface="Calibri" pitchFamily="34" charset="-120"/>
              </a:rPr>
              <a:t> Snack Foods </a:t>
            </a:r>
            <a:r>
              <a:rPr lang="en-US" sz="1600" dirty="0" err="1">
                <a:solidFill>
                  <a:srgbClr val="444444"/>
                </a:solidFill>
                <a:latin typeface="Calibri" pitchFamily="34" charset="0"/>
                <a:ea typeface="Calibri" pitchFamily="34" charset="-122"/>
                <a:cs typeface="Calibri" pitchFamily="34" charset="-120"/>
              </a:rPr>
              <a:t>memimpin</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jajaran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teratas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Temuan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mengindikasikan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bahwa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konsumen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BigMart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berbelanja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secara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merata</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berbagai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lini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produk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sehingga</a:t>
            </a:r>
            <a:r>
              <a:rPr lang="en-US" sz="1600" dirty="0">
                <a:solidFill>
                  <a:srgbClr val="444444"/>
                </a:solidFill>
                <a:latin typeface="Calibri" pitchFamily="34" charset="0"/>
                <a:ea typeface="Calibri" pitchFamily="34" charset="-122"/>
                <a:cs typeface="Calibri" pitchFamily="34" charset="-120"/>
              </a:rPr>
              <a:t> strategi </a:t>
            </a:r>
            <a:r>
              <a:rPr lang="en-US" sz="1600" dirty="0" err="1">
                <a:solidFill>
                  <a:srgbClr val="444444"/>
                </a:solidFill>
                <a:latin typeface="Calibri" pitchFamily="34" charset="0"/>
                <a:ea typeface="Calibri" pitchFamily="34" charset="-122"/>
                <a:cs typeface="Calibri" pitchFamily="34" charset="-120"/>
              </a:rPr>
              <a:t>ritel</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harus</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fokus</a:t>
            </a:r>
            <a:r>
              <a:rPr lang="en-US" sz="1600" dirty="0">
                <a:solidFill>
                  <a:srgbClr val="444444"/>
                </a:solidFill>
                <a:latin typeface="Calibri" pitchFamily="34" charset="0"/>
                <a:ea typeface="Calibri" pitchFamily="34" charset="-122"/>
                <a:cs typeface="Calibri" pitchFamily="34" charset="-120"/>
              </a:rPr>
              <a:t> pada </a:t>
            </a:r>
            <a:r>
              <a:rPr lang="en-US" sz="1600" dirty="0" err="1">
                <a:solidFill>
                  <a:srgbClr val="444444"/>
                </a:solidFill>
                <a:latin typeface="Calibri" pitchFamily="34" charset="0"/>
                <a:ea typeface="Calibri" pitchFamily="34" charset="-122"/>
                <a:cs typeface="Calibri" pitchFamily="34" charset="-120"/>
              </a:rPr>
              <a:t>ketersediaan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stok</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konsisten</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semua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kategori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bukan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hanya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mengandalkan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produk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tertentu</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saja</a:t>
            </a:r>
            <a:endParaRPr lang="en-US" sz="1600" dirty="0">
              <a:solidFill>
                <a:srgbClr val="444444"/>
              </a:solidFill>
              <a:latin typeface="Calibri" pitchFamily="34" charset="0"/>
              <a:ea typeface="Calibri" pitchFamily="34" charset="-122"/>
              <a:cs typeface="Calibri" pitchFamily="34" charset="-120"/>
            </a:endParaRPr>
          </a:p>
        </p:txBody>
      </p:sp>
      <p:pic>
        <p:nvPicPr>
          <p:cNvPr id="4" name="Picture 3">
            <a:extLst>
              <a:ext uri="{FF2B5EF4-FFF2-40B4-BE49-F238E27FC236}">
                <a16:creationId xmlns:a16="http://schemas.microsoft.com/office/drawing/2014/main" id="{44256FD6-7B0E-48E8-A026-B5AD8E1719F1}"/>
              </a:ext>
            </a:extLst>
          </p:cNvPr>
          <p:cNvPicPr>
            <a:picLocks noChangeAspect="1"/>
          </p:cNvPicPr>
          <p:nvPr/>
        </p:nvPicPr>
        <p:blipFill>
          <a:blip r:embed="rId3"/>
          <a:stretch>
            <a:fillRect/>
          </a:stretch>
        </p:blipFill>
        <p:spPr>
          <a:xfrm>
            <a:off x="1250467" y="1028322"/>
            <a:ext cx="8072630" cy="4036315"/>
          </a:xfrm>
          <a:prstGeom prst="rect">
            <a:avLst/>
          </a:prstGeom>
        </p:spPr>
      </p:pic>
    </p:spTree>
    <p:extLst>
      <p:ext uri="{BB962C8B-B14F-4D97-AF65-F5344CB8AC3E}">
        <p14:creationId xmlns:p14="http://schemas.microsoft.com/office/powerpoint/2010/main" val="2027916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48640"/>
          </a:xfrm>
          <a:prstGeom prst="rect">
            <a:avLst/>
          </a:prstGeom>
          <a:noFill/>
          <a:ln/>
        </p:spPr>
        <p:txBody>
          <a:bodyPr wrap="square" rtlCol="0" anchor="ctr"/>
          <a:lstStyle/>
          <a:p>
            <a:pPr marL="0" indent="0" algn="ctr">
              <a:buNone/>
            </a:pPr>
            <a:r>
              <a:rPr lang="en-US" sz="2800" b="1" dirty="0">
                <a:solidFill>
                  <a:srgbClr val="1E2761"/>
                </a:solidFill>
                <a:latin typeface="Cambria" pitchFamily="34" charset="0"/>
                <a:ea typeface="Cambria" pitchFamily="34" charset="-122"/>
                <a:cs typeface="Cambria" pitchFamily="34" charset="-120"/>
              </a:rPr>
              <a:t>Hasil Analisa</a:t>
            </a:r>
            <a:endParaRPr lang="en-US" sz="2800" dirty="0"/>
          </a:p>
        </p:txBody>
      </p:sp>
      <p:sp>
        <p:nvSpPr>
          <p:cNvPr id="3" name="Shape 1"/>
          <p:cNvSpPr/>
          <p:nvPr/>
        </p:nvSpPr>
        <p:spPr>
          <a:xfrm>
            <a:off x="548640" y="987552"/>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4" name="Shape 2"/>
          <p:cNvSpPr/>
          <p:nvPr/>
        </p:nvSpPr>
        <p:spPr>
          <a:xfrm>
            <a:off x="890397" y="1151001"/>
            <a:ext cx="502920" cy="502920"/>
          </a:xfrm>
          <a:prstGeom prst="ellipse">
            <a:avLst/>
          </a:prstGeom>
          <a:solidFill>
            <a:srgbClr val="2E9E6D"/>
          </a:solidFill>
          <a:ln/>
        </p:spPr>
      </p:sp>
      <p:pic>
        <p:nvPicPr>
          <p:cNvPr id="5" name="Image 0" descr="icon_check.png"/>
          <p:cNvPicPr>
            <a:picLocks noChangeAspect="1"/>
          </p:cNvPicPr>
          <p:nvPr/>
        </p:nvPicPr>
        <p:blipFill>
          <a:blip r:embed="rId3"/>
          <a:stretch>
            <a:fillRect/>
          </a:stretch>
        </p:blipFill>
        <p:spPr>
          <a:xfrm>
            <a:off x="1003554" y="1264158"/>
            <a:ext cx="276606" cy="276606"/>
          </a:xfrm>
          <a:prstGeom prst="rect">
            <a:avLst/>
          </a:prstGeom>
        </p:spPr>
      </p:pic>
      <p:sp>
        <p:nvSpPr>
          <p:cNvPr id="6" name="Text 3"/>
          <p:cNvSpPr/>
          <p:nvPr/>
        </p:nvSpPr>
        <p:spPr>
          <a:xfrm>
            <a:off x="1417319" y="1170432"/>
            <a:ext cx="8832797" cy="435483"/>
          </a:xfrm>
          <a:prstGeom prst="rect">
            <a:avLst/>
          </a:prstGeom>
          <a:noFill/>
          <a:ln/>
        </p:spPr>
        <p:txBody>
          <a:bodyPr wrap="square" rtlCol="0" anchor="t"/>
          <a:lstStyle/>
          <a:p>
            <a:pPr marL="0" indent="0">
              <a:buNone/>
            </a:pPr>
            <a:r>
              <a:rPr lang="en-US" b="1" dirty="0" err="1">
                <a:solidFill>
                  <a:srgbClr val="1E2761"/>
                </a:solidFill>
                <a:latin typeface="Cambria" pitchFamily="34" charset="0"/>
                <a:ea typeface="Cambria" pitchFamily="34" charset="-122"/>
                <a:cs typeface="Cambria" pitchFamily="34" charset="-120"/>
              </a:rPr>
              <a:t>Korelasi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Positif</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antara</a:t>
            </a:r>
            <a:r>
              <a:rPr lang="en-US" b="1" dirty="0">
                <a:solidFill>
                  <a:srgbClr val="1E2761"/>
                </a:solidFill>
                <a:latin typeface="Cambria" pitchFamily="34" charset="0"/>
                <a:ea typeface="Cambria" pitchFamily="34" charset="-122"/>
                <a:cs typeface="Cambria" pitchFamily="34" charset="-120"/>
              </a:rPr>
              <a:t> Harga </a:t>
            </a:r>
            <a:r>
              <a:rPr lang="en-US" b="1" dirty="0" err="1">
                <a:solidFill>
                  <a:srgbClr val="1E2761"/>
                </a:solidFill>
                <a:latin typeface="Cambria" pitchFamily="34" charset="0"/>
                <a:ea typeface="Cambria" pitchFamily="34" charset="-122"/>
                <a:cs typeface="Cambria" pitchFamily="34" charset="-120"/>
              </a:rPr>
              <a:t>Produk</a:t>
            </a:r>
            <a:r>
              <a:rPr lang="en-US" b="1" dirty="0">
                <a:solidFill>
                  <a:srgbClr val="1E2761"/>
                </a:solidFill>
                <a:latin typeface="Cambria" pitchFamily="34" charset="0"/>
                <a:ea typeface="Cambria" pitchFamily="34" charset="-122"/>
                <a:cs typeface="Cambria" pitchFamily="34" charset="-120"/>
              </a:rPr>
              <a:t> dan </a:t>
            </a:r>
            <a:r>
              <a:rPr lang="en-US" b="1" dirty="0" err="1">
                <a:solidFill>
                  <a:srgbClr val="1E2761"/>
                </a:solidFill>
                <a:latin typeface="Cambria" pitchFamily="34" charset="0"/>
                <a:ea typeface="Cambria" pitchFamily="34" charset="-122"/>
                <a:cs typeface="Cambria" pitchFamily="34" charset="-120"/>
              </a:rPr>
              <a:t>Potensi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Pendapatan</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Penjualan</a:t>
            </a:r>
            <a:endParaRPr lang="en-US" dirty="0"/>
          </a:p>
        </p:txBody>
      </p:sp>
      <p:sp>
        <p:nvSpPr>
          <p:cNvPr id="7" name="Text 4"/>
          <p:cNvSpPr/>
          <p:nvPr/>
        </p:nvSpPr>
        <p:spPr>
          <a:xfrm>
            <a:off x="777240" y="1828800"/>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Analisis awal menunjukkan adanya hubungan linier positif antara harga eceran produk (Item_MRP) dengan total pendapatan penjualan. Semakin tinggi harga suatu produk, semakin besar pula potensi batas maksimal omzet yang dapat dihasilkan oleh sistem penjualan.</a:t>
            </a:r>
            <a:endParaRPr lang="en-US" sz="1400" dirty="0"/>
          </a:p>
        </p:txBody>
      </p:sp>
      <p:sp>
        <p:nvSpPr>
          <p:cNvPr id="22" name="Shape 17"/>
          <p:cNvSpPr/>
          <p:nvPr/>
        </p:nvSpPr>
        <p:spPr>
          <a:xfrm>
            <a:off x="777240" y="4983480"/>
            <a:ext cx="4983480" cy="640080"/>
          </a:xfrm>
          <a:prstGeom prst="roundRect">
            <a:avLst>
              <a:gd name="adj" fmla="val 8571"/>
            </a:avLst>
          </a:prstGeom>
          <a:solidFill>
            <a:srgbClr val="F5F7FC"/>
          </a:solidFill>
          <a:ln/>
        </p:spPr>
      </p:sp>
      <p:sp>
        <p:nvSpPr>
          <p:cNvPr id="32" name="Text 26"/>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11</a:t>
            </a:r>
            <a:endParaRPr lang="en-US" sz="850" dirty="0"/>
          </a:p>
        </p:txBody>
      </p:sp>
      <p:sp>
        <p:nvSpPr>
          <p:cNvPr id="25" name="Shape 1">
            <a:extLst>
              <a:ext uri="{FF2B5EF4-FFF2-40B4-BE49-F238E27FC236}">
                <a16:creationId xmlns:a16="http://schemas.microsoft.com/office/drawing/2014/main" id="{1F9B6F2B-E319-38A6-F2D8-F3C432EF8AAC}"/>
              </a:ext>
            </a:extLst>
          </p:cNvPr>
          <p:cNvSpPr/>
          <p:nvPr/>
        </p:nvSpPr>
        <p:spPr>
          <a:xfrm>
            <a:off x="548640" y="2739636"/>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7" name="Shape 2">
            <a:extLst>
              <a:ext uri="{FF2B5EF4-FFF2-40B4-BE49-F238E27FC236}">
                <a16:creationId xmlns:a16="http://schemas.microsoft.com/office/drawing/2014/main" id="{48B01CDC-5B81-CA19-FB0D-A745FA40EB20}"/>
              </a:ext>
            </a:extLst>
          </p:cNvPr>
          <p:cNvSpPr/>
          <p:nvPr/>
        </p:nvSpPr>
        <p:spPr>
          <a:xfrm>
            <a:off x="890397" y="2903085"/>
            <a:ext cx="502920" cy="502920"/>
          </a:xfrm>
          <a:prstGeom prst="ellipse">
            <a:avLst/>
          </a:prstGeom>
          <a:solidFill>
            <a:srgbClr val="2E9E6D"/>
          </a:solidFill>
          <a:ln/>
        </p:spPr>
      </p:sp>
      <p:pic>
        <p:nvPicPr>
          <p:cNvPr id="30" name="Image 0" descr="icon_check.png">
            <a:extLst>
              <a:ext uri="{FF2B5EF4-FFF2-40B4-BE49-F238E27FC236}">
                <a16:creationId xmlns:a16="http://schemas.microsoft.com/office/drawing/2014/main" id="{7FDBB12F-19D1-B28E-156F-9A51F3481FCC}"/>
              </a:ext>
            </a:extLst>
          </p:cNvPr>
          <p:cNvPicPr>
            <a:picLocks noChangeAspect="1"/>
          </p:cNvPicPr>
          <p:nvPr/>
        </p:nvPicPr>
        <p:blipFill>
          <a:blip r:embed="rId3"/>
          <a:stretch>
            <a:fillRect/>
          </a:stretch>
        </p:blipFill>
        <p:spPr>
          <a:xfrm>
            <a:off x="1003554" y="3016242"/>
            <a:ext cx="276606" cy="276606"/>
          </a:xfrm>
          <a:prstGeom prst="rect">
            <a:avLst/>
          </a:prstGeom>
        </p:spPr>
      </p:pic>
      <p:sp>
        <p:nvSpPr>
          <p:cNvPr id="33" name="Text 3">
            <a:extLst>
              <a:ext uri="{FF2B5EF4-FFF2-40B4-BE49-F238E27FC236}">
                <a16:creationId xmlns:a16="http://schemas.microsoft.com/office/drawing/2014/main" id="{D220B63E-FAF5-69DE-C5FC-EC35DD67F415}"/>
              </a:ext>
            </a:extLst>
          </p:cNvPr>
          <p:cNvSpPr/>
          <p:nvPr/>
        </p:nvSpPr>
        <p:spPr>
          <a:xfrm>
            <a:off x="1417319" y="2922516"/>
            <a:ext cx="8832797" cy="435483"/>
          </a:xfrm>
          <a:prstGeom prst="rect">
            <a:avLst/>
          </a:prstGeom>
          <a:noFill/>
          <a:ln/>
        </p:spPr>
        <p:txBody>
          <a:bodyPr wrap="square" rtlCol="0" anchor="t"/>
          <a:lstStyle/>
          <a:p>
            <a:pPr marL="0" indent="0">
              <a:buNone/>
            </a:pPr>
            <a:r>
              <a:rPr lang="en-US" b="1" dirty="0" err="1">
                <a:solidFill>
                  <a:srgbClr val="1E2761"/>
                </a:solidFill>
                <a:latin typeface="Cambria" pitchFamily="34" charset="0"/>
                <a:ea typeface="Cambria" pitchFamily="34" charset="-122"/>
                <a:cs typeface="Cambria" pitchFamily="34" charset="-120"/>
              </a:rPr>
              <a:t>Tipe</a:t>
            </a:r>
            <a:r>
              <a:rPr lang="en-US" b="1" dirty="0">
                <a:solidFill>
                  <a:srgbClr val="1E2761"/>
                </a:solidFill>
                <a:latin typeface="Cambria" pitchFamily="34" charset="0"/>
                <a:ea typeface="Cambria" pitchFamily="34" charset="-122"/>
                <a:cs typeface="Cambria" pitchFamily="34" charset="-120"/>
              </a:rPr>
              <a:t> Outlet </a:t>
            </a:r>
            <a:r>
              <a:rPr lang="en-US" b="1" dirty="0" err="1">
                <a:solidFill>
                  <a:srgbClr val="1E2761"/>
                </a:solidFill>
                <a:latin typeface="Cambria" pitchFamily="34" charset="0"/>
                <a:ea typeface="Cambria" pitchFamily="34" charset="-122"/>
                <a:cs typeface="Cambria" pitchFamily="34" charset="-120"/>
              </a:rPr>
              <a:t>Merupakan</a:t>
            </a:r>
            <a:r>
              <a:rPr lang="en-US" b="1" dirty="0">
                <a:solidFill>
                  <a:srgbClr val="1E2761"/>
                </a:solidFill>
                <a:latin typeface="Cambria" pitchFamily="34" charset="0"/>
                <a:ea typeface="Cambria" pitchFamily="34" charset="-122"/>
                <a:cs typeface="Cambria" pitchFamily="34" charset="-120"/>
              </a:rPr>
              <a:t> Faktor </a:t>
            </a:r>
            <a:r>
              <a:rPr lang="en-US" b="1" dirty="0" err="1">
                <a:solidFill>
                  <a:srgbClr val="1E2761"/>
                </a:solidFill>
                <a:latin typeface="Cambria" pitchFamily="34" charset="0"/>
                <a:ea typeface="Cambria" pitchFamily="34" charset="-122"/>
                <a:cs typeface="Cambria" pitchFamily="34" charset="-120"/>
              </a:rPr>
              <a:t>Penentu</a:t>
            </a:r>
            <a:r>
              <a:rPr lang="en-US" b="1" dirty="0">
                <a:solidFill>
                  <a:srgbClr val="1E2761"/>
                </a:solidFill>
                <a:latin typeface="Cambria" pitchFamily="34" charset="0"/>
                <a:ea typeface="Cambria" pitchFamily="34" charset="-122"/>
                <a:cs typeface="Cambria" pitchFamily="34" charset="-120"/>
              </a:rPr>
              <a:t> Utama </a:t>
            </a:r>
            <a:r>
              <a:rPr lang="en-US" b="1" dirty="0" err="1">
                <a:solidFill>
                  <a:srgbClr val="1E2761"/>
                </a:solidFill>
                <a:latin typeface="Cambria" pitchFamily="34" charset="0"/>
                <a:ea typeface="Cambria" pitchFamily="34" charset="-122"/>
                <a:cs typeface="Cambria" pitchFamily="34" charset="-120"/>
              </a:rPr>
              <a:t>Variasi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Omzet</a:t>
            </a:r>
            <a:endParaRPr lang="en-US" dirty="0"/>
          </a:p>
        </p:txBody>
      </p:sp>
      <p:sp>
        <p:nvSpPr>
          <p:cNvPr id="35" name="Text 4">
            <a:extLst>
              <a:ext uri="{FF2B5EF4-FFF2-40B4-BE49-F238E27FC236}">
                <a16:creationId xmlns:a16="http://schemas.microsoft.com/office/drawing/2014/main" id="{A5A71333-B9F6-E458-BD8B-87649AFC4D79}"/>
              </a:ext>
            </a:extLst>
          </p:cNvPr>
          <p:cNvSpPr/>
          <p:nvPr/>
        </p:nvSpPr>
        <p:spPr>
          <a:xfrm>
            <a:off x="777240" y="3580884"/>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Pengujian rata-rata omzet berdasarkan kategori produk memperlihatkan selisih nilai yang rapat di kisaran angka 1.900 hingga 2.400. Hal ini membuktikan bahwa jenis barang bukanlah faktor pemicu utama yang menciptakan perbedaan omzet secara drastis di antara toko.</a:t>
            </a:r>
            <a:endParaRPr lang="en-US" sz="1400" dirty="0"/>
          </a:p>
        </p:txBody>
      </p:sp>
      <p:sp>
        <p:nvSpPr>
          <p:cNvPr id="37" name="Shape 1">
            <a:extLst>
              <a:ext uri="{FF2B5EF4-FFF2-40B4-BE49-F238E27FC236}">
                <a16:creationId xmlns:a16="http://schemas.microsoft.com/office/drawing/2014/main" id="{7B9A5D7E-E797-A456-6C75-574129D3E154}"/>
              </a:ext>
            </a:extLst>
          </p:cNvPr>
          <p:cNvSpPr/>
          <p:nvPr/>
        </p:nvSpPr>
        <p:spPr>
          <a:xfrm>
            <a:off x="548640" y="4582858"/>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39" name="Shape 2">
            <a:extLst>
              <a:ext uri="{FF2B5EF4-FFF2-40B4-BE49-F238E27FC236}">
                <a16:creationId xmlns:a16="http://schemas.microsoft.com/office/drawing/2014/main" id="{32C3CC66-2B27-7384-4681-0EA3D92C0E09}"/>
              </a:ext>
            </a:extLst>
          </p:cNvPr>
          <p:cNvSpPr/>
          <p:nvPr/>
        </p:nvSpPr>
        <p:spPr>
          <a:xfrm>
            <a:off x="890397" y="4746307"/>
            <a:ext cx="502920" cy="502920"/>
          </a:xfrm>
          <a:prstGeom prst="ellipse">
            <a:avLst/>
          </a:prstGeom>
          <a:solidFill>
            <a:srgbClr val="2E9E6D"/>
          </a:solidFill>
          <a:ln/>
        </p:spPr>
      </p:sp>
      <p:pic>
        <p:nvPicPr>
          <p:cNvPr id="41" name="Image 0" descr="icon_check.png">
            <a:extLst>
              <a:ext uri="{FF2B5EF4-FFF2-40B4-BE49-F238E27FC236}">
                <a16:creationId xmlns:a16="http://schemas.microsoft.com/office/drawing/2014/main" id="{E7D769AD-CBF8-D395-7485-E9CC57A99674}"/>
              </a:ext>
            </a:extLst>
          </p:cNvPr>
          <p:cNvPicPr>
            <a:picLocks noChangeAspect="1"/>
          </p:cNvPicPr>
          <p:nvPr/>
        </p:nvPicPr>
        <p:blipFill>
          <a:blip r:embed="rId3"/>
          <a:stretch>
            <a:fillRect/>
          </a:stretch>
        </p:blipFill>
        <p:spPr>
          <a:xfrm>
            <a:off x="1003554" y="4859464"/>
            <a:ext cx="276606" cy="276606"/>
          </a:xfrm>
          <a:prstGeom prst="rect">
            <a:avLst/>
          </a:prstGeom>
        </p:spPr>
      </p:pic>
      <p:sp>
        <p:nvSpPr>
          <p:cNvPr id="43" name="Text 3">
            <a:extLst>
              <a:ext uri="{FF2B5EF4-FFF2-40B4-BE49-F238E27FC236}">
                <a16:creationId xmlns:a16="http://schemas.microsoft.com/office/drawing/2014/main" id="{5E086224-6985-73AB-2748-936449849D25}"/>
              </a:ext>
            </a:extLst>
          </p:cNvPr>
          <p:cNvSpPr/>
          <p:nvPr/>
        </p:nvSpPr>
        <p:spPr>
          <a:xfrm>
            <a:off x="1417319" y="4765738"/>
            <a:ext cx="9859976" cy="435483"/>
          </a:xfrm>
          <a:prstGeom prst="rect">
            <a:avLst/>
          </a:prstGeom>
          <a:noFill/>
          <a:ln/>
        </p:spPr>
        <p:txBody>
          <a:bodyPr wrap="square" rtlCol="0" anchor="t"/>
          <a:lstStyle/>
          <a:p>
            <a:pPr marL="0" indent="0">
              <a:buNone/>
            </a:pPr>
            <a:r>
              <a:rPr lang="sv-SE" b="1" dirty="0">
                <a:solidFill>
                  <a:srgbClr val="1E2761"/>
                </a:solidFill>
                <a:latin typeface="Cambria" pitchFamily="34" charset="0"/>
                <a:ea typeface="Cambria" pitchFamily="34" charset="-122"/>
                <a:cs typeface="Cambria" pitchFamily="34" charset="-120"/>
              </a:rPr>
              <a:t>Kategori Produk (Item_Type) Memiliki Performa Penjualan yang Relatif Stabil dan Merata</a:t>
            </a:r>
            <a:endParaRPr lang="en-US" dirty="0"/>
          </a:p>
        </p:txBody>
      </p:sp>
      <p:sp>
        <p:nvSpPr>
          <p:cNvPr id="45" name="Text 4">
            <a:extLst>
              <a:ext uri="{FF2B5EF4-FFF2-40B4-BE49-F238E27FC236}">
                <a16:creationId xmlns:a16="http://schemas.microsoft.com/office/drawing/2014/main" id="{C40BEC2D-56C0-3B38-76D1-119ED33BB2EF}"/>
              </a:ext>
            </a:extLst>
          </p:cNvPr>
          <p:cNvSpPr/>
          <p:nvPr/>
        </p:nvSpPr>
        <p:spPr>
          <a:xfrm>
            <a:off x="777240" y="5424106"/>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Pengujian rata-rata omzet berdasarkan kategori produk memperlihatkan selisih nilai yang rapat di kisaran angka 1.900 hingga 2.400. Hal ini membuktikan bahwa jenis barang bukanlah faktor pemicu utama yang menciptakan perbedaan omzet secara drastis di antara toko.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C"/>
        </a:solidFill>
        <a:effectLst/>
      </p:bgPr>
    </p:bg>
    <p:spTree>
      <p:nvGrpSpPr>
        <p:cNvPr id="1" name="">
          <a:extLst>
            <a:ext uri="{FF2B5EF4-FFF2-40B4-BE49-F238E27FC236}">
              <a16:creationId xmlns:a16="http://schemas.microsoft.com/office/drawing/2014/main" id="{8B1B99C5-52A1-583C-DBC0-DF2BF02567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E5FCA0-E43F-BD00-063D-8B50D42FDBB5}"/>
              </a:ext>
            </a:extLst>
          </p:cNvPr>
          <p:cNvSpPr/>
          <p:nvPr/>
        </p:nvSpPr>
        <p:spPr>
          <a:xfrm>
            <a:off x="548640" y="411480"/>
            <a:ext cx="11064240" cy="548640"/>
          </a:xfrm>
          <a:prstGeom prst="rect">
            <a:avLst/>
          </a:prstGeom>
          <a:noFill/>
          <a:ln/>
        </p:spPr>
        <p:txBody>
          <a:bodyPr wrap="square" rtlCol="0" anchor="ctr"/>
          <a:lstStyle/>
          <a:p>
            <a:pPr marL="0" indent="0" algn="ctr">
              <a:buNone/>
            </a:pPr>
            <a:r>
              <a:rPr lang="en-US" sz="2800" b="1" dirty="0" err="1">
                <a:solidFill>
                  <a:srgbClr val="1E2761"/>
                </a:solidFill>
                <a:latin typeface="Cambria" pitchFamily="34" charset="0"/>
                <a:ea typeface="Cambria" pitchFamily="34" charset="-122"/>
              </a:rPr>
              <a:t>Rekomendasi</a:t>
            </a:r>
            <a:r>
              <a:rPr lang="en-US" sz="2800" b="1" dirty="0">
                <a:solidFill>
                  <a:srgbClr val="1E2761"/>
                </a:solidFill>
                <a:latin typeface="Cambria" pitchFamily="34" charset="0"/>
                <a:ea typeface="Cambria" pitchFamily="34" charset="-122"/>
              </a:rPr>
              <a:t> </a:t>
            </a:r>
            <a:r>
              <a:rPr lang="en-US" sz="2800" b="1" dirty="0" err="1">
                <a:solidFill>
                  <a:srgbClr val="1E2761"/>
                </a:solidFill>
                <a:latin typeface="Cambria" pitchFamily="34" charset="0"/>
                <a:ea typeface="Cambria" pitchFamily="34" charset="-122"/>
              </a:rPr>
              <a:t>Bisnis</a:t>
            </a:r>
            <a:endParaRPr lang="en-US" sz="2800" dirty="0"/>
          </a:p>
        </p:txBody>
      </p:sp>
      <p:sp>
        <p:nvSpPr>
          <p:cNvPr id="3" name="Shape 1">
            <a:extLst>
              <a:ext uri="{FF2B5EF4-FFF2-40B4-BE49-F238E27FC236}">
                <a16:creationId xmlns:a16="http://schemas.microsoft.com/office/drawing/2014/main" id="{D1D0517B-6D46-F46C-66DD-F2D15EFE5B4B}"/>
              </a:ext>
            </a:extLst>
          </p:cNvPr>
          <p:cNvSpPr/>
          <p:nvPr/>
        </p:nvSpPr>
        <p:spPr>
          <a:xfrm>
            <a:off x="548640" y="987552"/>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4" name="Shape 2">
            <a:extLst>
              <a:ext uri="{FF2B5EF4-FFF2-40B4-BE49-F238E27FC236}">
                <a16:creationId xmlns:a16="http://schemas.microsoft.com/office/drawing/2014/main" id="{4E2B48C6-A620-7C92-693D-BF96347DBE43}"/>
              </a:ext>
            </a:extLst>
          </p:cNvPr>
          <p:cNvSpPr/>
          <p:nvPr/>
        </p:nvSpPr>
        <p:spPr>
          <a:xfrm>
            <a:off x="890397" y="1151001"/>
            <a:ext cx="502920" cy="502920"/>
          </a:xfrm>
          <a:prstGeom prst="ellipse">
            <a:avLst/>
          </a:prstGeom>
          <a:solidFill>
            <a:srgbClr val="2E9E6D"/>
          </a:solidFill>
          <a:ln/>
        </p:spPr>
      </p:sp>
      <p:pic>
        <p:nvPicPr>
          <p:cNvPr id="5" name="Image 0" descr="icon_check.png">
            <a:extLst>
              <a:ext uri="{FF2B5EF4-FFF2-40B4-BE49-F238E27FC236}">
                <a16:creationId xmlns:a16="http://schemas.microsoft.com/office/drawing/2014/main" id="{F8B3BC94-3C39-807A-C4DF-E5EAA3DA15B2}"/>
              </a:ext>
            </a:extLst>
          </p:cNvPr>
          <p:cNvPicPr>
            <a:picLocks noChangeAspect="1"/>
          </p:cNvPicPr>
          <p:nvPr/>
        </p:nvPicPr>
        <p:blipFill>
          <a:blip r:embed="rId3"/>
          <a:stretch>
            <a:fillRect/>
          </a:stretch>
        </p:blipFill>
        <p:spPr>
          <a:xfrm>
            <a:off x="1003554" y="1264158"/>
            <a:ext cx="276606" cy="276606"/>
          </a:xfrm>
          <a:prstGeom prst="rect">
            <a:avLst/>
          </a:prstGeom>
        </p:spPr>
      </p:pic>
      <p:sp>
        <p:nvSpPr>
          <p:cNvPr id="6" name="Text 3">
            <a:extLst>
              <a:ext uri="{FF2B5EF4-FFF2-40B4-BE49-F238E27FC236}">
                <a16:creationId xmlns:a16="http://schemas.microsoft.com/office/drawing/2014/main" id="{25AD91CA-62D7-4C3C-3623-3F25F7229168}"/>
              </a:ext>
            </a:extLst>
          </p:cNvPr>
          <p:cNvSpPr/>
          <p:nvPr/>
        </p:nvSpPr>
        <p:spPr>
          <a:xfrm>
            <a:off x="1417319" y="1170432"/>
            <a:ext cx="8832797" cy="435483"/>
          </a:xfrm>
          <a:prstGeom prst="rect">
            <a:avLst/>
          </a:prstGeom>
          <a:noFill/>
          <a:ln/>
        </p:spPr>
        <p:txBody>
          <a:bodyPr wrap="square" rtlCol="0" anchor="t"/>
          <a:lstStyle/>
          <a:p>
            <a:pPr marL="0" indent="0">
              <a:buNone/>
            </a:pPr>
            <a:r>
              <a:rPr lang="en-US" b="1" dirty="0" err="1">
                <a:solidFill>
                  <a:srgbClr val="1E2761"/>
                </a:solidFill>
                <a:latin typeface="Cambria" pitchFamily="34" charset="0"/>
                <a:ea typeface="Cambria" pitchFamily="34" charset="-122"/>
                <a:cs typeface="Cambria" pitchFamily="34" charset="-120"/>
              </a:rPr>
              <a:t>Ekspansi</a:t>
            </a:r>
            <a:r>
              <a:rPr lang="en-US" b="1" dirty="0">
                <a:solidFill>
                  <a:srgbClr val="1E2761"/>
                </a:solidFill>
                <a:latin typeface="Cambria" pitchFamily="34" charset="0"/>
                <a:ea typeface="Cambria" pitchFamily="34" charset="-122"/>
                <a:cs typeface="Cambria" pitchFamily="34" charset="-120"/>
              </a:rPr>
              <a:t> dan </a:t>
            </a:r>
            <a:r>
              <a:rPr lang="en-US" b="1" dirty="0" err="1">
                <a:solidFill>
                  <a:srgbClr val="1E2761"/>
                </a:solidFill>
                <a:latin typeface="Cambria" pitchFamily="34" charset="0"/>
                <a:ea typeface="Cambria" pitchFamily="34" charset="-122"/>
                <a:cs typeface="Cambria" pitchFamily="34" charset="-120"/>
              </a:rPr>
              <a:t>Modernisasi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Tipe</a:t>
            </a:r>
            <a:r>
              <a:rPr lang="en-US" b="1" dirty="0">
                <a:solidFill>
                  <a:srgbClr val="1E2761"/>
                </a:solidFill>
                <a:latin typeface="Cambria" pitchFamily="34" charset="0"/>
                <a:ea typeface="Cambria" pitchFamily="34" charset="-122"/>
                <a:cs typeface="Cambria" pitchFamily="34" charset="-120"/>
              </a:rPr>
              <a:t> Outlet</a:t>
            </a:r>
            <a:endParaRPr lang="en-US" dirty="0"/>
          </a:p>
        </p:txBody>
      </p:sp>
      <p:sp>
        <p:nvSpPr>
          <p:cNvPr id="7" name="Text 4">
            <a:extLst>
              <a:ext uri="{FF2B5EF4-FFF2-40B4-BE49-F238E27FC236}">
                <a16:creationId xmlns:a16="http://schemas.microsoft.com/office/drawing/2014/main" id="{98147F66-DF44-DD36-12A4-297D40D42696}"/>
              </a:ext>
            </a:extLst>
          </p:cNvPr>
          <p:cNvSpPr/>
          <p:nvPr/>
        </p:nvSpPr>
        <p:spPr>
          <a:xfrm>
            <a:off x="777240" y="1828800"/>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Prioritas pengembangan bisnis dapat diarahkan pada ekspansi format Supermarket (Type 1 &amp; Type 3), mengingat data membuktikan tipe gerai ini memiliki leverage paling efektif dalam mendongkrak volume omzet secara signifikan.</a:t>
            </a:r>
            <a:endParaRPr lang="en-US" sz="1400" dirty="0"/>
          </a:p>
        </p:txBody>
      </p:sp>
      <p:sp>
        <p:nvSpPr>
          <p:cNvPr id="22" name="Shape 17">
            <a:extLst>
              <a:ext uri="{FF2B5EF4-FFF2-40B4-BE49-F238E27FC236}">
                <a16:creationId xmlns:a16="http://schemas.microsoft.com/office/drawing/2014/main" id="{AAA40129-5471-0019-7312-449A7C3838BB}"/>
              </a:ext>
            </a:extLst>
          </p:cNvPr>
          <p:cNvSpPr/>
          <p:nvPr/>
        </p:nvSpPr>
        <p:spPr>
          <a:xfrm>
            <a:off x="777240" y="4983480"/>
            <a:ext cx="4983480" cy="640080"/>
          </a:xfrm>
          <a:prstGeom prst="roundRect">
            <a:avLst>
              <a:gd name="adj" fmla="val 8571"/>
            </a:avLst>
          </a:prstGeom>
          <a:solidFill>
            <a:srgbClr val="F5F7FC"/>
          </a:solidFill>
          <a:ln/>
        </p:spPr>
      </p:sp>
      <p:sp>
        <p:nvSpPr>
          <p:cNvPr id="32" name="Text 26">
            <a:extLst>
              <a:ext uri="{FF2B5EF4-FFF2-40B4-BE49-F238E27FC236}">
                <a16:creationId xmlns:a16="http://schemas.microsoft.com/office/drawing/2014/main" id="{92C42FE2-2EDD-58F4-5E6F-B770B6A2D4E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11</a:t>
            </a:r>
            <a:endParaRPr lang="en-US" sz="850" dirty="0"/>
          </a:p>
        </p:txBody>
      </p:sp>
      <p:sp>
        <p:nvSpPr>
          <p:cNvPr id="25" name="Shape 1">
            <a:extLst>
              <a:ext uri="{FF2B5EF4-FFF2-40B4-BE49-F238E27FC236}">
                <a16:creationId xmlns:a16="http://schemas.microsoft.com/office/drawing/2014/main" id="{1BB11EE8-202A-0139-D8D6-8058A57A3969}"/>
              </a:ext>
            </a:extLst>
          </p:cNvPr>
          <p:cNvSpPr/>
          <p:nvPr/>
        </p:nvSpPr>
        <p:spPr>
          <a:xfrm>
            <a:off x="563880" y="2739636"/>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7" name="Shape 2">
            <a:extLst>
              <a:ext uri="{FF2B5EF4-FFF2-40B4-BE49-F238E27FC236}">
                <a16:creationId xmlns:a16="http://schemas.microsoft.com/office/drawing/2014/main" id="{976D72A2-6759-8CB6-AED2-3B0A4EFD9B1F}"/>
              </a:ext>
            </a:extLst>
          </p:cNvPr>
          <p:cNvSpPr/>
          <p:nvPr/>
        </p:nvSpPr>
        <p:spPr>
          <a:xfrm>
            <a:off x="890397" y="2903085"/>
            <a:ext cx="502920" cy="502920"/>
          </a:xfrm>
          <a:prstGeom prst="ellipse">
            <a:avLst/>
          </a:prstGeom>
          <a:solidFill>
            <a:srgbClr val="2E9E6D"/>
          </a:solidFill>
          <a:ln/>
        </p:spPr>
      </p:sp>
      <p:pic>
        <p:nvPicPr>
          <p:cNvPr id="30" name="Image 0" descr="icon_check.png">
            <a:extLst>
              <a:ext uri="{FF2B5EF4-FFF2-40B4-BE49-F238E27FC236}">
                <a16:creationId xmlns:a16="http://schemas.microsoft.com/office/drawing/2014/main" id="{F3ED04BB-8F33-DB8E-C2DB-F70C011CF6C2}"/>
              </a:ext>
            </a:extLst>
          </p:cNvPr>
          <p:cNvPicPr>
            <a:picLocks noChangeAspect="1"/>
          </p:cNvPicPr>
          <p:nvPr/>
        </p:nvPicPr>
        <p:blipFill>
          <a:blip r:embed="rId3"/>
          <a:stretch>
            <a:fillRect/>
          </a:stretch>
        </p:blipFill>
        <p:spPr>
          <a:xfrm>
            <a:off x="1003554" y="3016242"/>
            <a:ext cx="276606" cy="276606"/>
          </a:xfrm>
          <a:prstGeom prst="rect">
            <a:avLst/>
          </a:prstGeom>
        </p:spPr>
      </p:pic>
      <p:sp>
        <p:nvSpPr>
          <p:cNvPr id="33" name="Text 3">
            <a:extLst>
              <a:ext uri="{FF2B5EF4-FFF2-40B4-BE49-F238E27FC236}">
                <a16:creationId xmlns:a16="http://schemas.microsoft.com/office/drawing/2014/main" id="{118332A6-8F75-1BF9-792E-677E58C3ED05}"/>
              </a:ext>
            </a:extLst>
          </p:cNvPr>
          <p:cNvSpPr/>
          <p:nvPr/>
        </p:nvSpPr>
        <p:spPr>
          <a:xfrm>
            <a:off x="1417319" y="2922516"/>
            <a:ext cx="8832797" cy="435483"/>
          </a:xfrm>
          <a:prstGeom prst="rect">
            <a:avLst/>
          </a:prstGeom>
          <a:noFill/>
          <a:ln/>
        </p:spPr>
        <p:txBody>
          <a:bodyPr wrap="square" rtlCol="0" anchor="t"/>
          <a:lstStyle/>
          <a:p>
            <a:r>
              <a:rPr lang="en-US" b="1" dirty="0" err="1">
                <a:solidFill>
                  <a:srgbClr val="1E2761"/>
                </a:solidFill>
                <a:latin typeface="Cambria" pitchFamily="34" charset="0"/>
                <a:ea typeface="Cambria" pitchFamily="34" charset="-122"/>
                <a:cs typeface="Cambria" pitchFamily="34" charset="-120"/>
              </a:rPr>
              <a:t>Promosi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Berbasis</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Kategori</a:t>
            </a:r>
            <a:r>
              <a:rPr lang="en-US" b="1" dirty="0">
                <a:solidFill>
                  <a:srgbClr val="1E2761"/>
                </a:solidFill>
                <a:latin typeface="Cambria" pitchFamily="34" charset="0"/>
                <a:ea typeface="Cambria" pitchFamily="34" charset="-122"/>
                <a:cs typeface="Cambria" pitchFamily="34" charset="-120"/>
              </a:rPr>
              <a:t> </a:t>
            </a:r>
            <a:r>
              <a:rPr lang="en-US" b="1">
                <a:solidFill>
                  <a:srgbClr val="1E2761"/>
                </a:solidFill>
                <a:latin typeface="Cambria" pitchFamily="34" charset="0"/>
                <a:ea typeface="Cambria" pitchFamily="34" charset="-122"/>
                <a:cs typeface="Cambria" pitchFamily="34" charset="-120"/>
              </a:rPr>
              <a:t>produk</a:t>
            </a:r>
            <a:endParaRPr lang="en-US" dirty="0"/>
          </a:p>
        </p:txBody>
      </p:sp>
      <p:sp>
        <p:nvSpPr>
          <p:cNvPr id="35" name="Text 4">
            <a:extLst>
              <a:ext uri="{FF2B5EF4-FFF2-40B4-BE49-F238E27FC236}">
                <a16:creationId xmlns:a16="http://schemas.microsoft.com/office/drawing/2014/main" id="{3E7F7364-9362-DC6C-AA77-153081D49908}"/>
              </a:ext>
            </a:extLst>
          </p:cNvPr>
          <p:cNvSpPr/>
          <p:nvPr/>
        </p:nvSpPr>
        <p:spPr>
          <a:xfrm>
            <a:off x="777240" y="3580884"/>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Manajemen dapat mempertimbangkan skema promosi terpadu (bundling) pada kategori produk unggulan, sebagai opsi strategis untuk meningkatkan nilai rata-rata keranjang belanja per transaksi.</a:t>
            </a:r>
            <a:endParaRPr lang="en-US" sz="1400" dirty="0"/>
          </a:p>
        </p:txBody>
      </p:sp>
    </p:spTree>
    <p:extLst>
      <p:ext uri="{BB962C8B-B14F-4D97-AF65-F5344CB8AC3E}">
        <p14:creationId xmlns:p14="http://schemas.microsoft.com/office/powerpoint/2010/main" val="3221160999"/>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583</TotalTime>
  <Words>1699</Words>
  <Application>Microsoft Office PowerPoint</Application>
  <PresentationFormat>Widescreen</PresentationFormat>
  <Paragraphs>184</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Arial Nova Light</vt:lpstr>
      <vt:lpstr>Calibri</vt:lpstr>
      <vt:lpstr>Cambria</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18</cp:revision>
  <dcterms:created xsi:type="dcterms:W3CDTF">2026-08-17T04:02:49Z</dcterms:created>
  <dcterms:modified xsi:type="dcterms:W3CDTF">2026-09-13T17:30:35Z</dcterms:modified>
</cp:coreProperties>
</file>